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261" r:id="rId6"/>
    <p:sldId id="290" r:id="rId7"/>
    <p:sldId id="295" r:id="rId8"/>
    <p:sldId id="262" r:id="rId9"/>
    <p:sldId id="294" r:id="rId10"/>
    <p:sldId id="264" r:id="rId11"/>
    <p:sldId id="263" r:id="rId12"/>
    <p:sldId id="265" r:id="rId13"/>
    <p:sldId id="292" r:id="rId14"/>
    <p:sldId id="288" r:id="rId15"/>
    <p:sldId id="289" r:id="rId16"/>
    <p:sldId id="285" r:id="rId17"/>
    <p:sldId id="270" r:id="rId18"/>
    <p:sldId id="271" r:id="rId19"/>
    <p:sldId id="272" r:id="rId20"/>
    <p:sldId id="273" r:id="rId21"/>
    <p:sldId id="274" r:id="rId22"/>
    <p:sldId id="275" r:id="rId23"/>
    <p:sldId id="276" r:id="rId24"/>
    <p:sldId id="277" r:id="rId25"/>
    <p:sldId id="286" r:id="rId26"/>
    <p:sldId id="287" r:id="rId27"/>
    <p:sldId id="291" r:id="rId28"/>
    <p:sldId id="26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377860-F115-22E0-416D-8EF10F217647}" name="Charlene Soh (RP)" initials="SS" userId="S::charlene_soh@rp.edu.sg::b93226ba-3dc9-436c-83b7-fba51f7e345f" providerId="AD"/>
  <p188:author id="{AF159267-D47A-8E18-F901-2F2241E4F98F}" name="Wong Kheng Leong (RP)" initials="KW" userId="S::wong_kheng_leong@rp.edu.sg::33ea276b-10ba-415e-9d52-c9c325ae9a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E1CD"/>
    <a:srgbClr val="4EA72E"/>
    <a:srgbClr val="6FB01E"/>
    <a:srgbClr val="DE1A7A"/>
    <a:srgbClr val="1616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1EFD6-D01C-4071-B865-8486D14F8CA0}" v="5" dt="2026-10-14T08:25:42.7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alene Lim (RP)" userId="0d83deb8-e9a9-42ab-ae84-75cdb7b5bd8e" providerId="ADAL" clId="{F480144D-229B-4504-9707-A45AE5F79E10}"/>
    <pc:docChg chg="undo custSel addSld delSld modSld">
      <pc:chgData name="Magdalene Lim (RP)" userId="0d83deb8-e9a9-42ab-ae84-75cdb7b5bd8e" providerId="ADAL" clId="{F480144D-229B-4504-9707-A45AE5F79E10}" dt="2026-10-15T05:45:08.286" v="506" actId="6549"/>
      <pc:docMkLst>
        <pc:docMk/>
      </pc:docMkLst>
      <pc:sldChg chg="modSp mod">
        <pc:chgData name="Magdalene Lim (RP)" userId="0d83deb8-e9a9-42ab-ae84-75cdb7b5bd8e" providerId="ADAL" clId="{F480144D-229B-4504-9707-A45AE5F79E10}" dt="2026-10-04T05:44:15.299" v="1" actId="20577"/>
        <pc:sldMkLst>
          <pc:docMk/>
          <pc:sldMk cId="511094501" sldId="256"/>
        </pc:sldMkLst>
        <pc:spChg chg="mod">
          <ac:chgData name="Magdalene Lim (RP)" userId="0d83deb8-e9a9-42ab-ae84-75cdb7b5bd8e" providerId="ADAL" clId="{F480144D-229B-4504-9707-A45AE5F79E10}" dt="2026-10-04T05:44:15.299" v="1" actId="20577"/>
          <ac:spMkLst>
            <pc:docMk/>
            <pc:sldMk cId="511094501" sldId="256"/>
            <ac:spMk id="3" creationId="{D742C915-4C8B-E842-7E08-3B4B2BDFF0B6}"/>
          </ac:spMkLst>
        </pc:spChg>
      </pc:sldChg>
      <pc:sldChg chg="delSp mod">
        <pc:chgData name="Magdalene Lim (RP)" userId="0d83deb8-e9a9-42ab-ae84-75cdb7b5bd8e" providerId="ADAL" clId="{F480144D-229B-4504-9707-A45AE5F79E10}" dt="2026-10-11T07:04:56.849" v="273" actId="478"/>
        <pc:sldMkLst>
          <pc:docMk/>
          <pc:sldMk cId="303963882" sldId="260"/>
        </pc:sldMkLst>
      </pc:sldChg>
      <pc:sldChg chg="modSp mod">
        <pc:chgData name="Magdalene Lim (RP)" userId="0d83deb8-e9a9-42ab-ae84-75cdb7b5bd8e" providerId="ADAL" clId="{F480144D-229B-4504-9707-A45AE5F79E10}" dt="2026-10-04T05:45:06.329" v="22" actId="20577"/>
        <pc:sldMkLst>
          <pc:docMk/>
          <pc:sldMk cId="371372011" sldId="262"/>
        </pc:sldMkLst>
        <pc:spChg chg="mod">
          <ac:chgData name="Magdalene Lim (RP)" userId="0d83deb8-e9a9-42ab-ae84-75cdb7b5bd8e" providerId="ADAL" clId="{F480144D-229B-4504-9707-A45AE5F79E10}" dt="2026-10-04T05:45:06.329" v="22" actId="20577"/>
          <ac:spMkLst>
            <pc:docMk/>
            <pc:sldMk cId="371372011" sldId="262"/>
            <ac:spMk id="3" creationId="{BC9AB12F-A713-4985-D70D-64F2F2966918}"/>
          </ac:spMkLst>
        </pc:spChg>
      </pc:sldChg>
      <pc:sldChg chg="modSp mod">
        <pc:chgData name="Magdalene Lim (RP)" userId="0d83deb8-e9a9-42ab-ae84-75cdb7b5bd8e" providerId="ADAL" clId="{F480144D-229B-4504-9707-A45AE5F79E10}" dt="2026-10-05T02:08:10.654" v="58" actId="13926"/>
        <pc:sldMkLst>
          <pc:docMk/>
          <pc:sldMk cId="898920413" sldId="264"/>
        </pc:sldMkLst>
        <pc:graphicFrameChg chg="modGraphic">
          <ac:chgData name="Magdalene Lim (RP)" userId="0d83deb8-e9a9-42ab-ae84-75cdb7b5bd8e" providerId="ADAL" clId="{F480144D-229B-4504-9707-A45AE5F79E10}" dt="2026-10-05T02:08:10.654" v="58" actId="13926"/>
          <ac:graphicFrameMkLst>
            <pc:docMk/>
            <pc:sldMk cId="898920413" sldId="264"/>
            <ac:graphicFrameMk id="9" creationId="{8D0C7BDB-A07C-CD2C-6BFD-6BCE24797190}"/>
          </ac:graphicFrameMkLst>
        </pc:graphicFrameChg>
      </pc:sldChg>
      <pc:sldChg chg="modSp mod">
        <pc:chgData name="Magdalene Lim (RP)" userId="0d83deb8-e9a9-42ab-ae84-75cdb7b5bd8e" providerId="ADAL" clId="{F480144D-229B-4504-9707-A45AE5F79E10}" dt="2026-10-15T05:45:08.286" v="506" actId="6549"/>
        <pc:sldMkLst>
          <pc:docMk/>
          <pc:sldMk cId="2316198045" sldId="265"/>
        </pc:sldMkLst>
        <pc:spChg chg="mod">
          <ac:chgData name="Magdalene Lim (RP)" userId="0d83deb8-e9a9-42ab-ae84-75cdb7b5bd8e" providerId="ADAL" clId="{F480144D-229B-4504-9707-A45AE5F79E10}" dt="2026-10-14T08:24:58.369" v="428" actId="404"/>
          <ac:spMkLst>
            <pc:docMk/>
            <pc:sldMk cId="2316198045" sldId="265"/>
            <ac:spMk id="10" creationId="{9B6A39ED-3C9C-B5EF-8C18-E8A8D2437F36}"/>
          </ac:spMkLst>
        </pc:spChg>
        <pc:graphicFrameChg chg="mod modGraphic">
          <ac:chgData name="Magdalene Lim (RP)" userId="0d83deb8-e9a9-42ab-ae84-75cdb7b5bd8e" providerId="ADAL" clId="{F480144D-229B-4504-9707-A45AE5F79E10}" dt="2026-10-15T05:45:08.286" v="506" actId="6549"/>
          <ac:graphicFrameMkLst>
            <pc:docMk/>
            <pc:sldMk cId="2316198045" sldId="265"/>
            <ac:graphicFrameMk id="7" creationId="{9941AB3E-2F98-BF41-6078-B27B9620A04D}"/>
          </ac:graphicFrameMkLst>
        </pc:graphicFrameChg>
      </pc:sldChg>
      <pc:sldChg chg="add">
        <pc:chgData name="Magdalene Lim (RP)" userId="0d83deb8-e9a9-42ab-ae84-75cdb7b5bd8e" providerId="ADAL" clId="{F480144D-229B-4504-9707-A45AE5F79E10}" dt="2026-10-14T03:13:14.745" v="303"/>
        <pc:sldMkLst>
          <pc:docMk/>
          <pc:sldMk cId="0" sldId="270"/>
        </pc:sldMkLst>
      </pc:sldChg>
      <pc:sldChg chg="add">
        <pc:chgData name="Magdalene Lim (RP)" userId="0d83deb8-e9a9-42ab-ae84-75cdb7b5bd8e" providerId="ADAL" clId="{F480144D-229B-4504-9707-A45AE5F79E10}" dt="2026-10-14T03:13:42.761" v="304"/>
        <pc:sldMkLst>
          <pc:docMk/>
          <pc:sldMk cId="0" sldId="271"/>
        </pc:sldMkLst>
      </pc:sldChg>
      <pc:sldChg chg="delSp modSp add mod">
        <pc:chgData name="Magdalene Lim (RP)" userId="0d83deb8-e9a9-42ab-ae84-75cdb7b5bd8e" providerId="ADAL" clId="{F480144D-229B-4504-9707-A45AE5F79E10}" dt="2026-10-14T03:14:13.019" v="307" actId="20577"/>
        <pc:sldMkLst>
          <pc:docMk/>
          <pc:sldMk cId="0" sldId="272"/>
        </pc:sldMkLst>
        <pc:spChg chg="mod">
          <ac:chgData name="Magdalene Lim (RP)" userId="0d83deb8-e9a9-42ab-ae84-75cdb7b5bd8e" providerId="ADAL" clId="{F480144D-229B-4504-9707-A45AE5F79E10}" dt="2026-10-14T03:14:13.019" v="307" actId="20577"/>
          <ac:spMkLst>
            <pc:docMk/>
            <pc:sldMk cId="0" sldId="272"/>
            <ac:spMk id="6" creationId="{00000000-0000-0000-0000-000000000000}"/>
          </ac:spMkLst>
        </pc:spChg>
        <pc:spChg chg="del">
          <ac:chgData name="Magdalene Lim (RP)" userId="0d83deb8-e9a9-42ab-ae84-75cdb7b5bd8e" providerId="ADAL" clId="{F480144D-229B-4504-9707-A45AE5F79E10}" dt="2026-10-14T03:14:11.095" v="306" actId="478"/>
          <ac:spMkLst>
            <pc:docMk/>
            <pc:sldMk cId="0" sldId="272"/>
            <ac:spMk id="7" creationId="{00000000-0000-0000-0000-000000000000}"/>
          </ac:spMkLst>
        </pc:spChg>
      </pc:sldChg>
      <pc:sldChg chg="add">
        <pc:chgData name="Magdalene Lim (RP)" userId="0d83deb8-e9a9-42ab-ae84-75cdb7b5bd8e" providerId="ADAL" clId="{F480144D-229B-4504-9707-A45AE5F79E10}" dt="2026-10-14T03:13:42.761" v="304"/>
        <pc:sldMkLst>
          <pc:docMk/>
          <pc:sldMk cId="0" sldId="273"/>
        </pc:sldMkLst>
      </pc:sldChg>
      <pc:sldChg chg="add">
        <pc:chgData name="Magdalene Lim (RP)" userId="0d83deb8-e9a9-42ab-ae84-75cdb7b5bd8e" providerId="ADAL" clId="{F480144D-229B-4504-9707-A45AE5F79E10}" dt="2026-10-14T03:13:42.761" v="304"/>
        <pc:sldMkLst>
          <pc:docMk/>
          <pc:sldMk cId="0" sldId="274"/>
        </pc:sldMkLst>
      </pc:sldChg>
      <pc:sldChg chg="add">
        <pc:chgData name="Magdalene Lim (RP)" userId="0d83deb8-e9a9-42ab-ae84-75cdb7b5bd8e" providerId="ADAL" clId="{F480144D-229B-4504-9707-A45AE5F79E10}" dt="2026-10-14T03:13:42.761" v="304"/>
        <pc:sldMkLst>
          <pc:docMk/>
          <pc:sldMk cId="0" sldId="275"/>
        </pc:sldMkLst>
      </pc:sldChg>
      <pc:sldChg chg="modSp add mod">
        <pc:chgData name="Magdalene Lim (RP)" userId="0d83deb8-e9a9-42ab-ae84-75cdb7b5bd8e" providerId="ADAL" clId="{F480144D-229B-4504-9707-A45AE5F79E10}" dt="2026-10-14T03:25:18.540" v="351" actId="20577"/>
        <pc:sldMkLst>
          <pc:docMk/>
          <pc:sldMk cId="0" sldId="276"/>
        </pc:sldMkLst>
        <pc:spChg chg="mod">
          <ac:chgData name="Magdalene Lim (RP)" userId="0d83deb8-e9a9-42ab-ae84-75cdb7b5bd8e" providerId="ADAL" clId="{F480144D-229B-4504-9707-A45AE5F79E10}" dt="2026-10-14T03:25:18.540" v="351" actId="20577"/>
          <ac:spMkLst>
            <pc:docMk/>
            <pc:sldMk cId="0" sldId="276"/>
            <ac:spMk id="5" creationId="{00000000-0000-0000-0000-000000000000}"/>
          </ac:spMkLst>
        </pc:spChg>
      </pc:sldChg>
      <pc:sldChg chg="add">
        <pc:chgData name="Magdalene Lim (RP)" userId="0d83deb8-e9a9-42ab-ae84-75cdb7b5bd8e" providerId="ADAL" clId="{F480144D-229B-4504-9707-A45AE5F79E10}" dt="2026-10-14T03:13:42.761" v="304"/>
        <pc:sldMkLst>
          <pc:docMk/>
          <pc:sldMk cId="0" sldId="277"/>
        </pc:sldMkLst>
      </pc:sldChg>
      <pc:sldChg chg="addSp delSp modSp mod">
        <pc:chgData name="Magdalene Lim (RP)" userId="0d83deb8-e9a9-42ab-ae84-75cdb7b5bd8e" providerId="ADAL" clId="{F480144D-229B-4504-9707-A45AE5F79E10}" dt="2026-10-14T03:23:15.154" v="345" actId="1076"/>
        <pc:sldMkLst>
          <pc:docMk/>
          <pc:sldMk cId="1432115517" sldId="288"/>
        </pc:sldMkLst>
        <pc:spChg chg="mod">
          <ac:chgData name="Magdalene Lim (RP)" userId="0d83deb8-e9a9-42ab-ae84-75cdb7b5bd8e" providerId="ADAL" clId="{F480144D-229B-4504-9707-A45AE5F79E10}" dt="2026-10-14T03:23:15.154" v="345" actId="1076"/>
          <ac:spMkLst>
            <pc:docMk/>
            <pc:sldMk cId="1432115517" sldId="288"/>
            <ac:spMk id="3" creationId="{DAEB3A5E-2DF5-9A52-FA61-66FAE22993CB}"/>
          </ac:spMkLst>
        </pc:spChg>
        <pc:picChg chg="add del">
          <ac:chgData name="Magdalene Lim (RP)" userId="0d83deb8-e9a9-42ab-ae84-75cdb7b5bd8e" providerId="ADAL" clId="{F480144D-229B-4504-9707-A45AE5F79E10}" dt="2026-10-14T03:19:12.224" v="310" actId="22"/>
          <ac:picMkLst>
            <pc:docMk/>
            <pc:sldMk cId="1432115517" sldId="288"/>
            <ac:picMk id="4" creationId="{AC4172A2-7EAF-3649-EF0A-6A63681CFFF6}"/>
          </ac:picMkLst>
        </pc:picChg>
        <pc:picChg chg="add mod">
          <ac:chgData name="Magdalene Lim (RP)" userId="0d83deb8-e9a9-42ab-ae84-75cdb7b5bd8e" providerId="ADAL" clId="{F480144D-229B-4504-9707-A45AE5F79E10}" dt="2026-10-14T03:23:06.341" v="342" actId="1076"/>
          <ac:picMkLst>
            <pc:docMk/>
            <pc:sldMk cId="1432115517" sldId="288"/>
            <ac:picMk id="7" creationId="{FDE69C28-E9B9-B83D-E203-BE71F405A932}"/>
          </ac:picMkLst>
        </pc:picChg>
        <pc:picChg chg="add del">
          <ac:chgData name="Magdalene Lim (RP)" userId="0d83deb8-e9a9-42ab-ae84-75cdb7b5bd8e" providerId="ADAL" clId="{F480144D-229B-4504-9707-A45AE5F79E10}" dt="2026-10-14T03:20:54.730" v="312" actId="478"/>
          <ac:picMkLst>
            <pc:docMk/>
            <pc:sldMk cId="1432115517" sldId="288"/>
            <ac:picMk id="10" creationId="{6437B451-983D-6867-1720-BF2506EC9739}"/>
          </ac:picMkLst>
        </pc:picChg>
      </pc:sldChg>
      <pc:sldChg chg="addSp delSp modSp mod">
        <pc:chgData name="Magdalene Lim (RP)" userId="0d83deb8-e9a9-42ab-ae84-75cdb7b5bd8e" providerId="ADAL" clId="{F480144D-229B-4504-9707-A45AE5F79E10}" dt="2026-10-14T03:23:21.174" v="347" actId="14100"/>
        <pc:sldMkLst>
          <pc:docMk/>
          <pc:sldMk cId="2266047978" sldId="289"/>
        </pc:sldMkLst>
        <pc:spChg chg="mod">
          <ac:chgData name="Magdalene Lim (RP)" userId="0d83deb8-e9a9-42ab-ae84-75cdb7b5bd8e" providerId="ADAL" clId="{F480144D-229B-4504-9707-A45AE5F79E10}" dt="2026-10-14T03:23:21.174" v="347" actId="14100"/>
          <ac:spMkLst>
            <pc:docMk/>
            <pc:sldMk cId="2266047978" sldId="289"/>
            <ac:spMk id="3" creationId="{87D8E777-79C1-FFA5-CAE2-E2D8DF45256A}"/>
          </ac:spMkLst>
        </pc:spChg>
        <pc:picChg chg="add del mod">
          <ac:chgData name="Magdalene Lim (RP)" userId="0d83deb8-e9a9-42ab-ae84-75cdb7b5bd8e" providerId="ADAL" clId="{F480144D-229B-4504-9707-A45AE5F79E10}" dt="2026-10-14T03:21:30.805" v="315" actId="478"/>
          <ac:picMkLst>
            <pc:docMk/>
            <pc:sldMk cId="2266047978" sldId="289"/>
            <ac:picMk id="4" creationId="{AF19B3D4-90A3-5FC9-5525-355AB652CBC0}"/>
          </ac:picMkLst>
        </pc:picChg>
        <pc:picChg chg="add del mod">
          <ac:chgData name="Magdalene Lim (RP)" userId="0d83deb8-e9a9-42ab-ae84-75cdb7b5bd8e" providerId="ADAL" clId="{F480144D-229B-4504-9707-A45AE5F79E10}" dt="2026-10-14T03:22:05.775" v="320" actId="478"/>
          <ac:picMkLst>
            <pc:docMk/>
            <pc:sldMk cId="2266047978" sldId="289"/>
            <ac:picMk id="7" creationId="{03D86FDF-D649-1B2A-3C8B-76C373582810}"/>
          </ac:picMkLst>
        </pc:picChg>
        <pc:picChg chg="del">
          <ac:chgData name="Magdalene Lim (RP)" userId="0d83deb8-e9a9-42ab-ae84-75cdb7b5bd8e" providerId="ADAL" clId="{F480144D-229B-4504-9707-A45AE5F79E10}" dt="2026-10-14T02:56:35.155" v="285" actId="478"/>
          <ac:picMkLst>
            <pc:docMk/>
            <pc:sldMk cId="2266047978" sldId="289"/>
            <ac:picMk id="8" creationId="{90A36D83-C959-948A-4460-48C4FC27A604}"/>
          </ac:picMkLst>
        </pc:picChg>
        <pc:picChg chg="add mod">
          <ac:chgData name="Magdalene Lim (RP)" userId="0d83deb8-e9a9-42ab-ae84-75cdb7b5bd8e" providerId="ADAL" clId="{F480144D-229B-4504-9707-A45AE5F79E10}" dt="2026-10-14T03:22:16.765" v="331" actId="1037"/>
          <ac:picMkLst>
            <pc:docMk/>
            <pc:sldMk cId="2266047978" sldId="289"/>
            <ac:picMk id="10" creationId="{368B44B2-8D1E-30CD-D5A9-13E73FCF5067}"/>
          </ac:picMkLst>
        </pc:picChg>
      </pc:sldChg>
      <pc:sldChg chg="modSp mod">
        <pc:chgData name="Magdalene Lim (RP)" userId="0d83deb8-e9a9-42ab-ae84-75cdb7b5bd8e" providerId="ADAL" clId="{F480144D-229B-4504-9707-A45AE5F79E10}" dt="2026-10-14T02:02:17.646" v="274" actId="123"/>
        <pc:sldMkLst>
          <pc:docMk/>
          <pc:sldMk cId="1361298317" sldId="290"/>
        </pc:sldMkLst>
        <pc:spChg chg="mod">
          <ac:chgData name="Magdalene Lim (RP)" userId="0d83deb8-e9a9-42ab-ae84-75cdb7b5bd8e" providerId="ADAL" clId="{F480144D-229B-4504-9707-A45AE5F79E10}" dt="2026-10-14T02:02:17.646" v="274" actId="123"/>
          <ac:spMkLst>
            <pc:docMk/>
            <pc:sldMk cId="1361298317" sldId="290"/>
            <ac:spMk id="3" creationId="{2D363E46-E3F7-5345-E662-5B7F3C14311F}"/>
          </ac:spMkLst>
        </pc:spChg>
      </pc:sldChg>
      <pc:sldChg chg="modSp mod">
        <pc:chgData name="Magdalene Lim (RP)" userId="0d83deb8-e9a9-42ab-ae84-75cdb7b5bd8e" providerId="ADAL" clId="{F480144D-229B-4504-9707-A45AE5F79E10}" dt="2026-10-14T03:25:39.024" v="352" actId="2710"/>
        <pc:sldMkLst>
          <pc:docMk/>
          <pc:sldMk cId="310673036" sldId="291"/>
        </pc:sldMkLst>
        <pc:spChg chg="mod">
          <ac:chgData name="Magdalene Lim (RP)" userId="0d83deb8-e9a9-42ab-ae84-75cdb7b5bd8e" providerId="ADAL" clId="{F480144D-229B-4504-9707-A45AE5F79E10}" dt="2026-10-14T03:25:39.024" v="352" actId="2710"/>
          <ac:spMkLst>
            <pc:docMk/>
            <pc:sldMk cId="310673036" sldId="291"/>
            <ac:spMk id="10" creationId="{2A5E2FA6-A847-AD1C-C19A-BD540575957A}"/>
          </ac:spMkLst>
        </pc:spChg>
      </pc:sldChg>
      <pc:sldChg chg="addSp delSp modSp new mod">
        <pc:chgData name="Magdalene Lim (RP)" userId="0d83deb8-e9a9-42ab-ae84-75cdb7b5bd8e" providerId="ADAL" clId="{F480144D-229B-4504-9707-A45AE5F79E10}" dt="2026-10-14T03:27:50.409" v="355" actId="20577"/>
        <pc:sldMkLst>
          <pc:docMk/>
          <pc:sldMk cId="3884308659" sldId="294"/>
        </pc:sldMkLst>
        <pc:spChg chg="mod">
          <ac:chgData name="Magdalene Lim (RP)" userId="0d83deb8-e9a9-42ab-ae84-75cdb7b5bd8e" providerId="ADAL" clId="{F480144D-229B-4504-9707-A45AE5F79E10}" dt="2026-10-06T02:18:53.010" v="133" actId="20577"/>
          <ac:spMkLst>
            <pc:docMk/>
            <pc:sldMk cId="3884308659" sldId="294"/>
            <ac:spMk id="4" creationId="{13C68755-A4E9-0B3F-C698-F11D53CF3EE9}"/>
          </ac:spMkLst>
        </pc:spChg>
        <pc:spChg chg="add mod">
          <ac:chgData name="Magdalene Lim (RP)" userId="0d83deb8-e9a9-42ab-ae84-75cdb7b5bd8e" providerId="ADAL" clId="{F480144D-229B-4504-9707-A45AE5F79E10}" dt="2026-10-07T07:02:08.540" v="269" actId="1076"/>
          <ac:spMkLst>
            <pc:docMk/>
            <pc:sldMk cId="3884308659" sldId="294"/>
            <ac:spMk id="7" creationId="{23901674-3A3F-502A-04CC-E08F20BDB53F}"/>
          </ac:spMkLst>
        </pc:spChg>
        <pc:graphicFrameChg chg="add mod modGraphic">
          <ac:chgData name="Magdalene Lim (RP)" userId="0d83deb8-e9a9-42ab-ae84-75cdb7b5bd8e" providerId="ADAL" clId="{F480144D-229B-4504-9707-A45AE5F79E10}" dt="2026-10-14T03:27:50.409" v="355" actId="20577"/>
          <ac:graphicFrameMkLst>
            <pc:docMk/>
            <pc:sldMk cId="3884308659" sldId="294"/>
            <ac:graphicFrameMk id="5" creationId="{DD7BCB1E-30C6-E5A6-290E-1F863FA597C3}"/>
          </ac:graphicFrameMkLst>
        </pc:graphicFrameChg>
      </pc:sldChg>
      <pc:sldChg chg="modSp new mod">
        <pc:chgData name="Magdalene Lim (RP)" userId="0d83deb8-e9a9-42ab-ae84-75cdb7b5bd8e" providerId="ADAL" clId="{F480144D-229B-4504-9707-A45AE5F79E10}" dt="2026-10-06T06:32:42.118" v="181"/>
        <pc:sldMkLst>
          <pc:docMk/>
          <pc:sldMk cId="1817165542" sldId="295"/>
        </pc:sldMkLst>
        <pc:spChg chg="mod">
          <ac:chgData name="Magdalene Lim (RP)" userId="0d83deb8-e9a9-42ab-ae84-75cdb7b5bd8e" providerId="ADAL" clId="{F480144D-229B-4504-9707-A45AE5F79E10}" dt="2026-10-06T02:18:16.906" v="118" actId="2710"/>
          <ac:spMkLst>
            <pc:docMk/>
            <pc:sldMk cId="1817165542" sldId="295"/>
            <ac:spMk id="2" creationId="{F725EAD0-8258-E826-A77D-97244B96AE67}"/>
          </ac:spMkLst>
        </pc:spChg>
        <pc:spChg chg="mod">
          <ac:chgData name="Magdalene Lim (RP)" userId="0d83deb8-e9a9-42ab-ae84-75cdb7b5bd8e" providerId="ADAL" clId="{F480144D-229B-4504-9707-A45AE5F79E10}" dt="2026-10-06T06:32:42.118" v="181"/>
          <ac:spMkLst>
            <pc:docMk/>
            <pc:sldMk cId="1817165542" sldId="295"/>
            <ac:spMk id="4" creationId="{638B872A-FA88-9738-A03A-16C8C9B4030D}"/>
          </ac:spMkLst>
        </pc:spChg>
      </pc:sldChg>
      <pc:sldChg chg="add del">
        <pc:chgData name="Magdalene Lim (RP)" userId="0d83deb8-e9a9-42ab-ae84-75cdb7b5bd8e" providerId="ADAL" clId="{F480144D-229B-4504-9707-A45AE5F79E10}" dt="2026-10-14T03:13:51.237" v="305" actId="47"/>
        <pc:sldMkLst>
          <pc:docMk/>
          <pc:sldMk cId="0"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F5B51-E271-46A9-BCE4-3ABBDE9B6365}" type="datetimeFigureOut">
              <a:rPr lang="en-SG" smtClean="0"/>
              <a:t>14/10/2026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E79ABB-712B-4A3C-975F-5371A4740E10}" type="slidenum">
              <a:rPr lang="en-SG" smtClean="0"/>
              <a:t>‹#›</a:t>
            </a:fld>
            <a:endParaRPr lang="en-SG"/>
          </a:p>
        </p:txBody>
      </p:sp>
    </p:spTree>
    <p:extLst>
      <p:ext uri="{BB962C8B-B14F-4D97-AF65-F5344CB8AC3E}">
        <p14:creationId xmlns:p14="http://schemas.microsoft.com/office/powerpoint/2010/main" val="2640165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5E79ABB-712B-4A3C-975F-5371A4740E10}" type="slidenum">
              <a:rPr lang="en-SG" smtClean="0"/>
              <a:t>7</a:t>
            </a:fld>
            <a:endParaRPr lang="en-SG"/>
          </a:p>
        </p:txBody>
      </p:sp>
    </p:spTree>
    <p:extLst>
      <p:ext uri="{BB962C8B-B14F-4D97-AF65-F5344CB8AC3E}">
        <p14:creationId xmlns:p14="http://schemas.microsoft.com/office/powerpoint/2010/main" val="3434631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5E79ABB-712B-4A3C-975F-5371A4740E10}" type="slidenum">
              <a:rPr lang="en-SG" smtClean="0"/>
              <a:t>8</a:t>
            </a:fld>
            <a:endParaRPr lang="en-SG"/>
          </a:p>
        </p:txBody>
      </p:sp>
    </p:spTree>
    <p:extLst>
      <p:ext uri="{BB962C8B-B14F-4D97-AF65-F5344CB8AC3E}">
        <p14:creationId xmlns:p14="http://schemas.microsoft.com/office/powerpoint/2010/main" val="104288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2162F-9358-1DB8-15D6-DB2AB6AFF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BDE2-E82F-8911-708C-0EFCCE347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F3561-CA04-98D1-EBE3-9CF69C777DB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4B138B1-B383-299A-70B7-2861B8916679}"/>
              </a:ext>
            </a:extLst>
          </p:cNvPr>
          <p:cNvSpPr>
            <a:spLocks noGrp="1"/>
          </p:cNvSpPr>
          <p:nvPr>
            <p:ph type="sldNum" sz="quarter" idx="5"/>
          </p:nvPr>
        </p:nvSpPr>
        <p:spPr/>
        <p:txBody>
          <a:bodyPr/>
          <a:lstStyle/>
          <a:p>
            <a:fld id="{6D772850-0995-49ED-9CD9-06033AB67929}" type="slidenum">
              <a:rPr lang="en-SG" smtClean="0"/>
              <a:t>13</a:t>
            </a:fld>
            <a:endParaRPr lang="en-SG"/>
          </a:p>
        </p:txBody>
      </p:sp>
    </p:spTree>
    <p:extLst>
      <p:ext uri="{BB962C8B-B14F-4D97-AF65-F5344CB8AC3E}">
        <p14:creationId xmlns:p14="http://schemas.microsoft.com/office/powerpoint/2010/main" val="64583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E8392-FF8E-0936-C049-AC1F84DDB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9B1FF-7890-39B4-5D54-0CF13BD07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8B16E-3442-AA29-BB3E-7E006CDC72C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18326C8-DE48-78A8-2563-307EDA8B70A5}"/>
              </a:ext>
            </a:extLst>
          </p:cNvPr>
          <p:cNvSpPr>
            <a:spLocks noGrp="1"/>
          </p:cNvSpPr>
          <p:nvPr>
            <p:ph type="sldNum" sz="quarter" idx="5"/>
          </p:nvPr>
        </p:nvSpPr>
        <p:spPr/>
        <p:txBody>
          <a:bodyPr/>
          <a:lstStyle/>
          <a:p>
            <a:fld id="{6D772850-0995-49ED-9CD9-06033AB67929}" type="slidenum">
              <a:rPr lang="en-SG" smtClean="0"/>
              <a:t>22</a:t>
            </a:fld>
            <a:endParaRPr lang="en-SG"/>
          </a:p>
        </p:txBody>
      </p:sp>
    </p:spTree>
    <p:extLst>
      <p:ext uri="{BB962C8B-B14F-4D97-AF65-F5344CB8AC3E}">
        <p14:creationId xmlns:p14="http://schemas.microsoft.com/office/powerpoint/2010/main" val="975679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1D8F-1556-A741-4333-273CE0EBB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FDE2E-0B56-7028-4DBD-743A405BE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8DA8C-7F38-DDAF-C185-D2E26416D3B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0347087-5FAD-7C81-B891-45426245A424}"/>
              </a:ext>
            </a:extLst>
          </p:cNvPr>
          <p:cNvSpPr>
            <a:spLocks noGrp="1"/>
          </p:cNvSpPr>
          <p:nvPr>
            <p:ph type="sldNum" sz="quarter" idx="5"/>
          </p:nvPr>
        </p:nvSpPr>
        <p:spPr/>
        <p:txBody>
          <a:bodyPr/>
          <a:lstStyle/>
          <a:p>
            <a:fld id="{6D772850-0995-49ED-9CD9-06033AB67929}" type="slidenum">
              <a:rPr lang="en-SG" smtClean="0"/>
              <a:t>23</a:t>
            </a:fld>
            <a:endParaRPr lang="en-SG"/>
          </a:p>
        </p:txBody>
      </p:sp>
    </p:spTree>
    <p:extLst>
      <p:ext uri="{BB962C8B-B14F-4D97-AF65-F5344CB8AC3E}">
        <p14:creationId xmlns:p14="http://schemas.microsoft.com/office/powerpoint/2010/main" val="41087816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userDrawn="1"/>
        </p:nvPicPr>
        <p:blipFill>
          <a:blip r:embed="rId4"/>
          <a:stretch>
            <a:fillRect/>
          </a:stretch>
        </p:blipFill>
        <p:spPr>
          <a:xfrm>
            <a:off x="0" y="6235"/>
            <a:ext cx="1347333" cy="676715"/>
          </a:xfrm>
          <a:prstGeom prst="rect">
            <a:avLst/>
          </a:prstGeom>
        </p:spPr>
      </p:pic>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6352738" y="2329265"/>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2" name="Text Placeholder 50">
            <a:extLst>
              <a:ext uri="{FF2B5EF4-FFF2-40B4-BE49-F238E27FC236}">
                <a16:creationId xmlns:a16="http://schemas.microsoft.com/office/drawing/2014/main" id="{180BED96-B383-F37B-6407-6352E842379E}"/>
              </a:ext>
            </a:extLst>
          </p:cNvPr>
          <p:cNvSpPr>
            <a:spLocks noGrp="1"/>
          </p:cNvSpPr>
          <p:nvPr>
            <p:ph type="body" sz="quarter" idx="12" hasCustomPrompt="1"/>
          </p:nvPr>
        </p:nvSpPr>
        <p:spPr>
          <a:xfrm>
            <a:off x="6352738" y="3286566"/>
            <a:ext cx="5606598" cy="915587"/>
          </a:xfrm>
        </p:spPr>
        <p:txBody>
          <a:bodyPr>
            <a:noAutofit/>
          </a:bodyPr>
          <a:lstStyle>
            <a:lvl1pPr marL="0" indent="0">
              <a:buNone/>
              <a:defRPr sz="3200">
                <a:latin typeface="Arial Black" panose="020B0A04020102020204" pitchFamily="34" charset="0"/>
                <a:cs typeface="Arial" panose="020B0604020202020204" pitchFamily="34" charset="0"/>
              </a:defRPr>
            </a:lvl1pPr>
          </a:lstStyle>
          <a:p>
            <a:pPr lvl="0"/>
            <a:r>
              <a:rPr lang="en-US"/>
              <a:t>Title Slide Headline Text in Arial Black 32pt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9" y="4591513"/>
            <a:ext cx="2232461"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Arial Bold 20pt</a:t>
            </a:r>
            <a:endParaRPr lang="en-SG"/>
          </a:p>
        </p:txBody>
      </p:sp>
    </p:spTree>
    <p:extLst>
      <p:ext uri="{BB962C8B-B14F-4D97-AF65-F5344CB8AC3E}">
        <p14:creationId xmlns:p14="http://schemas.microsoft.com/office/powerpoint/2010/main" val="2909934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Text">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userDrawn="1"/>
        </p:nvPicPr>
        <p:blipFill>
          <a:blip r:embed="rId4"/>
          <a:stretch>
            <a:fillRect/>
          </a:stretch>
        </p:blipFill>
        <p:spPr>
          <a:xfrm>
            <a:off x="0" y="0"/>
            <a:ext cx="1347333" cy="676715"/>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673666" y="2306900"/>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6" name="Text Placeholder 50">
            <a:extLst>
              <a:ext uri="{FF2B5EF4-FFF2-40B4-BE49-F238E27FC236}">
                <a16:creationId xmlns:a16="http://schemas.microsoft.com/office/drawing/2014/main" id="{9CDD1712-8A0B-F78D-BA91-3055A335B274}"/>
              </a:ext>
            </a:extLst>
          </p:cNvPr>
          <p:cNvSpPr>
            <a:spLocks noGrp="1"/>
          </p:cNvSpPr>
          <p:nvPr>
            <p:ph type="body" sz="quarter" idx="12" hasCustomPrompt="1"/>
          </p:nvPr>
        </p:nvSpPr>
        <p:spPr>
          <a:xfrm>
            <a:off x="673666" y="3300664"/>
            <a:ext cx="9961347" cy="1842467"/>
          </a:xfrm>
        </p:spPr>
        <p:txBody>
          <a:bodyPr>
            <a:noAutofit/>
          </a:bodyPr>
          <a:lstStyle>
            <a:lvl1pPr marL="0" indent="0">
              <a:buNone/>
              <a:defRPr sz="5000">
                <a:latin typeface="Arial Black" panose="020B0A04020102020204" pitchFamily="34" charset="0"/>
                <a:cs typeface="Arial" panose="020B0604020202020204" pitchFamily="34" charset="0"/>
              </a:defRPr>
            </a:lvl1pPr>
          </a:lstStyle>
          <a:p>
            <a:pPr lvl="0"/>
            <a:r>
              <a:rPr lang="en-US"/>
              <a:t>Title Slide without image Arial Black 50pt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7" y="5509800"/>
            <a:ext cx="3224566"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Tree>
    <p:extLst>
      <p:ext uri="{BB962C8B-B14F-4D97-AF65-F5344CB8AC3E}">
        <p14:creationId xmlns:p14="http://schemas.microsoft.com/office/powerpoint/2010/main" val="42601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userDrawn="1"/>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17" name="Text Placeholder 50">
            <a:extLst>
              <a:ext uri="{FF2B5EF4-FFF2-40B4-BE49-F238E27FC236}">
                <a16:creationId xmlns:a16="http://schemas.microsoft.com/office/drawing/2014/main" id="{D870B89D-DB4F-81BC-18C4-349A04D83B69}"/>
              </a:ext>
            </a:extLst>
          </p:cNvPr>
          <p:cNvSpPr>
            <a:spLocks noGrp="1"/>
          </p:cNvSpPr>
          <p:nvPr>
            <p:ph type="body" sz="quarter" idx="11" hasCustomPrompt="1"/>
          </p:nvPr>
        </p:nvSpPr>
        <p:spPr>
          <a:xfrm>
            <a:off x="2201155" y="2619879"/>
            <a:ext cx="6044487" cy="1753547"/>
          </a:xfrm>
        </p:spPr>
        <p:txBody>
          <a:bodyPr>
            <a:noAutofit/>
          </a:bodyPr>
          <a:lstStyle>
            <a:lvl1pPr marL="0" indent="0">
              <a:buNone/>
              <a:defRPr sz="5400">
                <a:solidFill>
                  <a:schemeClr val="bg1"/>
                </a:solidFill>
                <a:latin typeface="Arial Black" panose="020B0A04020102020204" pitchFamily="34" charset="0"/>
                <a:cs typeface="Arial" panose="020B0604020202020204" pitchFamily="34" charset="0"/>
              </a:defRPr>
            </a:lvl1pPr>
          </a:lstStyle>
          <a:p>
            <a:pPr lvl="0"/>
            <a:r>
              <a:rPr lang="en-US"/>
              <a:t>Divider Title (Arial Black 54)</a:t>
            </a:r>
            <a:endParaRPr lang="en-SG"/>
          </a:p>
        </p:txBody>
      </p:sp>
    </p:spTree>
    <p:extLst>
      <p:ext uri="{BB962C8B-B14F-4D97-AF65-F5344CB8AC3E}">
        <p14:creationId xmlns:p14="http://schemas.microsoft.com/office/powerpoint/2010/main" val="1645880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4" y="1593023"/>
            <a:ext cx="7339144" cy="3671953"/>
          </a:xfrm>
        </p:spPr>
        <p:txBody>
          <a:bodyPr>
            <a:noAutofit/>
          </a:bodyPr>
          <a:lstStyle>
            <a:lvl1pPr marL="342900" indent="-342900">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stStyle>
          <a:p>
            <a:pPr lvl="0"/>
            <a:r>
              <a:rPr lang="en-US"/>
              <a:t>Include bullet content here (Arial regular 20)</a:t>
            </a:r>
            <a:endParaRPr lang="en-SG"/>
          </a:p>
        </p:txBody>
      </p:sp>
      <p:sp>
        <p:nvSpPr>
          <p:cNvPr id="12" name="Text Placeholder 50">
            <a:extLst>
              <a:ext uri="{FF2B5EF4-FFF2-40B4-BE49-F238E27FC236}">
                <a16:creationId xmlns:a16="http://schemas.microsoft.com/office/drawing/2014/main" id="{E65D6370-7DD6-349A-1411-08C3CD222FED}"/>
              </a:ext>
            </a:extLst>
          </p:cNvPr>
          <p:cNvSpPr>
            <a:spLocks noGrp="1" noRot="1" noMove="1" noResize="1" noEditPoints="1" noAdjustHandles="1" noChangeArrowheads="1" noChangeShapeType="1"/>
          </p:cNvSpPr>
          <p:nvPr>
            <p:ph type="body" sz="quarter" idx="15"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
        <p:nvSpPr>
          <p:cNvPr id="3" name="Text Placeholder 50">
            <a:extLst>
              <a:ext uri="{FF2B5EF4-FFF2-40B4-BE49-F238E27FC236}">
                <a16:creationId xmlns:a16="http://schemas.microsoft.com/office/drawing/2014/main" id="{E4470E7A-B67B-5220-2D90-13D5AB1496DE}"/>
              </a:ext>
            </a:extLst>
          </p:cNvPr>
          <p:cNvSpPr>
            <a:spLocks noGrp="1"/>
          </p:cNvSpPr>
          <p:nvPr>
            <p:ph type="body" sz="quarter" idx="16"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Tree>
    <p:extLst>
      <p:ext uri="{BB962C8B-B14F-4D97-AF65-F5344CB8AC3E}">
        <p14:creationId xmlns:p14="http://schemas.microsoft.com/office/powerpoint/2010/main" val="1830736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Column Layout 1">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C17D2C55-815E-9B4F-C350-98157CF8B8B9}"/>
              </a:ext>
            </a:extLst>
          </p:cNvPr>
          <p:cNvSpPr>
            <a:spLocks noGrp="1"/>
          </p:cNvSpPr>
          <p:nvPr>
            <p:ph type="pic" sz="quarter" idx="10"/>
          </p:nvPr>
        </p:nvSpPr>
        <p:spPr>
          <a:xfrm>
            <a:off x="871538" y="1758951"/>
            <a:ext cx="4886325" cy="3798888"/>
          </a:xfrm>
        </p:spPr>
        <p:txBody>
          <a:bodyPr/>
          <a:lstStyle/>
          <a:p>
            <a:endParaRPr lang="en-SG"/>
          </a:p>
        </p:txBody>
      </p:sp>
      <p:pic>
        <p:nvPicPr>
          <p:cNvPr id="2" name="Picture 1">
            <a:extLst>
              <a:ext uri="{FF2B5EF4-FFF2-40B4-BE49-F238E27FC236}">
                <a16:creationId xmlns:a16="http://schemas.microsoft.com/office/drawing/2014/main" id="{17BF720A-26F6-8E36-6B81-4A4A7E5DB602}"/>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6AB0E5FD-D6F5-C20D-27BA-CAB42634B79A}"/>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22" name="Text Placeholder 50">
            <a:extLst>
              <a:ext uri="{FF2B5EF4-FFF2-40B4-BE49-F238E27FC236}">
                <a16:creationId xmlns:a16="http://schemas.microsoft.com/office/drawing/2014/main" id="{FF149D6B-C7CC-1170-E516-5D13610D4EA9}"/>
              </a:ext>
            </a:extLst>
          </p:cNvPr>
          <p:cNvSpPr>
            <a:spLocks noGrp="1"/>
          </p:cNvSpPr>
          <p:nvPr>
            <p:ph type="body" sz="quarter" idx="13"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
        <p:nvSpPr>
          <p:cNvPr id="23" name="Text Placeholder 50">
            <a:extLst>
              <a:ext uri="{FF2B5EF4-FFF2-40B4-BE49-F238E27FC236}">
                <a16:creationId xmlns:a16="http://schemas.microsoft.com/office/drawing/2014/main" id="{9B715452-E53F-B5B6-859C-312AD8BD67B8}"/>
              </a:ext>
            </a:extLst>
          </p:cNvPr>
          <p:cNvSpPr>
            <a:spLocks noGrp="1"/>
          </p:cNvSpPr>
          <p:nvPr>
            <p:ph type="body" sz="quarter" idx="14" hasCustomPrompt="1"/>
          </p:nvPr>
        </p:nvSpPr>
        <p:spPr>
          <a:xfrm>
            <a:off x="6759157" y="1758951"/>
            <a:ext cx="4561305" cy="3798888"/>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p>
        </p:txBody>
      </p:sp>
      <p:sp>
        <p:nvSpPr>
          <p:cNvPr id="24" name="Text Placeholder 50">
            <a:extLst>
              <a:ext uri="{FF2B5EF4-FFF2-40B4-BE49-F238E27FC236}">
                <a16:creationId xmlns:a16="http://schemas.microsoft.com/office/drawing/2014/main" id="{0DEA951C-76CC-49BC-34FF-F636B98386DC}"/>
              </a:ext>
            </a:extLst>
          </p:cNvPr>
          <p:cNvSpPr>
            <a:spLocks noGrp="1" noRot="1" noMove="1" noResize="1" noEditPoints="1" noAdjustHandles="1" noChangeArrowheads="1" noChangeShapeType="1"/>
          </p:cNvSpPr>
          <p:nvPr>
            <p:ph type="body" sz="quarter" idx="15"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Tree>
    <p:extLst>
      <p:ext uri="{BB962C8B-B14F-4D97-AF65-F5344CB8AC3E}">
        <p14:creationId xmlns:p14="http://schemas.microsoft.com/office/powerpoint/2010/main" val="2553754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Column layout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0BC46A-7012-40EB-2F7B-3D5141B76B81}"/>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92961DFF-2383-8027-7F67-4DA323228006}"/>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10" name="Text Placeholder 50">
            <a:extLst>
              <a:ext uri="{FF2B5EF4-FFF2-40B4-BE49-F238E27FC236}">
                <a16:creationId xmlns:a16="http://schemas.microsoft.com/office/drawing/2014/main" id="{4FA6F8D9-C635-CCB4-B560-58E8A15426F6}"/>
              </a:ext>
            </a:extLst>
          </p:cNvPr>
          <p:cNvSpPr>
            <a:spLocks noGrp="1"/>
          </p:cNvSpPr>
          <p:nvPr>
            <p:ph type="body" sz="quarter" idx="13"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776346" y="1868655"/>
            <a:ext cx="6221105"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7908758" y="1868654"/>
            <a:ext cx="3506896"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5" name="Text Placeholder 50">
            <a:extLst>
              <a:ext uri="{FF2B5EF4-FFF2-40B4-BE49-F238E27FC236}">
                <a16:creationId xmlns:a16="http://schemas.microsoft.com/office/drawing/2014/main" id="{428B2C82-63B9-C47E-724B-5F020E36F1FB}"/>
              </a:ext>
            </a:extLst>
          </p:cNvPr>
          <p:cNvSpPr>
            <a:spLocks noGrp="1" noRot="1" noMove="1" noResize="1" noEditPoints="1" noAdjustHandles="1" noChangeArrowheads="1" noChangeShapeType="1"/>
          </p:cNvSpPr>
          <p:nvPr>
            <p:ph type="body" sz="quarter" idx="16"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Tree>
    <p:extLst>
      <p:ext uri="{BB962C8B-B14F-4D97-AF65-F5344CB8AC3E}">
        <p14:creationId xmlns:p14="http://schemas.microsoft.com/office/powerpoint/2010/main" val="80581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Column Layout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C5A3A1-50CE-5942-F47A-2B2384F3E82E}"/>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8" name="Picture 7">
            <a:extLst>
              <a:ext uri="{FF2B5EF4-FFF2-40B4-BE49-F238E27FC236}">
                <a16:creationId xmlns:a16="http://schemas.microsoft.com/office/drawing/2014/main" id="{31B7C0CB-EA13-9E14-290E-996A679769EE}"/>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BD0127E9-CB64-551D-B92E-5C23356CCD80}"/>
              </a:ext>
            </a:extLst>
          </p:cNvPr>
          <p:cNvSpPr>
            <a:spLocks noGrp="1"/>
          </p:cNvSpPr>
          <p:nvPr>
            <p:ph type="body" sz="quarter" idx="13"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8325855" y="1868654"/>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773877" y="1868653"/>
            <a:ext cx="3092270"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4549866" y="1868653"/>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5" name="Text Placeholder 50">
            <a:extLst>
              <a:ext uri="{FF2B5EF4-FFF2-40B4-BE49-F238E27FC236}">
                <a16:creationId xmlns:a16="http://schemas.microsoft.com/office/drawing/2014/main" id="{23B69757-C341-4F1C-060F-82D7BF4A9138}"/>
              </a:ext>
            </a:extLst>
          </p:cNvPr>
          <p:cNvSpPr>
            <a:spLocks noGrp="1" noRot="1" noMove="1" noResize="1" noEditPoints="1" noAdjustHandles="1" noChangeArrowheads="1" noChangeShapeType="1"/>
          </p:cNvSpPr>
          <p:nvPr>
            <p:ph type="body" sz="quarter" idx="18"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Tree>
    <p:extLst>
      <p:ext uri="{BB962C8B-B14F-4D97-AF65-F5344CB8AC3E}">
        <p14:creationId xmlns:p14="http://schemas.microsoft.com/office/powerpoint/2010/main" val="1715077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871538" y="1758167"/>
            <a:ext cx="4886325" cy="3798888"/>
          </a:xfrm>
        </p:spPr>
        <p:txBody>
          <a:bodyPr/>
          <a:lstStyle/>
          <a:p>
            <a:endParaRPr lang="en-SG"/>
          </a:p>
        </p:txBody>
      </p:sp>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6002338" y="1758167"/>
            <a:ext cx="5359400" cy="3798888"/>
          </a:xfrm>
        </p:spPr>
        <p:txBody>
          <a:bodyPr/>
          <a:lstStyle/>
          <a:p>
            <a:endParaRPr lang="en-SG"/>
          </a:p>
        </p:txBody>
      </p:sp>
      <p:sp>
        <p:nvSpPr>
          <p:cNvPr id="18" name="Text Placeholder 50">
            <a:extLst>
              <a:ext uri="{FF2B5EF4-FFF2-40B4-BE49-F238E27FC236}">
                <a16:creationId xmlns:a16="http://schemas.microsoft.com/office/drawing/2014/main" id="{706544CC-C719-1DAA-4B3B-83884630C099}"/>
              </a:ext>
            </a:extLst>
          </p:cNvPr>
          <p:cNvSpPr>
            <a:spLocks noGrp="1"/>
          </p:cNvSpPr>
          <p:nvPr>
            <p:ph type="body" sz="quarter" idx="13"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
        <p:nvSpPr>
          <p:cNvPr id="19" name="Text Placeholder 50">
            <a:extLst>
              <a:ext uri="{FF2B5EF4-FFF2-40B4-BE49-F238E27FC236}">
                <a16:creationId xmlns:a16="http://schemas.microsoft.com/office/drawing/2014/main" id="{B67EBC32-6CC9-73D7-5C3C-BB30B7E452C9}"/>
              </a:ext>
            </a:extLst>
          </p:cNvPr>
          <p:cNvSpPr>
            <a:spLocks noGrp="1" noRot="1" noMove="1" noResize="1" noEditPoints="1" noAdjustHandles="1" noChangeArrowheads="1" noChangeShapeType="1"/>
          </p:cNvSpPr>
          <p:nvPr>
            <p:ph type="body" sz="quarter" idx="15"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Tree>
    <p:extLst>
      <p:ext uri="{BB962C8B-B14F-4D97-AF65-F5344CB8AC3E}">
        <p14:creationId xmlns:p14="http://schemas.microsoft.com/office/powerpoint/2010/main" val="248627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821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4F90C-6A25-7B45-4D40-4AF6365F3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87C91A6-E80A-E271-1A2A-66F1BFA64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EE94A59-448E-11D4-4086-32DAF3655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9EB9C6-3F5B-41C7-9BCD-D3FFCCDCFB21}" type="datetimeFigureOut">
              <a:rPr lang="en-SG" smtClean="0"/>
              <a:t>14/10/2026</a:t>
            </a:fld>
            <a:endParaRPr lang="en-SG"/>
          </a:p>
        </p:txBody>
      </p:sp>
      <p:sp>
        <p:nvSpPr>
          <p:cNvPr id="5" name="Footer Placeholder 4">
            <a:extLst>
              <a:ext uri="{FF2B5EF4-FFF2-40B4-BE49-F238E27FC236}">
                <a16:creationId xmlns:a16="http://schemas.microsoft.com/office/drawing/2014/main" id="{AE35392C-91E6-369E-D0BC-1388ADF10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F6975CD6-1D19-30A9-A10A-87EC3E46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B8B98251-51EF-D105-D451-A027B772FD65}"/>
              </a:ext>
            </a:extLst>
          </p:cNvPr>
          <p:cNvSpPr txBox="1"/>
          <p:nvPr>
            <p:extLst>
              <p:ext uri="{1162E1C5-73C7-4A58-AE30-91384D911F3F}">
                <p184:classification xmlns:p184="http://schemas.microsoft.com/office/powerpoint/2018/4/main" val="hdr"/>
              </p:ext>
            </p:extLst>
          </p:nvPr>
        </p:nvSpPr>
        <p:spPr>
          <a:xfrm>
            <a:off x="5282375" y="63500"/>
            <a:ext cx="1655762"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ea typeface="Calibri" panose="020F0502020204030204" pitchFamily="34" charset="0"/>
                <a:cs typeface="Calibri" panose="020F0502020204030204" pitchFamily="34" charset="0"/>
              </a:rPr>
              <a:t>Official (Closed) \ Non-Sensitive</a:t>
            </a:r>
          </a:p>
        </p:txBody>
      </p:sp>
    </p:spTree>
    <p:extLst>
      <p:ext uri="{BB962C8B-B14F-4D97-AF65-F5344CB8AC3E}">
        <p14:creationId xmlns:p14="http://schemas.microsoft.com/office/powerpoint/2010/main" val="876220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myrp.sharepoint.com/sites/StudentHandbook/SitePages/Attendance_and_Consequences_for_Absenteeism.aspx"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myrp.sharepoint.com/sites/StudentHandbook/SitePages/Academic_Information.aspx"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myrp.sharepoint.com/sites/StudentHandbook/SitePages/assessment_rules_and_regulations.aspx"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hyperlink" Target="https://apastyle.apa.org/blog/cite-generative-ai-references" TargetMode="External"/><Relationship Id="rId4" Type="http://schemas.openxmlformats.org/officeDocument/2006/relationships/hyperlink" Target="https://chatgpt.com/share/abc123xyz"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www.rp.edu.sg/docs/default-source/student-life-doc/self-help-configuration-guide.pdf"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mailto:help-IT@rp.edu.sg"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mailto:tok_nam_huat@rp.edu.sg" TargetMode="External"/><Relationship Id="rId2" Type="http://schemas.openxmlformats.org/officeDocument/2006/relationships/hyperlink" Target="mailto:magdalene_lim@rp.edu.sg"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42C915-4C8B-E842-7E08-3B4B2BDFF0B6}"/>
              </a:ext>
            </a:extLst>
          </p:cNvPr>
          <p:cNvSpPr>
            <a:spLocks noGrp="1"/>
          </p:cNvSpPr>
          <p:nvPr>
            <p:ph type="body" sz="quarter" idx="11"/>
          </p:nvPr>
        </p:nvSpPr>
        <p:spPr>
          <a:xfrm>
            <a:off x="723864" y="2339669"/>
            <a:ext cx="5007044" cy="312824"/>
          </a:xfrm>
        </p:spPr>
        <p:txBody>
          <a:bodyPr vert="horz" lIns="91440" tIns="45720" rIns="91440" bIns="45720" rtlCol="0" anchor="t">
            <a:noAutofit/>
          </a:bodyPr>
          <a:lstStyle/>
          <a:p>
            <a:r>
              <a:rPr lang="en-US" dirty="0">
                <a:latin typeface="Arial"/>
                <a:cs typeface="Arial"/>
              </a:rPr>
              <a:t>AY2026 Semester 2</a:t>
            </a:r>
          </a:p>
        </p:txBody>
      </p:sp>
      <p:sp>
        <p:nvSpPr>
          <p:cNvPr id="4" name="Text Placeholder 3">
            <a:extLst>
              <a:ext uri="{FF2B5EF4-FFF2-40B4-BE49-F238E27FC236}">
                <a16:creationId xmlns:a16="http://schemas.microsoft.com/office/drawing/2014/main" id="{BEF00F7B-1948-2AB9-1140-361693513318}"/>
              </a:ext>
            </a:extLst>
          </p:cNvPr>
          <p:cNvSpPr>
            <a:spLocks noGrp="1"/>
          </p:cNvSpPr>
          <p:nvPr>
            <p:ph type="body" sz="quarter" idx="12"/>
          </p:nvPr>
        </p:nvSpPr>
        <p:spPr>
          <a:xfrm>
            <a:off x="723864" y="3288495"/>
            <a:ext cx="5606598" cy="1348073"/>
          </a:xfrm>
        </p:spPr>
        <p:txBody>
          <a:bodyPr vert="horz" lIns="91440" tIns="45720" rIns="91440" bIns="45720" rtlCol="0" anchor="t">
            <a:noAutofit/>
          </a:bodyPr>
          <a:lstStyle/>
          <a:p>
            <a:r>
              <a:rPr lang="en-US" dirty="0">
                <a:latin typeface="Arial Black"/>
                <a:cs typeface="Arial"/>
              </a:rPr>
              <a:t>C372</a:t>
            </a:r>
          </a:p>
          <a:p>
            <a:r>
              <a:rPr lang="en-US" dirty="0">
                <a:latin typeface="Arial Black"/>
                <a:cs typeface="Arial"/>
              </a:rPr>
              <a:t>Payment Technologies</a:t>
            </a:r>
            <a:endParaRPr lang="en-US" dirty="0"/>
          </a:p>
        </p:txBody>
      </p:sp>
      <p:sp>
        <p:nvSpPr>
          <p:cNvPr id="5" name="Text Placeholder 4">
            <a:extLst>
              <a:ext uri="{FF2B5EF4-FFF2-40B4-BE49-F238E27FC236}">
                <a16:creationId xmlns:a16="http://schemas.microsoft.com/office/drawing/2014/main" id="{D5FEBC58-2DD5-4940-C235-6E739035A69E}"/>
              </a:ext>
            </a:extLst>
          </p:cNvPr>
          <p:cNvSpPr>
            <a:spLocks noGrp="1"/>
          </p:cNvSpPr>
          <p:nvPr>
            <p:ph type="body" sz="quarter" idx="13"/>
          </p:nvPr>
        </p:nvSpPr>
        <p:spPr>
          <a:xfrm>
            <a:off x="723864" y="4604928"/>
            <a:ext cx="4683878" cy="667642"/>
          </a:xfrm>
        </p:spPr>
        <p:txBody>
          <a:bodyPr vert="horz" lIns="91440" tIns="45720" rIns="91440" bIns="45720" rtlCol="0" anchor="t">
            <a:noAutofit/>
          </a:bodyPr>
          <a:lstStyle/>
          <a:p>
            <a:pPr>
              <a:defRPr/>
            </a:pPr>
            <a:r>
              <a:rPr lang="en-US" dirty="0">
                <a:solidFill>
                  <a:schemeClr val="accent6">
                    <a:lumMod val="50000"/>
                  </a:schemeClr>
                </a:solidFill>
                <a:ea typeface="Verdana" pitchFamily="34" charset="0"/>
              </a:rPr>
              <a:t>Lecturer’s Name: </a:t>
            </a:r>
          </a:p>
          <a:p>
            <a:pPr>
              <a:defRPr/>
            </a:pPr>
            <a:r>
              <a:rPr lang="en-US" dirty="0">
                <a:solidFill>
                  <a:schemeClr val="accent6">
                    <a:lumMod val="50000"/>
                  </a:schemeClr>
                </a:solidFill>
                <a:ea typeface="Verdana" pitchFamily="34" charset="0"/>
              </a:rPr>
              <a:t>Lecturer’s Email:</a:t>
            </a:r>
            <a:endParaRPr lang="en-US" dirty="0">
              <a:solidFill>
                <a:schemeClr val="accent6">
                  <a:lumMod val="50000"/>
                </a:schemeClr>
              </a:solidFill>
              <a:ea typeface="Verdana" pitchFamily="34" charset="0"/>
              <a:sym typeface="Wingdings"/>
            </a:endParaRPr>
          </a:p>
          <a:p>
            <a:pPr>
              <a:defRPr/>
            </a:pPr>
            <a:r>
              <a:rPr lang="en-US" sz="1600" b="0" dirty="0">
                <a:solidFill>
                  <a:schemeClr val="accent6">
                    <a:lumMod val="50000"/>
                  </a:schemeClr>
                </a:solidFill>
                <a:ea typeface="Verdana" pitchFamily="34" charset="0"/>
                <a:sym typeface="Wingdings"/>
              </a:rPr>
              <a:t>Module Chair’s Name: Magdalene Lim</a:t>
            </a:r>
            <a:br>
              <a:rPr lang="en-US" sz="1600" b="0" dirty="0">
                <a:solidFill>
                  <a:schemeClr val="accent6">
                    <a:lumMod val="50000"/>
                  </a:schemeClr>
                </a:solidFill>
                <a:ea typeface="Verdana" pitchFamily="34" charset="0"/>
                <a:sym typeface="Wingdings"/>
              </a:rPr>
            </a:br>
            <a:r>
              <a:rPr lang="en-US" sz="1600" b="0" dirty="0">
                <a:solidFill>
                  <a:schemeClr val="accent6">
                    <a:lumMod val="50000"/>
                  </a:schemeClr>
                </a:solidFill>
                <a:ea typeface="Verdana" pitchFamily="34" charset="0"/>
                <a:sym typeface="Wingdings"/>
              </a:rPr>
              <a:t>Module Chair’s Email: magdalene_lim@rp.edu.sg</a:t>
            </a:r>
            <a:endParaRPr lang="en-US" dirty="0"/>
          </a:p>
        </p:txBody>
      </p:sp>
      <p:pic>
        <p:nvPicPr>
          <p:cNvPr id="7" name="Picture 6">
            <a:extLst>
              <a:ext uri="{FF2B5EF4-FFF2-40B4-BE49-F238E27FC236}">
                <a16:creationId xmlns:a16="http://schemas.microsoft.com/office/drawing/2014/main" id="{878791ED-F737-9E88-528E-C96ABE5F49F9}"/>
              </a:ext>
            </a:extLst>
          </p:cNvPr>
          <p:cNvPicPr>
            <a:picLocks/>
          </p:cNvPicPr>
          <p:nvPr/>
        </p:nvPicPr>
        <p:blipFill>
          <a:blip r:embed="rId2"/>
          <a:stretch>
            <a:fillRect/>
          </a:stretch>
        </p:blipFill>
        <p:spPr>
          <a:xfrm>
            <a:off x="0" y="0"/>
            <a:ext cx="1347333" cy="676715"/>
          </a:xfrm>
          <a:prstGeom prst="rect">
            <a:avLst/>
          </a:prstGeom>
        </p:spPr>
      </p:pic>
    </p:spTree>
    <p:extLst>
      <p:ext uri="{BB962C8B-B14F-4D97-AF65-F5344CB8AC3E}">
        <p14:creationId xmlns:p14="http://schemas.microsoft.com/office/powerpoint/2010/main" val="51109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955F6-962F-0B1C-C0B6-9802DCC226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A3C455-AD07-63F5-15CA-22481D23046A}"/>
              </a:ext>
            </a:extLst>
          </p:cNvPr>
          <p:cNvSpPr>
            <a:spLocks noGrp="1"/>
          </p:cNvSpPr>
          <p:nvPr>
            <p:ph type="body" sz="quarter" idx="4294967295"/>
          </p:nvPr>
        </p:nvSpPr>
        <p:spPr>
          <a:xfrm>
            <a:off x="726485" y="785813"/>
            <a:ext cx="9216072" cy="623667"/>
          </a:xfrm>
        </p:spPr>
        <p:txBody>
          <a:bodyPr vert="horz" lIns="91440" tIns="45720" rIns="91440" bIns="45720" rtlCol="0" anchor="t">
            <a:noAutofit/>
          </a:bodyPr>
          <a:lstStyle/>
          <a:p>
            <a:pPr marL="0" indent="0">
              <a:buNone/>
            </a:pPr>
            <a:r>
              <a:rPr lang="en-US" sz="3200" dirty="0">
                <a:latin typeface="Arial Black"/>
                <a:cs typeface="Arial"/>
              </a:rPr>
              <a:t>Agenda</a:t>
            </a:r>
            <a:endParaRPr lang="en-US" sz="3200" dirty="0"/>
          </a:p>
        </p:txBody>
      </p:sp>
      <p:sp>
        <p:nvSpPr>
          <p:cNvPr id="3" name="Text Placeholder 2">
            <a:extLst>
              <a:ext uri="{FF2B5EF4-FFF2-40B4-BE49-F238E27FC236}">
                <a16:creationId xmlns:a16="http://schemas.microsoft.com/office/drawing/2014/main" id="{09979698-BDB5-D645-3A33-07B6AA540B90}"/>
              </a:ext>
            </a:extLst>
          </p:cNvPr>
          <p:cNvSpPr>
            <a:spLocks noGrp="1"/>
          </p:cNvSpPr>
          <p:nvPr>
            <p:ph type="body" sz="quarter" idx="14"/>
          </p:nvPr>
        </p:nvSpPr>
        <p:spPr>
          <a:xfrm>
            <a:off x="653834" y="1409480"/>
            <a:ext cx="7339144" cy="3671953"/>
          </a:xfrm>
        </p:spPr>
        <p:txBody>
          <a:bodyPr vert="horz" lIns="91440" tIns="45720" rIns="91440" bIns="45720" rtlCol="0" anchor="t">
            <a:no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About the Module</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Class Timing </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Lesson Mode</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Attendance Policy</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What Happens if I’m Absent?</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Assessment &amp; Guidelines</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Academic Integrity</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Tools &amp; Platforms</a:t>
            </a:r>
          </a:p>
          <a:p>
            <a:pPr marL="342900" lvl="0" indent="-342900">
              <a:lnSpc>
                <a:spcPct val="115000"/>
              </a:lnSpc>
              <a:spcAft>
                <a:spcPts val="800"/>
              </a:spcAft>
              <a:buSzPts val="1000"/>
              <a:buFont typeface="Symbol" panose="05050102010706020507" pitchFamily="18" charset="2"/>
              <a:buChar char=""/>
              <a:tabLst>
                <a:tab pos="457200" algn="l"/>
              </a:tabLst>
            </a:pPr>
            <a:r>
              <a:rPr lang="en-SG" kern="100" dirty="0">
                <a:effectLst/>
                <a:ea typeface="DengXian" panose="02010600030101010101" pitchFamily="2" charset="-122"/>
              </a:rPr>
              <a:t>Getting Help</a:t>
            </a:r>
          </a:p>
        </p:txBody>
      </p:sp>
      <p:sp>
        <p:nvSpPr>
          <p:cNvPr id="4" name="Text Placeholder 3">
            <a:extLst>
              <a:ext uri="{FF2B5EF4-FFF2-40B4-BE49-F238E27FC236}">
                <a16:creationId xmlns:a16="http://schemas.microsoft.com/office/drawing/2014/main" id="{0334D2C1-16F3-9CF2-62BC-F87BDEF5EECF}"/>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371741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2B213-80C4-3A16-755C-BA6844F63D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C98E02-3674-0629-B826-FD46C906031F}"/>
              </a:ext>
            </a:extLst>
          </p:cNvPr>
          <p:cNvSpPr>
            <a:spLocks noGrp="1"/>
          </p:cNvSpPr>
          <p:nvPr>
            <p:ph type="body" sz="quarter" idx="4294967295"/>
          </p:nvPr>
        </p:nvSpPr>
        <p:spPr>
          <a:xfrm>
            <a:off x="726485" y="785813"/>
            <a:ext cx="9216072" cy="623667"/>
          </a:xfrm>
        </p:spPr>
        <p:txBody>
          <a:bodyPr vert="horz" lIns="91440" tIns="45720" rIns="91440" bIns="45720" rtlCol="0" anchor="t">
            <a:noAutofit/>
          </a:bodyPr>
          <a:lstStyle/>
          <a:p>
            <a:pPr marL="0" indent="0">
              <a:buNone/>
            </a:pPr>
            <a:r>
              <a:rPr lang="en-US" sz="3200" dirty="0">
                <a:latin typeface="Arial Black"/>
                <a:cs typeface="Arial"/>
              </a:rPr>
              <a:t>About This Module</a:t>
            </a:r>
            <a:endParaRPr lang="en-US" sz="3200" dirty="0"/>
          </a:p>
        </p:txBody>
      </p:sp>
      <p:sp>
        <p:nvSpPr>
          <p:cNvPr id="3" name="Text Placeholder 2">
            <a:extLst>
              <a:ext uri="{FF2B5EF4-FFF2-40B4-BE49-F238E27FC236}">
                <a16:creationId xmlns:a16="http://schemas.microsoft.com/office/drawing/2014/main" id="{2D363E46-E3F7-5345-E662-5B7F3C14311F}"/>
              </a:ext>
            </a:extLst>
          </p:cNvPr>
          <p:cNvSpPr>
            <a:spLocks noGrp="1"/>
          </p:cNvSpPr>
          <p:nvPr>
            <p:ph type="body" sz="quarter" idx="14"/>
          </p:nvPr>
        </p:nvSpPr>
        <p:spPr>
          <a:xfrm>
            <a:off x="730033" y="1593023"/>
            <a:ext cx="10508237" cy="3671953"/>
          </a:xfrm>
        </p:spPr>
        <p:txBody>
          <a:bodyPr vert="horz" lIns="91440" tIns="45720" rIns="91440" bIns="45720" rtlCol="0" anchor="t">
            <a:noAutofit/>
          </a:bodyPr>
          <a:lstStyle/>
          <a:p>
            <a:pPr algn="just">
              <a:lnSpc>
                <a:spcPct val="100000"/>
              </a:lnSpc>
            </a:pPr>
            <a:r>
              <a:rPr lang="en-US" dirty="0"/>
              <a:t>This module introduces students to a variety of payment technologies and systems, with a focus on their application and integration within web-based environments. Students will design and develop a web application that incorporates front-end and/or back-end payment modules. This process includes working with various payment application programming interfaces (APIs) to enable secure and efficient payment transactions.</a:t>
            </a:r>
            <a:endParaRPr lang="en-SG" dirty="0"/>
          </a:p>
          <a:p>
            <a:pPr marL="0" indent="0" algn="just">
              <a:lnSpc>
                <a:spcPct val="100000"/>
              </a:lnSpc>
              <a:buNone/>
            </a:pPr>
            <a:endParaRPr lang="en-SG" dirty="0"/>
          </a:p>
          <a:p>
            <a:pPr algn="just">
              <a:lnSpc>
                <a:spcPct val="100000"/>
              </a:lnSpc>
            </a:pPr>
            <a:r>
              <a:rPr lang="en-US" dirty="0"/>
              <a:t>A foundational understanding of the financial ecosystem, financial regulations, web application development, the software development life cycle, and database systems is assumed. Such knowledge may be acquired through modules like </a:t>
            </a:r>
            <a:r>
              <a:rPr lang="en-US" b="1" dirty="0"/>
              <a:t>C368 Financial Ecosystems</a:t>
            </a:r>
            <a:r>
              <a:rPr lang="en-US" dirty="0"/>
              <a:t>, </a:t>
            </a:r>
            <a:r>
              <a:rPr lang="en-US" b="1" dirty="0"/>
              <a:t>C369 Financial Technologies</a:t>
            </a:r>
            <a:r>
              <a:rPr lang="en-US" dirty="0"/>
              <a:t>, </a:t>
            </a:r>
            <a:r>
              <a:rPr lang="en-US" b="1" dirty="0"/>
              <a:t>C237 Software Application Development</a:t>
            </a:r>
            <a:r>
              <a:rPr lang="en-US" dirty="0"/>
              <a:t>, </a:t>
            </a:r>
            <a:r>
              <a:rPr lang="en-US" b="1" dirty="0"/>
              <a:t>C206 Software Development Process</a:t>
            </a:r>
            <a:r>
              <a:rPr lang="en-US" dirty="0"/>
              <a:t>, and </a:t>
            </a:r>
            <a:r>
              <a:rPr lang="en-US" b="1" dirty="0"/>
              <a:t>C207 Database Systems</a:t>
            </a:r>
            <a:r>
              <a:rPr lang="en-US" dirty="0"/>
              <a:t>.</a:t>
            </a:r>
            <a:endParaRPr lang="en-SG" dirty="0"/>
          </a:p>
          <a:p>
            <a:pPr>
              <a:lnSpc>
                <a:spcPct val="100000"/>
              </a:lnSpc>
            </a:pPr>
            <a:endParaRPr lang="en-SG" sz="1800" dirty="0"/>
          </a:p>
        </p:txBody>
      </p:sp>
      <p:sp>
        <p:nvSpPr>
          <p:cNvPr id="4" name="Text Placeholder 3">
            <a:extLst>
              <a:ext uri="{FF2B5EF4-FFF2-40B4-BE49-F238E27FC236}">
                <a16:creationId xmlns:a16="http://schemas.microsoft.com/office/drawing/2014/main" id="{80BB7467-A7EF-6810-572D-774E8A7A20E5}"/>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361298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25EAD0-8258-E826-A77D-97244B96AE67}"/>
              </a:ext>
            </a:extLst>
          </p:cNvPr>
          <p:cNvSpPr>
            <a:spLocks noGrp="1"/>
          </p:cNvSpPr>
          <p:nvPr>
            <p:ph type="body" sz="quarter" idx="14"/>
          </p:nvPr>
        </p:nvSpPr>
        <p:spPr>
          <a:xfrm>
            <a:off x="730034" y="1593023"/>
            <a:ext cx="10680916" cy="3671953"/>
          </a:xfrm>
        </p:spPr>
        <p:txBody>
          <a:bodyPr/>
          <a:lstStyle/>
          <a:p>
            <a:pPr fontAlgn="ctr">
              <a:lnSpc>
                <a:spcPct val="200000"/>
              </a:lnSpc>
            </a:pPr>
            <a:r>
              <a:rPr lang="en-SG" dirty="0"/>
              <a:t>How Money &amp; Code Connect (Foundations &amp; Architecture)</a:t>
            </a:r>
          </a:p>
          <a:p>
            <a:pPr fontAlgn="ctr">
              <a:lnSpc>
                <a:spcPct val="200000"/>
              </a:lnSpc>
            </a:pPr>
            <a:r>
              <a:rPr lang="en-SG" dirty="0"/>
              <a:t>Building Backends &amp; Industry Insights</a:t>
            </a:r>
          </a:p>
          <a:p>
            <a:pPr fontAlgn="ctr">
              <a:lnSpc>
                <a:spcPct val="200000"/>
              </a:lnSpc>
            </a:pPr>
            <a:r>
              <a:rPr lang="en-SG" dirty="0"/>
              <a:t>Making Transactions Happen (Integration &amp; Payment Processing)</a:t>
            </a:r>
          </a:p>
          <a:p>
            <a:pPr fontAlgn="ctr">
              <a:lnSpc>
                <a:spcPct val="200000"/>
              </a:lnSpc>
            </a:pPr>
            <a:r>
              <a:rPr lang="en-SG" dirty="0"/>
              <a:t>Trust, Safety, &amp; Money Management (Security, Risk, &amp; Operations)</a:t>
            </a:r>
          </a:p>
          <a:p>
            <a:pPr fontAlgn="ctr">
              <a:lnSpc>
                <a:spcPct val="200000"/>
              </a:lnSpc>
            </a:pPr>
            <a:r>
              <a:rPr lang="en-SG" dirty="0"/>
              <a:t>Local Context &amp; Final Settlements </a:t>
            </a:r>
          </a:p>
          <a:p>
            <a:endParaRPr lang="en-SG" dirty="0"/>
          </a:p>
        </p:txBody>
      </p:sp>
      <p:sp>
        <p:nvSpPr>
          <p:cNvPr id="3" name="Text Placeholder 2">
            <a:extLst>
              <a:ext uri="{FF2B5EF4-FFF2-40B4-BE49-F238E27FC236}">
                <a16:creationId xmlns:a16="http://schemas.microsoft.com/office/drawing/2014/main" id="{DE26E275-DDBD-ECBF-39E7-A3F954D17677}"/>
              </a:ext>
            </a:extLst>
          </p:cNvPr>
          <p:cNvSpPr>
            <a:spLocks noGrp="1"/>
          </p:cNvSpPr>
          <p:nvPr>
            <p:ph type="body" sz="quarter" idx="15"/>
          </p:nvPr>
        </p:nvSpPr>
        <p:spPr/>
        <p:txBody>
          <a:bodyPr/>
          <a:lstStyle/>
          <a:p>
            <a:endParaRPr lang="en-SG"/>
          </a:p>
        </p:txBody>
      </p:sp>
      <p:sp>
        <p:nvSpPr>
          <p:cNvPr id="4" name="Text Placeholder 3">
            <a:extLst>
              <a:ext uri="{FF2B5EF4-FFF2-40B4-BE49-F238E27FC236}">
                <a16:creationId xmlns:a16="http://schemas.microsoft.com/office/drawing/2014/main" id="{638B872A-FA88-9738-A03A-16C8C9B4030D}"/>
              </a:ext>
            </a:extLst>
          </p:cNvPr>
          <p:cNvSpPr>
            <a:spLocks noGrp="1"/>
          </p:cNvSpPr>
          <p:nvPr>
            <p:ph type="body" sz="quarter" idx="16"/>
          </p:nvPr>
        </p:nvSpPr>
        <p:spPr/>
        <p:txBody>
          <a:bodyPr/>
          <a:lstStyle/>
          <a:p>
            <a:r>
              <a:rPr lang="en-US" dirty="0">
                <a:latin typeface="Arial Black"/>
                <a:cs typeface="Arial"/>
              </a:rPr>
              <a:t>About This Module</a:t>
            </a:r>
            <a:endParaRPr lang="en-US" dirty="0"/>
          </a:p>
        </p:txBody>
      </p:sp>
    </p:spTree>
    <p:extLst>
      <p:ext uri="{BB962C8B-B14F-4D97-AF65-F5344CB8AC3E}">
        <p14:creationId xmlns:p14="http://schemas.microsoft.com/office/powerpoint/2010/main" val="1817165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7AAA2-9650-79EB-B196-62F6497F0D2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325821-0D65-29A2-5BFB-DED8D2F8BB28}"/>
              </a:ext>
            </a:extLst>
          </p:cNvPr>
          <p:cNvSpPr>
            <a:spLocks noGrp="1"/>
          </p:cNvSpPr>
          <p:nvPr>
            <p:ph type="body" sz="quarter" idx="4294967295"/>
          </p:nvPr>
        </p:nvSpPr>
        <p:spPr>
          <a:xfrm>
            <a:off x="726485" y="785813"/>
            <a:ext cx="9216072" cy="623667"/>
          </a:xfrm>
        </p:spPr>
        <p:txBody>
          <a:bodyPr vert="horz" lIns="91440" tIns="45720" rIns="91440" bIns="45720" rtlCol="0" anchor="t">
            <a:noAutofit/>
          </a:bodyPr>
          <a:lstStyle/>
          <a:p>
            <a:pPr marL="0" indent="0">
              <a:buNone/>
            </a:pPr>
            <a:r>
              <a:rPr lang="en-US" sz="3200" dirty="0">
                <a:latin typeface="Arial Black"/>
                <a:cs typeface="Arial"/>
              </a:rPr>
              <a:t>Class Timing</a:t>
            </a:r>
            <a:endParaRPr lang="en-US" sz="3200" dirty="0"/>
          </a:p>
        </p:txBody>
      </p:sp>
      <p:sp>
        <p:nvSpPr>
          <p:cNvPr id="3" name="Text Placeholder 2">
            <a:extLst>
              <a:ext uri="{FF2B5EF4-FFF2-40B4-BE49-F238E27FC236}">
                <a16:creationId xmlns:a16="http://schemas.microsoft.com/office/drawing/2014/main" id="{BC9AB12F-A713-4985-D70D-64F2F2966918}"/>
              </a:ext>
            </a:extLst>
          </p:cNvPr>
          <p:cNvSpPr>
            <a:spLocks noGrp="1"/>
          </p:cNvSpPr>
          <p:nvPr>
            <p:ph type="body" sz="quarter" idx="14"/>
          </p:nvPr>
        </p:nvSpPr>
        <p:spPr/>
        <p:txBody>
          <a:bodyPr vert="horz" lIns="91440" tIns="45720" rIns="91440" bIns="45720" rtlCol="0" anchor="t">
            <a:noAutofit/>
          </a:bodyPr>
          <a:lstStyle/>
          <a:p>
            <a:pPr marL="342900" indent="-342900">
              <a:lnSpc>
                <a:spcPct val="150000"/>
              </a:lnSpc>
              <a:buFont typeface="Arial" panose="020B0604020202020204" pitchFamily="34" charset="0"/>
              <a:buChar char="•"/>
            </a:pPr>
            <a:r>
              <a:rPr lang="en-US" sz="2000" dirty="0"/>
              <a:t>This is a FOUR Modular-Credit (MC) Module.</a:t>
            </a:r>
          </a:p>
          <a:p>
            <a:pPr marL="342900" indent="-342900">
              <a:lnSpc>
                <a:spcPct val="150000"/>
              </a:lnSpc>
              <a:buFont typeface="Arial" panose="020B0604020202020204" pitchFamily="34" charset="0"/>
              <a:buChar char="•"/>
            </a:pPr>
            <a:r>
              <a:rPr lang="en-US" sz="2000" dirty="0"/>
              <a:t>There</a:t>
            </a:r>
            <a:r>
              <a:rPr lang="en-US" dirty="0"/>
              <a:t> are</a:t>
            </a:r>
            <a:r>
              <a:rPr lang="en-US" sz="2000" dirty="0"/>
              <a:t> TWO 2-hour lessons every week. </a:t>
            </a:r>
          </a:p>
          <a:p>
            <a:pPr marL="1028700" lvl="1" indent="-342900">
              <a:lnSpc>
                <a:spcPct val="150000"/>
              </a:lnSpc>
            </a:pPr>
            <a:r>
              <a:rPr lang="en-US" sz="2000" dirty="0"/>
              <a:t>Monday &amp; Tuesday </a:t>
            </a:r>
          </a:p>
          <a:p>
            <a:pPr marL="1028700" lvl="1" indent="-342900">
              <a:lnSpc>
                <a:spcPct val="150000"/>
              </a:lnSpc>
            </a:pPr>
            <a:r>
              <a:rPr lang="en-US" sz="2000" dirty="0"/>
              <a:t>Wednesday &amp; Thursday</a:t>
            </a:r>
          </a:p>
          <a:p>
            <a:pPr marL="342900" indent="-342900">
              <a:lnSpc>
                <a:spcPct val="150000"/>
              </a:lnSpc>
              <a:buFont typeface="Arial" panose="020B0604020202020204" pitchFamily="34" charset="0"/>
              <a:buChar char="•"/>
            </a:pPr>
            <a:r>
              <a:rPr lang="en-US" sz="2000" dirty="0"/>
              <a:t>Same timing and location for both lesson days</a:t>
            </a:r>
          </a:p>
          <a:p>
            <a:pPr marL="342900" indent="-342900">
              <a:lnSpc>
                <a:spcPct val="150000"/>
              </a:lnSpc>
              <a:buFont typeface="Arial" panose="020B0604020202020204" pitchFamily="34" charset="0"/>
              <a:buChar char="•"/>
            </a:pPr>
            <a:r>
              <a:rPr lang="en-US" dirty="0"/>
              <a:t>Check your timetable</a:t>
            </a:r>
            <a:endParaRPr lang="en-US" sz="2000" dirty="0"/>
          </a:p>
        </p:txBody>
      </p:sp>
      <p:sp>
        <p:nvSpPr>
          <p:cNvPr id="4" name="Text Placeholder 3">
            <a:extLst>
              <a:ext uri="{FF2B5EF4-FFF2-40B4-BE49-F238E27FC236}">
                <a16:creationId xmlns:a16="http://schemas.microsoft.com/office/drawing/2014/main" id="{013DD6C7-E98B-C7AF-8E5C-E3031D0A448E}"/>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71372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A17931-E905-9A83-AC25-02F7D99AD15D}"/>
              </a:ext>
            </a:extLst>
          </p:cNvPr>
          <p:cNvSpPr>
            <a:spLocks noGrp="1"/>
          </p:cNvSpPr>
          <p:nvPr>
            <p:ph type="body" sz="quarter" idx="15"/>
          </p:nvPr>
        </p:nvSpPr>
        <p:spPr/>
        <p:txBody>
          <a:bodyPr/>
          <a:lstStyle/>
          <a:p>
            <a:endParaRPr lang="en-SG"/>
          </a:p>
        </p:txBody>
      </p:sp>
      <p:sp>
        <p:nvSpPr>
          <p:cNvPr id="4" name="Text Placeholder 3">
            <a:extLst>
              <a:ext uri="{FF2B5EF4-FFF2-40B4-BE49-F238E27FC236}">
                <a16:creationId xmlns:a16="http://schemas.microsoft.com/office/drawing/2014/main" id="{13C68755-A4E9-0B3F-C698-F11D53CF3EE9}"/>
              </a:ext>
            </a:extLst>
          </p:cNvPr>
          <p:cNvSpPr>
            <a:spLocks noGrp="1"/>
          </p:cNvSpPr>
          <p:nvPr>
            <p:ph type="body" sz="quarter" idx="16"/>
          </p:nvPr>
        </p:nvSpPr>
        <p:spPr/>
        <p:txBody>
          <a:bodyPr/>
          <a:lstStyle/>
          <a:p>
            <a:r>
              <a:rPr lang="en-US" dirty="0"/>
              <a:t>Lesson Mode</a:t>
            </a:r>
            <a:endParaRPr lang="en-SG" dirty="0"/>
          </a:p>
        </p:txBody>
      </p:sp>
      <p:graphicFrame>
        <p:nvGraphicFramePr>
          <p:cNvPr id="5" name="Table 4">
            <a:extLst>
              <a:ext uri="{FF2B5EF4-FFF2-40B4-BE49-F238E27FC236}">
                <a16:creationId xmlns:a16="http://schemas.microsoft.com/office/drawing/2014/main" id="{DD7BCB1E-30C6-E5A6-290E-1F863FA597C3}"/>
              </a:ext>
            </a:extLst>
          </p:cNvPr>
          <p:cNvGraphicFramePr>
            <a:graphicFrameLocks noGrp="1"/>
          </p:cNvGraphicFramePr>
          <p:nvPr>
            <p:extLst>
              <p:ext uri="{D42A27DB-BD31-4B8C-83A1-F6EECF244321}">
                <p14:modId xmlns:p14="http://schemas.microsoft.com/office/powerpoint/2010/main" val="3499828060"/>
              </p:ext>
            </p:extLst>
          </p:nvPr>
        </p:nvGraphicFramePr>
        <p:xfrm>
          <a:off x="728220" y="1376232"/>
          <a:ext cx="10806554" cy="5107091"/>
        </p:xfrm>
        <a:graphic>
          <a:graphicData uri="http://schemas.openxmlformats.org/drawingml/2006/table">
            <a:tbl>
              <a:tblPr>
                <a:tableStyleId>{E8B1032C-EA38-4F05-BA0D-38AFFFC7BED3}</a:tableStyleId>
              </a:tblPr>
              <a:tblGrid>
                <a:gridCol w="2100705">
                  <a:extLst>
                    <a:ext uri="{9D8B030D-6E8A-4147-A177-3AD203B41FA5}">
                      <a16:colId xmlns:a16="http://schemas.microsoft.com/office/drawing/2014/main" val="1330315072"/>
                    </a:ext>
                  </a:extLst>
                </a:gridCol>
                <a:gridCol w="971550">
                  <a:extLst>
                    <a:ext uri="{9D8B030D-6E8A-4147-A177-3AD203B41FA5}">
                      <a16:colId xmlns:a16="http://schemas.microsoft.com/office/drawing/2014/main" val="2009458376"/>
                    </a:ext>
                  </a:extLst>
                </a:gridCol>
                <a:gridCol w="990600">
                  <a:extLst>
                    <a:ext uri="{9D8B030D-6E8A-4147-A177-3AD203B41FA5}">
                      <a16:colId xmlns:a16="http://schemas.microsoft.com/office/drawing/2014/main" val="2476172803"/>
                    </a:ext>
                  </a:extLst>
                </a:gridCol>
                <a:gridCol w="1133475">
                  <a:extLst>
                    <a:ext uri="{9D8B030D-6E8A-4147-A177-3AD203B41FA5}">
                      <a16:colId xmlns:a16="http://schemas.microsoft.com/office/drawing/2014/main" val="3781578117"/>
                    </a:ext>
                  </a:extLst>
                </a:gridCol>
                <a:gridCol w="1085850">
                  <a:extLst>
                    <a:ext uri="{9D8B030D-6E8A-4147-A177-3AD203B41FA5}">
                      <a16:colId xmlns:a16="http://schemas.microsoft.com/office/drawing/2014/main" val="2421023607"/>
                    </a:ext>
                  </a:extLst>
                </a:gridCol>
                <a:gridCol w="4524374">
                  <a:extLst>
                    <a:ext uri="{9D8B030D-6E8A-4147-A177-3AD203B41FA5}">
                      <a16:colId xmlns:a16="http://schemas.microsoft.com/office/drawing/2014/main" val="289884619"/>
                    </a:ext>
                  </a:extLst>
                </a:gridCol>
              </a:tblGrid>
              <a:tr h="198248">
                <a:tc rowSpan="2">
                  <a:txBody>
                    <a:bodyPr/>
                    <a:lstStyle/>
                    <a:p>
                      <a:pPr algn="ctr" rtl="0" fontAlgn="ctr">
                        <a:buNone/>
                      </a:pPr>
                      <a:r>
                        <a:rPr lang="en-SG" sz="1200" b="1" u="none" strike="noStrike" dirty="0">
                          <a:effectLst/>
                        </a:rPr>
                        <a:t>Week</a:t>
                      </a:r>
                      <a:endParaRPr lang="en-SG" sz="1200" b="1" i="0" u="none" strike="noStrike" dirty="0">
                        <a:solidFill>
                          <a:srgbClr val="FFFFFF"/>
                        </a:solidFill>
                        <a:effectLst/>
                        <a:latin typeface="Aptos" panose="020B0004020202020204" pitchFamily="34" charset="0"/>
                      </a:endParaRPr>
                    </a:p>
                  </a:txBody>
                  <a:tcPr marL="0" marR="0" marT="0" marB="0" anchor="ctr"/>
                </a:tc>
                <a:tc gridSpan="4">
                  <a:txBody>
                    <a:bodyPr/>
                    <a:lstStyle/>
                    <a:p>
                      <a:pPr algn="ctr" rtl="0" fontAlgn="ctr">
                        <a:buNone/>
                      </a:pPr>
                      <a:r>
                        <a:rPr lang="en-SG" sz="1400" b="1" u="none" strike="noStrike" dirty="0">
                          <a:effectLst/>
                        </a:rPr>
                        <a:t>Lesson</a:t>
                      </a:r>
                      <a:endParaRPr lang="en-SG" sz="1400" b="1" i="0" u="none" strike="noStrike" dirty="0">
                        <a:solidFill>
                          <a:srgbClr val="FFFFFF"/>
                        </a:solidFill>
                        <a:effectLst/>
                        <a:latin typeface="Aptos" panose="020B0004020202020204" pitchFamily="34" charset="0"/>
                      </a:endParaRPr>
                    </a:p>
                  </a:txBody>
                  <a:tcPr marL="0" marR="0" marT="0" marB="0" anchor="ctr"/>
                </a:tc>
                <a:tc hMerge="1">
                  <a:txBody>
                    <a:bodyPr/>
                    <a:lstStyle/>
                    <a:p>
                      <a:endParaRPr lang="en-SG"/>
                    </a:p>
                  </a:txBody>
                  <a:tcPr/>
                </a:tc>
                <a:tc hMerge="1">
                  <a:txBody>
                    <a:bodyPr/>
                    <a:lstStyle/>
                    <a:p>
                      <a:endParaRPr lang="en-SG"/>
                    </a:p>
                  </a:txBody>
                  <a:tcPr/>
                </a:tc>
                <a:tc hMerge="1">
                  <a:txBody>
                    <a:bodyPr/>
                    <a:lstStyle/>
                    <a:p>
                      <a:endParaRPr lang="en-SG"/>
                    </a:p>
                  </a:txBody>
                  <a:tcPr/>
                </a:tc>
                <a:tc rowSpan="2">
                  <a:txBody>
                    <a:bodyPr/>
                    <a:lstStyle/>
                    <a:p>
                      <a:pPr algn="ctr" rtl="0" fontAlgn="ctr">
                        <a:buNone/>
                      </a:pPr>
                      <a:r>
                        <a:rPr lang="en-SG" sz="1200" b="1" u="none" strike="noStrike">
                          <a:effectLst/>
                        </a:rPr>
                        <a:t>Remarks</a:t>
                      </a:r>
                      <a:endParaRPr lang="en-SG" sz="1200" b="1" i="0" u="none" strike="noStrike">
                        <a:solidFill>
                          <a:srgbClr val="FFFFFF"/>
                        </a:solidFill>
                        <a:effectLst/>
                        <a:latin typeface="Aptos" panose="020B0004020202020204" pitchFamily="34" charset="0"/>
                      </a:endParaRPr>
                    </a:p>
                  </a:txBody>
                  <a:tcPr marL="0" marR="0" marT="0" marB="0" anchor="ctr"/>
                </a:tc>
                <a:extLst>
                  <a:ext uri="{0D108BD9-81ED-4DB2-BD59-A6C34878D82A}">
                    <a16:rowId xmlns:a16="http://schemas.microsoft.com/office/drawing/2014/main" val="2013959806"/>
                  </a:ext>
                </a:extLst>
              </a:tr>
              <a:tr h="181209">
                <a:tc vMerge="1">
                  <a:txBody>
                    <a:bodyPr/>
                    <a:lstStyle/>
                    <a:p>
                      <a:endParaRPr lang="en-SG"/>
                    </a:p>
                  </a:txBody>
                  <a:tcPr/>
                </a:tc>
                <a:tc>
                  <a:txBody>
                    <a:bodyPr/>
                    <a:lstStyle/>
                    <a:p>
                      <a:pPr algn="ctr" rtl="0" fontAlgn="ctr">
                        <a:buNone/>
                      </a:pPr>
                      <a:r>
                        <a:rPr lang="en-SG" sz="1200" b="1" u="none" strike="noStrike" dirty="0">
                          <a:effectLst/>
                        </a:rPr>
                        <a:t>No.</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Mode</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No.</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Mode</a:t>
                      </a:r>
                      <a:endParaRPr lang="en-SG" sz="1200" b="1" i="0" u="none" strike="noStrike" dirty="0">
                        <a:solidFill>
                          <a:srgbClr val="FFFFFF"/>
                        </a:solidFill>
                        <a:effectLst/>
                        <a:latin typeface="Aptos" panose="020B0004020202020204" pitchFamily="34" charset="0"/>
                      </a:endParaRPr>
                    </a:p>
                  </a:txBody>
                  <a:tcPr marL="0" marR="0" marT="0" marB="0" anchor="ctr"/>
                </a:tc>
                <a:tc vMerge="1">
                  <a:txBody>
                    <a:bodyPr/>
                    <a:lstStyle/>
                    <a:p>
                      <a:endParaRPr lang="en-SG"/>
                    </a:p>
                  </a:txBody>
                  <a:tcPr/>
                </a:tc>
                <a:extLst>
                  <a:ext uri="{0D108BD9-81ED-4DB2-BD59-A6C34878D82A}">
                    <a16:rowId xmlns:a16="http://schemas.microsoft.com/office/drawing/2014/main" val="1277680011"/>
                  </a:ext>
                </a:extLst>
              </a:tr>
              <a:tr h="571421">
                <a:tc>
                  <a:txBody>
                    <a:bodyPr/>
                    <a:lstStyle/>
                    <a:p>
                      <a:pPr algn="ctr" rtl="0" fontAlgn="ctr">
                        <a:buNone/>
                      </a:pPr>
                      <a:r>
                        <a:rPr lang="en-SG" sz="1200" u="none" strike="noStrike" dirty="0">
                          <a:effectLst/>
                        </a:rPr>
                        <a:t>1</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200" u="none" strike="noStrike" dirty="0">
                          <a:effectLst/>
                        </a:rPr>
                        <a:t>Learning Memo 1 Release</a:t>
                      </a: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3858927404"/>
                  </a:ext>
                </a:extLst>
              </a:tr>
              <a:tr h="263576">
                <a:tc>
                  <a:txBody>
                    <a:bodyPr/>
                    <a:lstStyle/>
                    <a:p>
                      <a:pPr algn="ctr" rtl="0" fontAlgn="ctr">
                        <a:buNone/>
                      </a:pPr>
                      <a:r>
                        <a:rPr lang="en-SG" sz="1200" u="none" strike="noStrike">
                          <a:effectLst/>
                        </a:rPr>
                        <a:t>2</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SG" sz="1200" u="none" strike="noStrike">
                          <a:effectLst/>
                        </a:rPr>
                        <a:t>FA* Release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437167518"/>
                  </a:ext>
                </a:extLst>
              </a:tr>
              <a:tr h="263576">
                <a:tc>
                  <a:txBody>
                    <a:bodyPr/>
                    <a:lstStyle/>
                    <a:p>
                      <a:pPr algn="ctr" rtl="0" fontAlgn="ctr">
                        <a:buNone/>
                      </a:pPr>
                      <a:r>
                        <a:rPr lang="en-SG" sz="1200" u="none" strike="noStrike">
                          <a:effectLst/>
                        </a:rPr>
                        <a:t>3</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5</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6</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231171198"/>
                  </a:ext>
                </a:extLst>
              </a:tr>
              <a:tr h="567533">
                <a:tc>
                  <a:txBody>
                    <a:bodyPr/>
                    <a:lstStyle/>
                    <a:p>
                      <a:pPr algn="ctr" rtl="0" fontAlgn="ctr">
                        <a:buNone/>
                      </a:pPr>
                      <a:r>
                        <a:rPr lang="en-SG" sz="1200" u="none" strike="noStrike" dirty="0">
                          <a:effectLst/>
                        </a:rPr>
                        <a:t>4</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7</a:t>
                      </a:r>
                      <a:endParaRPr lang="en-SG" sz="1200" b="0" i="0" u="none" strike="noStrike">
                        <a:solidFill>
                          <a:srgbClr val="4EA72E"/>
                        </a:solidFill>
                        <a:effectLst/>
                        <a:latin typeface="Aptos" panose="020B0004020202020204" pitchFamily="34" charset="0"/>
                      </a:endParaRPr>
                    </a:p>
                  </a:txBody>
                  <a:tcPr marL="0" marR="0" marT="0" marB="0" anchor="ctr"/>
                </a:tc>
                <a:tc>
                  <a:txBody>
                    <a:bodyPr/>
                    <a:lstStyle/>
                    <a:p>
                      <a:pPr algn="ctr" rtl="0" fontAlgn="ctr">
                        <a:buNone/>
                      </a:pPr>
                      <a:r>
                        <a:rPr lang="en-SG" sz="1200" b="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8</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FA Milestone 1 Submission</a:t>
                      </a: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573754265"/>
                  </a:ext>
                </a:extLst>
              </a:tr>
              <a:tr h="563646">
                <a:tc>
                  <a:txBody>
                    <a:bodyPr/>
                    <a:lstStyle/>
                    <a:p>
                      <a:pPr algn="ctr" rtl="0" fontAlgn="ctr">
                        <a:buNone/>
                      </a:pPr>
                      <a:r>
                        <a:rPr lang="en-SG" sz="1200" u="none" strike="noStrike">
                          <a:effectLst/>
                        </a:rPr>
                        <a:t>5</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9</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10</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Singapore Fintech Fest Week</a:t>
                      </a:r>
                      <a:br>
                        <a:rPr lang="en-SG" sz="1200" u="none" strike="noStrike" dirty="0">
                          <a:effectLst/>
                        </a:rPr>
                      </a:br>
                      <a:r>
                        <a:rPr lang="en-SG" sz="1200" b="1" u="none" strike="noStrike" dirty="0">
                          <a:effectLst/>
                        </a:rPr>
                        <a:t>CA1 SA3 Submission Week</a:t>
                      </a:r>
                      <a:endParaRPr lang="en-SG" sz="1200" b="1"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1888145280"/>
                  </a:ext>
                </a:extLst>
              </a:tr>
              <a:tr h="217351">
                <a:tc>
                  <a:txBody>
                    <a:bodyPr/>
                    <a:lstStyle/>
                    <a:p>
                      <a:pPr algn="ctr" rtl="0" fontAlgn="ctr">
                        <a:buNone/>
                      </a:pPr>
                      <a:r>
                        <a:rPr lang="en-SG" sz="1200" u="none" strike="noStrike">
                          <a:effectLst/>
                        </a:rPr>
                        <a:t>6</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536892447"/>
                  </a:ext>
                </a:extLst>
              </a:tr>
              <a:tr h="285367">
                <a:tc>
                  <a:txBody>
                    <a:bodyPr/>
                    <a:lstStyle/>
                    <a:p>
                      <a:pPr algn="ctr" rtl="0" fontAlgn="ctr">
                        <a:buNone/>
                      </a:pPr>
                      <a:r>
                        <a:rPr lang="en-SG" sz="1200" u="none" strike="noStrike" dirty="0">
                          <a:effectLst/>
                        </a:rPr>
                        <a:t>7</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FA Milestone 2 Submission</a:t>
                      </a: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2099113388"/>
                  </a:ext>
                </a:extLst>
              </a:tr>
              <a:tr h="874624">
                <a:tc>
                  <a:txBody>
                    <a:bodyPr/>
                    <a:lstStyle/>
                    <a:p>
                      <a:pPr algn="ctr" rtl="0" fontAlgn="ctr">
                        <a:buNone/>
                      </a:pPr>
                      <a:r>
                        <a:rPr lang="en-SG" sz="1200" u="none" strike="noStrike">
                          <a:effectLst/>
                        </a:rPr>
                        <a:t>8</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15</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16</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OH2027 (7 – 9 Jan)</a:t>
                      </a:r>
                      <a:br>
                        <a:rPr lang="en-SG" sz="1200" u="none" strike="noStrike" dirty="0">
                          <a:effectLst/>
                        </a:rPr>
                      </a:br>
                      <a:r>
                        <a:rPr lang="en-SG" sz="1200" u="none" strike="noStrike" dirty="0">
                          <a:effectLst/>
                        </a:rPr>
                        <a:t>Learning Memo 2 Release</a:t>
                      </a: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219961558"/>
                  </a:ext>
                </a:extLst>
              </a:tr>
              <a:tr h="182699">
                <a:tc>
                  <a:txBody>
                    <a:bodyPr/>
                    <a:lstStyle/>
                    <a:p>
                      <a:pPr algn="ctr" rtl="0" fontAlgn="ctr">
                        <a:buNone/>
                      </a:pPr>
                      <a:r>
                        <a:rPr lang="en-SG" sz="1200" u="none" strike="noStrike">
                          <a:effectLst/>
                        </a:rPr>
                        <a:t>9</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17</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18</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CA2 SA3 Submission Week</a:t>
                      </a:r>
                      <a:endParaRPr lang="en-SG" sz="1200" b="1"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283959026"/>
                  </a:ext>
                </a:extLst>
              </a:tr>
              <a:tr h="291541">
                <a:tc>
                  <a:txBody>
                    <a:bodyPr/>
                    <a:lstStyle/>
                    <a:p>
                      <a:pPr algn="ctr" rtl="0" fontAlgn="ctr">
                        <a:buNone/>
                      </a:pPr>
                      <a:r>
                        <a:rPr lang="en-SG" sz="1200" u="none" strike="noStrike">
                          <a:effectLst/>
                        </a:rPr>
                        <a:t>10</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19</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20</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079603353"/>
                  </a:ext>
                </a:extLst>
              </a:tr>
              <a:tr h="172972">
                <a:tc>
                  <a:txBody>
                    <a:bodyPr/>
                    <a:lstStyle/>
                    <a:p>
                      <a:pPr algn="ctr" rtl="0" fontAlgn="ctr">
                        <a:buNone/>
                      </a:pPr>
                      <a:r>
                        <a:rPr lang="en-SG" sz="1200" u="none" strike="noStrike">
                          <a:effectLst/>
                        </a:rPr>
                        <a:t>11</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FA Final SA3 Submission Week</a:t>
                      </a:r>
                      <a:endParaRPr lang="en-SG" sz="1200" b="1"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3481882088"/>
                  </a:ext>
                </a:extLst>
              </a:tr>
              <a:tr h="172972">
                <a:tc>
                  <a:txBody>
                    <a:bodyPr/>
                    <a:lstStyle/>
                    <a:p>
                      <a:pPr algn="ctr" rtl="0" fontAlgn="ctr">
                        <a:buNone/>
                      </a:pPr>
                      <a:r>
                        <a:rPr lang="en-SG" sz="1200" u="none" strike="noStrike">
                          <a:effectLst/>
                        </a:rPr>
                        <a:t>12</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FA Presentation Week</a:t>
                      </a:r>
                      <a:endParaRPr lang="en-SG" sz="1200" b="0"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176795374"/>
                  </a:ext>
                </a:extLst>
              </a:tr>
              <a:tr h="263576">
                <a:tc>
                  <a:txBody>
                    <a:bodyPr/>
                    <a:lstStyle/>
                    <a:p>
                      <a:pPr algn="ctr" rtl="0" fontAlgn="ctr">
                        <a:buNone/>
                      </a:pPr>
                      <a:r>
                        <a:rPr lang="en-SG" sz="1200" u="none" strike="noStrike">
                          <a:effectLst/>
                        </a:rPr>
                        <a:t>13</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25</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26</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368112218"/>
                  </a:ext>
                </a:extLst>
              </a:tr>
            </a:tbl>
          </a:graphicData>
        </a:graphic>
      </p:graphicFrame>
      <p:sp>
        <p:nvSpPr>
          <p:cNvPr id="7" name="TextBox 6">
            <a:extLst>
              <a:ext uri="{FF2B5EF4-FFF2-40B4-BE49-F238E27FC236}">
                <a16:creationId xmlns:a16="http://schemas.microsoft.com/office/drawing/2014/main" id="{23901674-3A3F-502A-04CC-E08F20BDB53F}"/>
              </a:ext>
            </a:extLst>
          </p:cNvPr>
          <p:cNvSpPr txBox="1"/>
          <p:nvPr/>
        </p:nvSpPr>
        <p:spPr>
          <a:xfrm>
            <a:off x="4122174" y="797564"/>
            <a:ext cx="5189045" cy="600164"/>
          </a:xfrm>
          <a:prstGeom prst="rect">
            <a:avLst/>
          </a:prstGeom>
          <a:noFill/>
        </p:spPr>
        <p:txBody>
          <a:bodyPr wrap="square" rtlCol="0">
            <a:spAutoFit/>
          </a:bodyPr>
          <a:lstStyle/>
          <a:p>
            <a:r>
              <a:rPr lang="en-SG" sz="1100" dirty="0">
                <a:solidFill>
                  <a:srgbClr val="FF0000"/>
                </a:solidFill>
              </a:rPr>
              <a:t>*FA is in the form of a graded assignment(GA)</a:t>
            </a:r>
          </a:p>
          <a:p>
            <a:r>
              <a:rPr lang="en-US" sz="1100" dirty="0">
                <a:solidFill>
                  <a:srgbClr val="FF0000"/>
                </a:solidFill>
              </a:rPr>
              <a:t>**Accurate as of 5 Oct 2026, some adjustments may be made</a:t>
            </a:r>
          </a:p>
          <a:p>
            <a:endParaRPr lang="en-SG" sz="1100" dirty="0">
              <a:solidFill>
                <a:srgbClr val="FF0000"/>
              </a:solidFill>
            </a:endParaRPr>
          </a:p>
        </p:txBody>
      </p:sp>
    </p:spTree>
    <p:extLst>
      <p:ext uri="{BB962C8B-B14F-4D97-AF65-F5344CB8AC3E}">
        <p14:creationId xmlns:p14="http://schemas.microsoft.com/office/powerpoint/2010/main" val="3884308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43274-5A91-DC69-F37A-B24A62A122D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DF6090-4B8A-7AA8-181C-9373B6021ED3}"/>
              </a:ext>
            </a:extLst>
          </p:cNvPr>
          <p:cNvSpPr>
            <a:spLocks noGrp="1"/>
          </p:cNvSpPr>
          <p:nvPr>
            <p:ph type="body" sz="quarter" idx="4294967295"/>
          </p:nvPr>
        </p:nvSpPr>
        <p:spPr>
          <a:xfrm>
            <a:off x="457200" y="722481"/>
            <a:ext cx="9216072" cy="623667"/>
          </a:xfrm>
        </p:spPr>
        <p:txBody>
          <a:bodyPr vert="horz" lIns="91440" tIns="45720" rIns="91440" bIns="45720" rtlCol="0" anchor="t">
            <a:noAutofit/>
          </a:bodyPr>
          <a:lstStyle/>
          <a:p>
            <a:pPr marL="0" indent="0">
              <a:buNone/>
            </a:pPr>
            <a:r>
              <a:rPr lang="en-US" sz="3200" dirty="0">
                <a:latin typeface="Arial Black"/>
                <a:cs typeface="Arial"/>
              </a:rPr>
              <a:t>Attendance Policy</a:t>
            </a:r>
            <a:endParaRPr lang="en-US" sz="3200" dirty="0"/>
          </a:p>
        </p:txBody>
      </p:sp>
      <p:sp>
        <p:nvSpPr>
          <p:cNvPr id="4" name="Text Placeholder 3">
            <a:extLst>
              <a:ext uri="{FF2B5EF4-FFF2-40B4-BE49-F238E27FC236}">
                <a16:creationId xmlns:a16="http://schemas.microsoft.com/office/drawing/2014/main" id="{61794A7C-1476-D710-35C3-45BF6F8A1C91}"/>
              </a:ext>
            </a:extLst>
          </p:cNvPr>
          <p:cNvSpPr>
            <a:spLocks noGrp="1"/>
          </p:cNvSpPr>
          <p:nvPr>
            <p:ph type="body" sz="quarter" idx="15"/>
          </p:nvPr>
        </p:nvSpPr>
        <p:spPr/>
        <p:txBody>
          <a:bodyPr/>
          <a:lstStyle/>
          <a:p>
            <a:endParaRPr lang="en-US"/>
          </a:p>
        </p:txBody>
      </p:sp>
      <p:sp>
        <p:nvSpPr>
          <p:cNvPr id="8" name="TextBox 7">
            <a:extLst>
              <a:ext uri="{FF2B5EF4-FFF2-40B4-BE49-F238E27FC236}">
                <a16:creationId xmlns:a16="http://schemas.microsoft.com/office/drawing/2014/main" id="{6CDD4D03-D63F-3BB6-F223-912BC66D412B}"/>
              </a:ext>
            </a:extLst>
          </p:cNvPr>
          <p:cNvSpPr txBox="1"/>
          <p:nvPr/>
        </p:nvSpPr>
        <p:spPr>
          <a:xfrm>
            <a:off x="3052763" y="3268146"/>
            <a:ext cx="6105524" cy="369332"/>
          </a:xfrm>
          <a:prstGeom prst="rect">
            <a:avLst/>
          </a:prstGeom>
          <a:noFill/>
        </p:spPr>
        <p:txBody>
          <a:bodyPr wrap="square">
            <a:spAutoFit/>
          </a:bodyPr>
          <a:lstStyle/>
          <a:p>
            <a:r>
              <a:rPr lang="en-SG" sz="1800" dirty="0">
                <a:effectLst/>
                <a:latin typeface="Arial" panose="020B0604020202020204" pitchFamily="34" charset="0"/>
                <a:cs typeface="Arial" panose="020B0604020202020204" pitchFamily="34" charset="0"/>
              </a:rPr>
              <a:t>Par</a:t>
            </a:r>
            <a:endParaRPr lang="en-SG" dirty="0"/>
          </a:p>
        </p:txBody>
      </p:sp>
      <p:graphicFrame>
        <p:nvGraphicFramePr>
          <p:cNvPr id="9" name="Table 8">
            <a:extLst>
              <a:ext uri="{FF2B5EF4-FFF2-40B4-BE49-F238E27FC236}">
                <a16:creationId xmlns:a16="http://schemas.microsoft.com/office/drawing/2014/main" id="{8D0C7BDB-A07C-CD2C-6BFD-6BCE24797190}"/>
              </a:ext>
            </a:extLst>
          </p:cNvPr>
          <p:cNvGraphicFramePr>
            <a:graphicFrameLocks noGrp="1"/>
          </p:cNvGraphicFramePr>
          <p:nvPr>
            <p:extLst>
              <p:ext uri="{D42A27DB-BD31-4B8C-83A1-F6EECF244321}">
                <p14:modId xmlns:p14="http://schemas.microsoft.com/office/powerpoint/2010/main" val="2675545163"/>
              </p:ext>
            </p:extLst>
          </p:nvPr>
        </p:nvGraphicFramePr>
        <p:xfrm>
          <a:off x="457200" y="1249733"/>
          <a:ext cx="11190514" cy="2814320"/>
        </p:xfrm>
        <a:graphic>
          <a:graphicData uri="http://schemas.openxmlformats.org/drawingml/2006/table">
            <a:tbl>
              <a:tblPr firstRow="1" firstCol="1" bandRow="1">
                <a:tableStyleId>{2A488322-F2BA-4B5B-9748-0D474271808F}</a:tableStyleId>
              </a:tblPr>
              <a:tblGrid>
                <a:gridCol w="1537391">
                  <a:extLst>
                    <a:ext uri="{9D8B030D-6E8A-4147-A177-3AD203B41FA5}">
                      <a16:colId xmlns:a16="http://schemas.microsoft.com/office/drawing/2014/main" val="2005525337"/>
                    </a:ext>
                  </a:extLst>
                </a:gridCol>
                <a:gridCol w="5134014">
                  <a:extLst>
                    <a:ext uri="{9D8B030D-6E8A-4147-A177-3AD203B41FA5}">
                      <a16:colId xmlns:a16="http://schemas.microsoft.com/office/drawing/2014/main" val="3067635003"/>
                    </a:ext>
                  </a:extLst>
                </a:gridCol>
                <a:gridCol w="4519109">
                  <a:extLst>
                    <a:ext uri="{9D8B030D-6E8A-4147-A177-3AD203B41FA5}">
                      <a16:colId xmlns:a16="http://schemas.microsoft.com/office/drawing/2014/main" val="1663479502"/>
                    </a:ext>
                  </a:extLst>
                </a:gridCol>
              </a:tblGrid>
              <a:tr h="345974">
                <a:tc>
                  <a:txBody>
                    <a:bodyPr/>
                    <a:lstStyle/>
                    <a:p>
                      <a:r>
                        <a:rPr lang="en-SG" sz="1400" dirty="0">
                          <a:effectLst/>
                          <a:latin typeface="Arial" panose="020B0604020202020204" pitchFamily="34" charset="0"/>
                          <a:cs typeface="Arial" panose="020B0604020202020204" pitchFamily="34" charset="0"/>
                        </a:rPr>
                        <a:t>Attendance Statuses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200"/>
                        </a:spcBef>
                        <a:spcAft>
                          <a:spcPts val="200"/>
                        </a:spcAft>
                        <a:buClrTx/>
                        <a:buSzTx/>
                        <a:buFontTx/>
                        <a:buNone/>
                        <a:tabLst/>
                        <a:defRPr/>
                      </a:pPr>
                      <a:r>
                        <a:rPr lang="en-US" sz="1400" kern="1200" dirty="0">
                          <a:effectLst/>
                          <a:latin typeface="Arial" panose="020B0604020202020204" pitchFamily="34" charset="0"/>
                          <a:cs typeface="Arial" panose="020B0604020202020204" pitchFamily="34" charset="0"/>
                        </a:rPr>
                        <a:t>Face-to-face</a:t>
                      </a:r>
                      <a:br>
                        <a:rPr lang="en-US" sz="1400" kern="1200" dirty="0">
                          <a:effectLst/>
                          <a:latin typeface="Arial" panose="020B0604020202020204" pitchFamily="34" charset="0"/>
                          <a:cs typeface="Arial" panose="020B0604020202020204" pitchFamily="34" charset="0"/>
                        </a:rPr>
                      </a:br>
                      <a:endParaRPr lang="en-SG" sz="1200" b="0" dirty="0">
                        <a:effectLst/>
                        <a:latin typeface="Arial" panose="020B0604020202020204" pitchFamily="34" charset="0"/>
                        <a:ea typeface="SimSun" panose="02010600030101010101" pitchFamily="2" charset="-122"/>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Asynchronous e-learning Lessons</a:t>
                      </a:r>
                      <a:endParaRPr lang="en-SG" sz="1400" dirty="0">
                        <a:effectLst/>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9661417"/>
                  </a:ext>
                </a:extLst>
              </a:tr>
              <a:tr h="504724">
                <a:tc>
                  <a:txBody>
                    <a:bodyPr/>
                    <a:lstStyle/>
                    <a:p>
                      <a:pPr algn="ctr">
                        <a:spcBef>
                          <a:spcPts val="200"/>
                        </a:spcBef>
                        <a:spcAft>
                          <a:spcPts val="200"/>
                        </a:spcAft>
                      </a:pPr>
                      <a:r>
                        <a:rPr lang="en-US" sz="1400" kern="1200" dirty="0">
                          <a:effectLst/>
                          <a:latin typeface="Arial" panose="020B0604020202020204" pitchFamily="34" charset="0"/>
                          <a:cs typeface="Arial" panose="020B0604020202020204" pitchFamily="34" charset="0"/>
                        </a:rPr>
                        <a:t>Present</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Students who </a:t>
                      </a:r>
                      <a:r>
                        <a:rPr lang="en-US" sz="1400" b="1" kern="1200" dirty="0">
                          <a:effectLst/>
                          <a:latin typeface="Arial" panose="020B0604020202020204" pitchFamily="34" charset="0"/>
                          <a:cs typeface="Arial" panose="020B0604020202020204" pitchFamily="34" charset="0"/>
                        </a:rPr>
                        <a:t>arrived before </a:t>
                      </a:r>
                      <a:r>
                        <a:rPr lang="en-US" sz="1400" kern="1200" dirty="0">
                          <a:effectLst/>
                          <a:latin typeface="Arial" panose="020B0604020202020204" pitchFamily="34" charset="0"/>
                          <a:cs typeface="Arial" panose="020B0604020202020204" pitchFamily="34" charset="0"/>
                        </a:rPr>
                        <a:t>end of grace period (</a:t>
                      </a:r>
                      <a:r>
                        <a:rPr lang="en-US" sz="1400" kern="1200" dirty="0">
                          <a:effectLst/>
                          <a:highlight>
                            <a:srgbClr val="FFFF00"/>
                          </a:highlight>
                          <a:latin typeface="Arial" panose="020B0604020202020204" pitchFamily="34" charset="0"/>
                          <a:cs typeface="Arial" panose="020B0604020202020204" pitchFamily="34" charset="0"/>
                        </a:rPr>
                        <a:t>10</a:t>
                      </a:r>
                      <a:r>
                        <a:rPr lang="en-US" sz="1400" kern="1200" dirty="0">
                          <a:effectLst/>
                          <a:latin typeface="Arial" panose="020B0604020202020204" pitchFamily="34" charset="0"/>
                          <a:cs typeface="Arial" panose="020B0604020202020204" pitchFamily="34" charset="0"/>
                        </a:rPr>
                        <a:t> mins) and stayed till end of lesson</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Students who </a:t>
                      </a:r>
                      <a:r>
                        <a:rPr lang="en-US" sz="1400" b="1" kern="1200" dirty="0">
                          <a:effectLst/>
                          <a:latin typeface="Arial" panose="020B0604020202020204" pitchFamily="34" charset="0"/>
                          <a:cs typeface="Arial" panose="020B0604020202020204" pitchFamily="34" charset="0"/>
                        </a:rPr>
                        <a:t>completed</a:t>
                      </a:r>
                      <a:r>
                        <a:rPr lang="en-US" sz="1400" kern="1200" dirty="0">
                          <a:effectLst/>
                          <a:latin typeface="Arial" panose="020B0604020202020204" pitchFamily="34" charset="0"/>
                          <a:cs typeface="Arial" panose="020B0604020202020204" pitchFamily="34" charset="0"/>
                        </a:rPr>
                        <a:t> learning materials within deadline</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277536"/>
                  </a:ext>
                </a:extLst>
              </a:tr>
              <a:tr h="902169">
                <a:tc>
                  <a:txBody>
                    <a:bodyPr/>
                    <a:lstStyle/>
                    <a:p>
                      <a:pPr algn="ctr">
                        <a:spcBef>
                          <a:spcPts val="200"/>
                        </a:spcBef>
                        <a:spcAft>
                          <a:spcPts val="200"/>
                        </a:spcAft>
                      </a:pPr>
                      <a:r>
                        <a:rPr lang="en-SG" sz="1400" dirty="0">
                          <a:effectLst/>
                          <a:latin typeface="Arial" panose="020B0604020202020204" pitchFamily="34" charset="0"/>
                          <a:cs typeface="Arial" panose="020B0604020202020204" pitchFamily="34" charset="0"/>
                        </a:rPr>
                        <a:t>Partial</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Students who:</a:t>
                      </a:r>
                      <a:endParaRPr lang="en-SG" sz="1400" dirty="0">
                        <a:effectLst/>
                        <a:latin typeface="Arial" panose="020B0604020202020204" pitchFamily="34" charset="0"/>
                        <a:cs typeface="Arial" panose="020B0604020202020204" pitchFamily="34" charset="0"/>
                      </a:endParaRPr>
                    </a:p>
                    <a:p>
                      <a:pPr marL="342900" lvl="0" indent="-342900">
                        <a:spcBef>
                          <a:spcPts val="200"/>
                        </a:spcBef>
                        <a:spcAft>
                          <a:spcPts val="200"/>
                        </a:spcAft>
                        <a:buFont typeface="Arial" panose="020B0604020202020204" pitchFamily="34" charset="0"/>
                        <a:buChar char="•"/>
                        <a:tabLst>
                          <a:tab pos="212725" algn="l"/>
                        </a:tabLst>
                      </a:pPr>
                      <a:r>
                        <a:rPr lang="en-US" sz="1400" b="1" kern="1200" dirty="0">
                          <a:effectLst/>
                          <a:latin typeface="Arial" panose="020B0604020202020204" pitchFamily="34" charset="0"/>
                          <a:cs typeface="Arial" panose="020B0604020202020204" pitchFamily="34" charset="0"/>
                        </a:rPr>
                        <a:t>Arrived after </a:t>
                      </a:r>
                      <a:r>
                        <a:rPr lang="en-US" sz="1400" kern="1200" dirty="0">
                          <a:effectLst/>
                          <a:latin typeface="Arial" panose="020B0604020202020204" pitchFamily="34" charset="0"/>
                          <a:cs typeface="Arial" panose="020B0604020202020204" pitchFamily="34" charset="0"/>
                        </a:rPr>
                        <a:t>grace period </a:t>
                      </a:r>
                      <a:br>
                        <a:rPr lang="en-US" sz="1400" kern="1200" dirty="0">
                          <a:effectLst/>
                          <a:latin typeface="Arial" panose="020B0604020202020204" pitchFamily="34" charset="0"/>
                          <a:cs typeface="Arial" panose="020B0604020202020204" pitchFamily="34" charset="0"/>
                        </a:rPr>
                      </a:br>
                      <a:r>
                        <a:rPr lang="en-US" sz="1400" kern="1200" dirty="0">
                          <a:effectLst/>
                          <a:latin typeface="Arial" panose="020B0604020202020204" pitchFamily="34" charset="0"/>
                          <a:cs typeface="Arial" panose="020B0604020202020204" pitchFamily="34" charset="0"/>
                        </a:rPr>
                        <a:t>(</a:t>
                      </a:r>
                      <a:r>
                        <a:rPr lang="en-US" sz="1400" kern="1200" dirty="0">
                          <a:effectLst/>
                          <a:highlight>
                            <a:srgbClr val="FFFF00"/>
                          </a:highlight>
                          <a:latin typeface="Arial" panose="020B0604020202020204" pitchFamily="34" charset="0"/>
                          <a:cs typeface="Arial" panose="020B0604020202020204" pitchFamily="34" charset="0"/>
                        </a:rPr>
                        <a:t>10</a:t>
                      </a:r>
                      <a:r>
                        <a:rPr lang="en-US" sz="1400" kern="1200" dirty="0">
                          <a:effectLst/>
                          <a:latin typeface="Arial" panose="020B0604020202020204" pitchFamily="34" charset="0"/>
                          <a:cs typeface="Arial" panose="020B0604020202020204" pitchFamily="34" charset="0"/>
                        </a:rPr>
                        <a:t> mins) and/or</a:t>
                      </a:r>
                      <a:endParaRPr lang="en-SG" sz="1400" dirty="0">
                        <a:effectLst/>
                        <a:latin typeface="Arial" panose="020B0604020202020204" pitchFamily="34" charset="0"/>
                        <a:cs typeface="Arial" panose="020B0604020202020204" pitchFamily="34" charset="0"/>
                      </a:endParaRPr>
                    </a:p>
                    <a:p>
                      <a:pPr marL="342900" lvl="0" indent="-342900">
                        <a:spcBef>
                          <a:spcPts val="200"/>
                        </a:spcBef>
                        <a:spcAft>
                          <a:spcPts val="200"/>
                        </a:spcAft>
                        <a:buFont typeface="Arial" panose="020B0604020202020204" pitchFamily="34" charset="0"/>
                        <a:buChar char="•"/>
                        <a:tabLst>
                          <a:tab pos="212725" algn="l"/>
                        </a:tabLst>
                      </a:pPr>
                      <a:r>
                        <a:rPr lang="en-US" sz="1400" b="1" dirty="0">
                          <a:effectLst/>
                          <a:latin typeface="Arial" panose="020B0604020202020204" pitchFamily="34" charset="0"/>
                          <a:cs typeface="Arial" panose="020B0604020202020204" pitchFamily="34" charset="0"/>
                        </a:rPr>
                        <a:t>Missed more than </a:t>
                      </a:r>
                      <a:r>
                        <a:rPr lang="en-US" sz="1400" b="1" dirty="0">
                          <a:effectLst/>
                          <a:highlight>
                            <a:srgbClr val="FFFF00"/>
                          </a:highlight>
                          <a:latin typeface="Arial" panose="020B0604020202020204" pitchFamily="34" charset="0"/>
                          <a:cs typeface="Arial" panose="020B0604020202020204" pitchFamily="34" charset="0"/>
                        </a:rPr>
                        <a:t>10</a:t>
                      </a:r>
                      <a:r>
                        <a:rPr lang="en-US" sz="1400" b="1" dirty="0">
                          <a:effectLst/>
                          <a:latin typeface="Arial" panose="020B0604020202020204" pitchFamily="34" charset="0"/>
                          <a:cs typeface="Arial" panose="020B0604020202020204" pitchFamily="34" charset="0"/>
                        </a:rPr>
                        <a:t> minutes of the lesson</a:t>
                      </a:r>
                      <a:r>
                        <a:rPr lang="en-US" sz="1400" dirty="0">
                          <a:effectLst/>
                          <a:latin typeface="Arial" panose="020B0604020202020204" pitchFamily="34" charset="0"/>
                          <a:cs typeface="Arial" panose="020B0604020202020204" pitchFamily="34" charset="0"/>
                        </a:rPr>
                        <a:t>, without lecturer’s permission</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N.A.</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084956"/>
                  </a:ext>
                </a:extLst>
              </a:tr>
              <a:tr h="424276">
                <a:tc>
                  <a:txBody>
                    <a:bodyPr/>
                    <a:lstStyle/>
                    <a:p>
                      <a:pPr algn="ctr">
                        <a:spcBef>
                          <a:spcPts val="200"/>
                        </a:spcBef>
                        <a:spcAft>
                          <a:spcPts val="200"/>
                        </a:spcAft>
                      </a:pPr>
                      <a:r>
                        <a:rPr lang="en-US" sz="1400" kern="1200" dirty="0">
                          <a:effectLst/>
                          <a:latin typeface="Arial" panose="020B0604020202020204" pitchFamily="34" charset="0"/>
                          <a:cs typeface="Arial" panose="020B0604020202020204" pitchFamily="34" charset="0"/>
                        </a:rPr>
                        <a:t>Absent</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b="1" kern="1200" dirty="0">
                          <a:effectLst/>
                          <a:latin typeface="Arial" panose="020B0604020202020204" pitchFamily="34" charset="0"/>
                          <a:cs typeface="Arial" panose="020B0604020202020204" pitchFamily="34" charset="0"/>
                        </a:rPr>
                        <a:t>Not present </a:t>
                      </a:r>
                      <a:r>
                        <a:rPr lang="en-US" sz="1400" kern="1200" dirty="0">
                          <a:effectLst/>
                          <a:latin typeface="Arial" panose="020B0604020202020204" pitchFamily="34" charset="0"/>
                          <a:cs typeface="Arial" panose="020B0604020202020204" pitchFamily="34" charset="0"/>
                        </a:rPr>
                        <a:t>at all</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Bef>
                          <a:spcPts val="200"/>
                        </a:spcBef>
                        <a:spcAft>
                          <a:spcPts val="200"/>
                        </a:spcAft>
                      </a:pPr>
                      <a:r>
                        <a:rPr lang="en-US" sz="1400" kern="1200" dirty="0">
                          <a:effectLst/>
                          <a:latin typeface="Arial" panose="020B0604020202020204" pitchFamily="34" charset="0"/>
                          <a:cs typeface="Arial" panose="020B0604020202020204" pitchFamily="34" charset="0"/>
                        </a:rPr>
                        <a:t>Students who </a:t>
                      </a:r>
                      <a:r>
                        <a:rPr lang="en-US" sz="1400" b="1" kern="1200" dirty="0">
                          <a:effectLst/>
                          <a:latin typeface="Arial" panose="020B0604020202020204" pitchFamily="34" charset="0"/>
                          <a:cs typeface="Arial" panose="020B0604020202020204" pitchFamily="34" charset="0"/>
                        </a:rPr>
                        <a:t>did not complete </a:t>
                      </a:r>
                      <a:r>
                        <a:rPr lang="en-US" sz="1400" kern="1200" dirty="0">
                          <a:effectLst/>
                          <a:latin typeface="Arial" panose="020B0604020202020204" pitchFamily="34" charset="0"/>
                          <a:cs typeface="Arial" panose="020B0604020202020204" pitchFamily="34" charset="0"/>
                        </a:rPr>
                        <a:t>learning materials within deadline</a:t>
                      </a:r>
                      <a:endParaRPr lang="en-SG" sz="1400" dirty="0">
                        <a:effectLst/>
                        <a:latin typeface="Arial" panose="020B0604020202020204" pitchFamily="34" charset="0"/>
                        <a:ea typeface="SimSun" panose="02010600030101010101"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1768842"/>
                  </a:ext>
                </a:extLst>
              </a:tr>
            </a:tbl>
          </a:graphicData>
        </a:graphic>
      </p:graphicFrame>
      <p:sp>
        <p:nvSpPr>
          <p:cNvPr id="10" name="TextBox 9">
            <a:extLst>
              <a:ext uri="{FF2B5EF4-FFF2-40B4-BE49-F238E27FC236}">
                <a16:creationId xmlns:a16="http://schemas.microsoft.com/office/drawing/2014/main" id="{E6A2A59C-332B-F109-55D6-F16BF95FEE76}"/>
              </a:ext>
            </a:extLst>
          </p:cNvPr>
          <p:cNvSpPr txBox="1"/>
          <p:nvPr/>
        </p:nvSpPr>
        <p:spPr>
          <a:xfrm>
            <a:off x="726485" y="6173184"/>
            <a:ext cx="11257189" cy="892552"/>
          </a:xfrm>
          <a:prstGeom prst="rect">
            <a:avLst/>
          </a:prstGeom>
          <a:noFill/>
        </p:spPr>
        <p:txBody>
          <a:bodyPr wrap="square">
            <a:spAutoFit/>
          </a:bodyPr>
          <a:lstStyle/>
          <a:p>
            <a:r>
              <a:rPr lang="en-SG" sz="1700" dirty="0">
                <a:latin typeface="Arial" panose="020B0604020202020204" pitchFamily="34" charset="0"/>
                <a:cs typeface="Arial" panose="020B0604020202020204" pitchFamily="34" charset="0"/>
              </a:rPr>
              <a:t>Refer to the relevant section in the student handbook here: </a:t>
            </a:r>
            <a:r>
              <a:rPr lang="en-US" sz="1700" dirty="0">
                <a:latin typeface="Arial" panose="020B0604020202020204" pitchFamily="34" charset="0"/>
                <a:cs typeface="Arial" panose="020B0604020202020204" pitchFamily="34" charset="0"/>
                <a:hlinkClick r:id="rId3"/>
              </a:rPr>
              <a:t>Student Handbook - Absenteeism (sharepoint.com)</a:t>
            </a:r>
            <a:endParaRPr lang="en-SG" sz="1700" kern="100" dirty="0">
              <a:effectLst/>
              <a:latin typeface="Arial" panose="020B0604020202020204" pitchFamily="34" charset="0"/>
              <a:ea typeface="DengXian" panose="02010600030101010101" pitchFamily="2" charset="-122"/>
              <a:cs typeface="Arial" panose="020B0604020202020204" pitchFamily="34" charset="0"/>
            </a:endParaRPr>
          </a:p>
          <a:p>
            <a:pPr lvl="1"/>
            <a:endParaRPr lang="en-US" sz="17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SG" sz="1800" dirty="0">
              <a:latin typeface="Arial" panose="020B0604020202020204" pitchFamily="34" charset="0"/>
              <a:ea typeface="SimSun" panose="02010600030101010101" pitchFamily="2" charset="-122"/>
              <a:cs typeface="Arial" panose="020B0604020202020204" pitchFamily="34" charset="0"/>
            </a:endParaRPr>
          </a:p>
        </p:txBody>
      </p:sp>
      <p:pic>
        <p:nvPicPr>
          <p:cNvPr id="12" name="Picture 11">
            <a:extLst>
              <a:ext uri="{FF2B5EF4-FFF2-40B4-BE49-F238E27FC236}">
                <a16:creationId xmlns:a16="http://schemas.microsoft.com/office/drawing/2014/main" id="{3123F5BF-62E3-9228-4500-ADA7D3BE8925}"/>
              </a:ext>
            </a:extLst>
          </p:cNvPr>
          <p:cNvPicPr>
            <a:picLocks noChangeAspect="1"/>
          </p:cNvPicPr>
          <p:nvPr/>
        </p:nvPicPr>
        <p:blipFill>
          <a:blip r:embed="rId4"/>
          <a:stretch>
            <a:fillRect/>
          </a:stretch>
        </p:blipFill>
        <p:spPr>
          <a:xfrm>
            <a:off x="457200" y="4279471"/>
            <a:ext cx="11190513" cy="1836933"/>
          </a:xfrm>
          <a:prstGeom prst="rect">
            <a:avLst/>
          </a:prstGeom>
        </p:spPr>
      </p:pic>
    </p:spTree>
    <p:extLst>
      <p:ext uri="{BB962C8B-B14F-4D97-AF65-F5344CB8AC3E}">
        <p14:creationId xmlns:p14="http://schemas.microsoft.com/office/powerpoint/2010/main" val="89892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92A12-6CF2-4E1A-9FDE-B4C820DEDB2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7DEA1F-9FF9-2742-D549-D64B10DDF3A6}"/>
              </a:ext>
            </a:extLst>
          </p:cNvPr>
          <p:cNvSpPr>
            <a:spLocks noGrp="1"/>
          </p:cNvSpPr>
          <p:nvPr>
            <p:ph type="body" sz="quarter" idx="4294967295"/>
          </p:nvPr>
        </p:nvSpPr>
        <p:spPr>
          <a:xfrm>
            <a:off x="726485" y="785813"/>
            <a:ext cx="9216072" cy="623667"/>
          </a:xfrm>
        </p:spPr>
        <p:txBody>
          <a:bodyPr vert="horz" lIns="91440" tIns="45720" rIns="91440" bIns="45720" rtlCol="0" anchor="t">
            <a:noAutofit/>
          </a:bodyPr>
          <a:lstStyle/>
          <a:p>
            <a:pPr marL="0" indent="0">
              <a:buNone/>
            </a:pPr>
            <a:r>
              <a:rPr lang="en-US" sz="3200" dirty="0">
                <a:latin typeface="Arial Black"/>
                <a:cs typeface="Arial"/>
              </a:rPr>
              <a:t>Absent from Class?</a:t>
            </a:r>
            <a:endParaRPr lang="en-US" sz="3200" dirty="0"/>
          </a:p>
        </p:txBody>
      </p:sp>
      <p:sp>
        <p:nvSpPr>
          <p:cNvPr id="3" name="Text Placeholder 2">
            <a:extLst>
              <a:ext uri="{FF2B5EF4-FFF2-40B4-BE49-F238E27FC236}">
                <a16:creationId xmlns:a16="http://schemas.microsoft.com/office/drawing/2014/main" id="{F81BA0FF-10F6-9463-570D-BDE01957F7E2}"/>
              </a:ext>
            </a:extLst>
          </p:cNvPr>
          <p:cNvSpPr>
            <a:spLocks noGrp="1"/>
          </p:cNvSpPr>
          <p:nvPr>
            <p:ph type="body" sz="quarter" idx="14"/>
          </p:nvPr>
        </p:nvSpPr>
        <p:spPr>
          <a:xfrm>
            <a:off x="730034" y="1593023"/>
            <a:ext cx="10547566" cy="3671953"/>
          </a:xfrm>
        </p:spPr>
        <p:txBody>
          <a:bodyPr vert="horz" lIns="91440" tIns="45720" rIns="91440" bIns="45720" rtlCol="0" anchor="t">
            <a:noAutofit/>
          </a:bodyPr>
          <a:lstStyle/>
          <a:p>
            <a:r>
              <a:rPr lang="en-US" dirty="0"/>
              <a:t>Submit your LOA for approval via SNAPP</a:t>
            </a:r>
          </a:p>
          <a:p>
            <a:r>
              <a:rPr lang="en-US" dirty="0"/>
              <a:t>Check with lecturers on the submission for the lesson and submit the deliverables</a:t>
            </a:r>
          </a:p>
          <a:p>
            <a:r>
              <a:rPr lang="en-US" dirty="0"/>
              <a:t>If you are </a:t>
            </a:r>
            <a:r>
              <a:rPr lang="en-US" b="1" dirty="0"/>
              <a:t>absent for lessons</a:t>
            </a:r>
            <a:r>
              <a:rPr lang="en-US" dirty="0"/>
              <a:t>:</a:t>
            </a:r>
          </a:p>
          <a:p>
            <a:pPr lvl="1" indent="-342900"/>
            <a:r>
              <a:rPr lang="en-US" sz="1800" b="1" dirty="0"/>
              <a:t>Deliverables</a:t>
            </a:r>
          </a:p>
          <a:p>
            <a:pPr marL="1485900" lvl="2" indent="-342900"/>
            <a:r>
              <a:rPr lang="en-US" sz="1600" dirty="0">
                <a:solidFill>
                  <a:schemeClr val="tx1"/>
                </a:solidFill>
              </a:rPr>
              <a:t>If you are abse</a:t>
            </a:r>
            <a:r>
              <a:rPr lang="en-US" sz="1600" dirty="0"/>
              <a:t>nt with </a:t>
            </a:r>
            <a:r>
              <a:rPr lang="en-US" sz="1600" b="1" dirty="0"/>
              <a:t>approved Letter-of-Absent (LOA</a:t>
            </a:r>
            <a:r>
              <a:rPr lang="en-US" sz="1600" dirty="0"/>
              <a:t>), you will be given extension of 3 days for your deliverable submission</a:t>
            </a:r>
            <a:endParaRPr lang="en-US" b="1" dirty="0"/>
          </a:p>
          <a:p>
            <a:pPr lvl="1" indent="-342900"/>
            <a:r>
              <a:rPr lang="en-US" sz="1800" b="1" dirty="0"/>
              <a:t>Graded Quizzes</a:t>
            </a:r>
          </a:p>
          <a:p>
            <a:pPr marL="1485900" lvl="2" indent="-342900"/>
            <a:r>
              <a:rPr lang="en-US" sz="1600" dirty="0">
                <a:solidFill>
                  <a:schemeClr val="tx1"/>
                </a:solidFill>
              </a:rPr>
              <a:t>If you are abse</a:t>
            </a:r>
            <a:r>
              <a:rPr lang="en-US" sz="1600" dirty="0"/>
              <a:t>nt with </a:t>
            </a:r>
            <a:r>
              <a:rPr lang="en-US" sz="1600" b="1" dirty="0"/>
              <a:t>approved Letter-of-Absent (LOA</a:t>
            </a:r>
            <a:r>
              <a:rPr lang="en-US" sz="1600" dirty="0"/>
              <a:t>), you will need to inform your lecturer to schedule for a makeup session</a:t>
            </a:r>
            <a:endParaRPr lang="en-US" sz="2000" dirty="0">
              <a:solidFill>
                <a:schemeClr val="tx1"/>
              </a:solidFill>
            </a:endParaRPr>
          </a:p>
          <a:p>
            <a:r>
              <a:rPr lang="en-US" sz="2000" dirty="0">
                <a:solidFill>
                  <a:schemeClr val="tx1"/>
                </a:solidFill>
              </a:rPr>
              <a:t>Failure to turn up for the make-up will </a:t>
            </a:r>
            <a:r>
              <a:rPr lang="en-US" sz="2000" b="1" dirty="0">
                <a:solidFill>
                  <a:schemeClr val="tx1"/>
                </a:solidFill>
              </a:rPr>
              <a:t>result in 0 mark for respective CA </a:t>
            </a:r>
            <a:r>
              <a:rPr lang="en-US" sz="2000" dirty="0">
                <a:solidFill>
                  <a:schemeClr val="tx1"/>
                </a:solidFill>
              </a:rPr>
              <a:t>grade and will impact your module grade.</a:t>
            </a:r>
            <a:endParaRPr lang="en-SG" sz="2000" dirty="0">
              <a:solidFill>
                <a:schemeClr val="tx1"/>
              </a:solidFill>
            </a:endParaRPr>
          </a:p>
        </p:txBody>
      </p:sp>
      <p:sp>
        <p:nvSpPr>
          <p:cNvPr id="4" name="Text Placeholder 3">
            <a:extLst>
              <a:ext uri="{FF2B5EF4-FFF2-40B4-BE49-F238E27FC236}">
                <a16:creationId xmlns:a16="http://schemas.microsoft.com/office/drawing/2014/main" id="{FAD9A040-3AC3-0FFC-E47C-6BC416F96BFC}"/>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417768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A908-4C2B-B797-288E-9186B3EA2E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45C304-FF70-4A47-CE9C-439365AFC27D}"/>
              </a:ext>
            </a:extLst>
          </p:cNvPr>
          <p:cNvSpPr>
            <a:spLocks noGrp="1"/>
          </p:cNvSpPr>
          <p:nvPr>
            <p:ph type="body" sz="quarter" idx="4294967295"/>
          </p:nvPr>
        </p:nvSpPr>
        <p:spPr>
          <a:xfrm>
            <a:off x="726485" y="785813"/>
            <a:ext cx="9216072" cy="623667"/>
          </a:xfrm>
        </p:spPr>
        <p:txBody>
          <a:bodyPr vert="horz" lIns="91440" tIns="45720" rIns="91440" bIns="45720" rtlCol="0" anchor="t">
            <a:noAutofit/>
          </a:bodyPr>
          <a:lstStyle/>
          <a:p>
            <a:pPr marL="0" indent="0">
              <a:buNone/>
            </a:pPr>
            <a:r>
              <a:rPr lang="en-US" sz="3200" dirty="0">
                <a:latin typeface="Arial Black"/>
                <a:cs typeface="Arial"/>
              </a:rPr>
              <a:t>Assessment Guidelines</a:t>
            </a:r>
            <a:endParaRPr lang="en-US" sz="3200" dirty="0"/>
          </a:p>
        </p:txBody>
      </p:sp>
      <p:sp>
        <p:nvSpPr>
          <p:cNvPr id="4" name="Text Placeholder 3">
            <a:extLst>
              <a:ext uri="{FF2B5EF4-FFF2-40B4-BE49-F238E27FC236}">
                <a16:creationId xmlns:a16="http://schemas.microsoft.com/office/drawing/2014/main" id="{1881B093-D592-0A23-4B09-A861539D0FF2}"/>
              </a:ext>
            </a:extLst>
          </p:cNvPr>
          <p:cNvSpPr>
            <a:spLocks noGrp="1"/>
          </p:cNvSpPr>
          <p:nvPr>
            <p:ph type="body" sz="quarter" idx="15"/>
          </p:nvPr>
        </p:nvSpPr>
        <p:spPr/>
        <p:txBody>
          <a:bodyPr/>
          <a:lstStyle/>
          <a:p>
            <a:endParaRPr lang="en-US"/>
          </a:p>
        </p:txBody>
      </p:sp>
      <p:graphicFrame>
        <p:nvGraphicFramePr>
          <p:cNvPr id="7" name="Table 6">
            <a:extLst>
              <a:ext uri="{FF2B5EF4-FFF2-40B4-BE49-F238E27FC236}">
                <a16:creationId xmlns:a16="http://schemas.microsoft.com/office/drawing/2014/main" id="{9941AB3E-2F98-BF41-6078-B27B9620A04D}"/>
              </a:ext>
            </a:extLst>
          </p:cNvPr>
          <p:cNvGraphicFramePr>
            <a:graphicFrameLocks noGrp="1"/>
          </p:cNvGraphicFramePr>
          <p:nvPr>
            <p:extLst>
              <p:ext uri="{D42A27DB-BD31-4B8C-83A1-F6EECF244321}">
                <p14:modId xmlns:p14="http://schemas.microsoft.com/office/powerpoint/2010/main" val="3189372102"/>
              </p:ext>
            </p:extLst>
          </p:nvPr>
        </p:nvGraphicFramePr>
        <p:xfrm>
          <a:off x="491613" y="1349910"/>
          <a:ext cx="11352168" cy="4368800"/>
        </p:xfrm>
        <a:graphic>
          <a:graphicData uri="http://schemas.openxmlformats.org/drawingml/2006/table">
            <a:tbl>
              <a:tblPr firstRow="1" bandRow="1">
                <a:tableStyleId>{5C22544A-7EE6-4342-B048-85BDC9FD1C3A}</a:tableStyleId>
              </a:tblPr>
              <a:tblGrid>
                <a:gridCol w="3804162">
                  <a:extLst>
                    <a:ext uri="{9D8B030D-6E8A-4147-A177-3AD203B41FA5}">
                      <a16:colId xmlns:a16="http://schemas.microsoft.com/office/drawing/2014/main" val="1755489534"/>
                    </a:ext>
                  </a:extLst>
                </a:gridCol>
                <a:gridCol w="1276350">
                  <a:extLst>
                    <a:ext uri="{9D8B030D-6E8A-4147-A177-3AD203B41FA5}">
                      <a16:colId xmlns:a16="http://schemas.microsoft.com/office/drawing/2014/main" val="3581993590"/>
                    </a:ext>
                  </a:extLst>
                </a:gridCol>
                <a:gridCol w="6271656">
                  <a:extLst>
                    <a:ext uri="{9D8B030D-6E8A-4147-A177-3AD203B41FA5}">
                      <a16:colId xmlns:a16="http://schemas.microsoft.com/office/drawing/2014/main" val="813328121"/>
                    </a:ext>
                  </a:extLst>
                </a:gridCol>
              </a:tblGrid>
              <a:tr h="370840">
                <a:tc>
                  <a:txBody>
                    <a:bodyPr/>
                    <a:lstStyle/>
                    <a:p>
                      <a:r>
                        <a:rPr lang="en-SG" sz="1600" dirty="0"/>
                        <a:t>Component</a:t>
                      </a:r>
                    </a:p>
                  </a:txBody>
                  <a:tcPr/>
                </a:tc>
                <a:tc>
                  <a:txBody>
                    <a:bodyPr/>
                    <a:lstStyle/>
                    <a:p>
                      <a:pPr algn="ctr"/>
                      <a:r>
                        <a:rPr lang="en-SG" sz="1600" dirty="0"/>
                        <a:t>Weighting (%)</a:t>
                      </a:r>
                    </a:p>
                  </a:txBody>
                  <a:tcPr/>
                </a:tc>
                <a:tc>
                  <a:txBody>
                    <a:bodyPr/>
                    <a:lstStyle/>
                    <a:p>
                      <a:r>
                        <a:rPr lang="en-SG" sz="1600" dirty="0"/>
                        <a:t>Assessment Requirements / Submissions</a:t>
                      </a:r>
                    </a:p>
                  </a:txBody>
                  <a:tcPr/>
                </a:tc>
                <a:extLst>
                  <a:ext uri="{0D108BD9-81ED-4DB2-BD59-A6C34878D82A}">
                    <a16:rowId xmlns:a16="http://schemas.microsoft.com/office/drawing/2014/main" val="1868876265"/>
                  </a:ext>
                </a:extLst>
              </a:tr>
              <a:tr h="402197">
                <a:tc>
                  <a:txBody>
                    <a:bodyPr/>
                    <a:lstStyle/>
                    <a:p>
                      <a:r>
                        <a:rPr lang="en-SG" sz="1600" dirty="0"/>
                        <a:t>Continuous Assessment 1 (CA1)*</a:t>
                      </a:r>
                    </a:p>
                  </a:txBody>
                  <a:tcPr/>
                </a:tc>
                <a:tc>
                  <a:txBody>
                    <a:bodyPr/>
                    <a:lstStyle/>
                    <a:p>
                      <a:pPr algn="ctr"/>
                      <a:r>
                        <a:rPr lang="en-SG" sz="1600" dirty="0"/>
                        <a:t>10</a:t>
                      </a:r>
                    </a:p>
                  </a:txBody>
                  <a:tcPr/>
                </a:tc>
                <a:tc>
                  <a:txBody>
                    <a:bodyPr/>
                    <a:lstStyle/>
                    <a:p>
                      <a:r>
                        <a:rPr lang="en-SG" sz="1600" dirty="0"/>
                        <a:t>Complete: Kahoot quiz</a:t>
                      </a:r>
                    </a:p>
                    <a:p>
                      <a:r>
                        <a:rPr lang="en-SG" sz="1600" dirty="0"/>
                        <a:t>Submit via SA3.0: Final </a:t>
                      </a:r>
                      <a:r>
                        <a:rPr lang="en-SG" sz="1600" dirty="0" err="1"/>
                        <a:t>PetCareApp</a:t>
                      </a:r>
                      <a:r>
                        <a:rPr lang="en-SG" sz="1600" dirty="0"/>
                        <a:t> code for CA1, documentation, AI Interaction Journal and app walkthrough video</a:t>
                      </a:r>
                    </a:p>
                  </a:txBody>
                  <a:tcPr/>
                </a:tc>
                <a:extLst>
                  <a:ext uri="{0D108BD9-81ED-4DB2-BD59-A6C34878D82A}">
                    <a16:rowId xmlns:a16="http://schemas.microsoft.com/office/drawing/2014/main" val="3389735023"/>
                  </a:ext>
                </a:extLst>
              </a:tr>
              <a:tr h="370840">
                <a:tc>
                  <a:txBody>
                    <a:bodyPr/>
                    <a:lstStyle/>
                    <a:p>
                      <a:r>
                        <a:rPr lang="en-SG" sz="1600" dirty="0"/>
                        <a:t>Continuous Assessment 2  (CA2)*</a:t>
                      </a:r>
                    </a:p>
                  </a:txBody>
                  <a:tcPr/>
                </a:tc>
                <a:tc>
                  <a:txBody>
                    <a:bodyPr/>
                    <a:lstStyle/>
                    <a:p>
                      <a:pPr algn="ctr"/>
                      <a:r>
                        <a:rPr lang="en-SG" sz="1600" dirty="0"/>
                        <a:t>20</a:t>
                      </a:r>
                    </a:p>
                  </a:txBody>
                  <a:tcPr/>
                </a:tc>
                <a:tc>
                  <a:txBody>
                    <a:bodyPr/>
                    <a:lstStyle/>
                    <a:p>
                      <a:r>
                        <a:rPr lang="en-SG" sz="1600" dirty="0"/>
                        <a:t>Complete: Kahoot quiz</a:t>
                      </a:r>
                    </a:p>
                    <a:p>
                      <a:r>
                        <a:rPr lang="en-SG" sz="1600" dirty="0"/>
                        <a:t>Submit via SA3.0: Final </a:t>
                      </a:r>
                      <a:r>
                        <a:rPr lang="en-SG" sz="1600" dirty="0" err="1"/>
                        <a:t>PetCareApp</a:t>
                      </a:r>
                      <a:r>
                        <a:rPr lang="en-SG" sz="1600" dirty="0"/>
                        <a:t> code for CA2, documentation, AI Interaction Journal and app walkthrough video</a:t>
                      </a:r>
                    </a:p>
                  </a:txBody>
                  <a:tcPr/>
                </a:tc>
                <a:extLst>
                  <a:ext uri="{0D108BD9-81ED-4DB2-BD59-A6C34878D82A}">
                    <a16:rowId xmlns:a16="http://schemas.microsoft.com/office/drawing/2014/main" val="104364518"/>
                  </a:ext>
                </a:extLst>
              </a:tr>
              <a:tr h="370840">
                <a:tc>
                  <a:txBody>
                    <a:bodyPr/>
                    <a:lstStyle/>
                    <a:p>
                      <a:r>
                        <a:rPr lang="en-SG" sz="1600" dirty="0"/>
                        <a:t>Final Assessment  (FA)</a:t>
                      </a:r>
                    </a:p>
                  </a:txBody>
                  <a:tcPr/>
                </a:tc>
                <a:tc>
                  <a:txBody>
                    <a:bodyPr/>
                    <a:lstStyle/>
                    <a:p>
                      <a:pPr algn="ctr"/>
                      <a:r>
                        <a:rPr lang="en-SG" sz="1600" dirty="0"/>
                        <a:t>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600" dirty="0"/>
                        <a:t>Submit via SA3.0: Final FA graded assignment code, documentation, AI Interaction Journal and app walkthrough video</a:t>
                      </a:r>
                    </a:p>
                  </a:txBody>
                  <a:tcPr/>
                </a:tc>
                <a:extLst>
                  <a:ext uri="{0D108BD9-81ED-4DB2-BD59-A6C34878D82A}">
                    <a16:rowId xmlns:a16="http://schemas.microsoft.com/office/drawing/2014/main" val="529753870"/>
                  </a:ext>
                </a:extLst>
              </a:tr>
              <a:tr h="370840">
                <a:tc>
                  <a:txBody>
                    <a:bodyPr/>
                    <a:lstStyle/>
                    <a:p>
                      <a:r>
                        <a:rPr lang="en-SG" sz="1600" dirty="0"/>
                        <a:t>Self-Directed and Collaborative Learning (SDCL)</a:t>
                      </a:r>
                    </a:p>
                  </a:txBody>
                  <a:tcPr/>
                </a:tc>
                <a:tc>
                  <a:txBody>
                    <a:bodyPr/>
                    <a:lstStyle/>
                    <a:p>
                      <a:pPr algn="ctr"/>
                      <a:r>
                        <a:rPr lang="en-SG" sz="1600" dirty="0"/>
                        <a:t>15</a:t>
                      </a:r>
                    </a:p>
                  </a:txBody>
                  <a:tcPr/>
                </a:tc>
                <a:tc>
                  <a:txBody>
                    <a:bodyPr/>
                    <a:lstStyle/>
                    <a:p>
                      <a:r>
                        <a:rPr lang="en-SG" sz="1600" dirty="0"/>
                        <a:t>Certificates upload to POLITEMALL</a:t>
                      </a:r>
                    </a:p>
                    <a:p>
                      <a:r>
                        <a:rPr lang="en-SG" sz="1600" dirty="0"/>
                        <a:t>Learning Memo 1 and 2 to POLITEMALL</a:t>
                      </a:r>
                    </a:p>
                    <a:p>
                      <a:r>
                        <a:rPr lang="en-SG" sz="1600" dirty="0"/>
                        <a:t>Weekly worksheets upload to POLITEMALL</a:t>
                      </a:r>
                    </a:p>
                  </a:txBody>
                  <a:tcPr/>
                </a:tc>
                <a:extLst>
                  <a:ext uri="{0D108BD9-81ED-4DB2-BD59-A6C34878D82A}">
                    <a16:rowId xmlns:a16="http://schemas.microsoft.com/office/drawing/2014/main" val="1377622379"/>
                  </a:ext>
                </a:extLst>
              </a:tr>
              <a:tr h="370840">
                <a:tc>
                  <a:txBody>
                    <a:bodyPr/>
                    <a:lstStyle/>
                    <a:p>
                      <a:r>
                        <a:rPr lang="en-SG" sz="1600" dirty="0"/>
                        <a:t>Communication Skills  (CS) part of FA</a:t>
                      </a:r>
                    </a:p>
                  </a:txBody>
                  <a:tcPr/>
                </a:tc>
                <a:tc>
                  <a:txBody>
                    <a:bodyPr/>
                    <a:lstStyle/>
                    <a:p>
                      <a:pPr algn="ctr"/>
                      <a:r>
                        <a:rPr lang="en-SG" sz="1600" dirty="0"/>
                        <a:t>15</a:t>
                      </a:r>
                    </a:p>
                  </a:txBody>
                  <a:tcPr/>
                </a:tc>
                <a:tc>
                  <a:txBody>
                    <a:bodyPr/>
                    <a:lstStyle/>
                    <a:p>
                      <a:r>
                        <a:rPr lang="en-SG" sz="1600" dirty="0"/>
                        <a:t>-</a:t>
                      </a:r>
                    </a:p>
                  </a:txBody>
                  <a:tcPr/>
                </a:tc>
                <a:extLst>
                  <a:ext uri="{0D108BD9-81ED-4DB2-BD59-A6C34878D82A}">
                    <a16:rowId xmlns:a16="http://schemas.microsoft.com/office/drawing/2014/main" val="2212254000"/>
                  </a:ext>
                </a:extLst>
              </a:tr>
              <a:tr h="370840">
                <a:tc>
                  <a:txBody>
                    <a:bodyPr/>
                    <a:lstStyle/>
                    <a:p>
                      <a:r>
                        <a:rPr lang="en-SG" sz="1600" dirty="0"/>
                        <a:t>Total</a:t>
                      </a:r>
                    </a:p>
                  </a:txBody>
                  <a:tcPr/>
                </a:tc>
                <a:tc>
                  <a:txBody>
                    <a:bodyPr/>
                    <a:lstStyle/>
                    <a:p>
                      <a:pPr algn="ctr"/>
                      <a:r>
                        <a:rPr lang="en-SG" sz="1600" dirty="0"/>
                        <a:t>100</a:t>
                      </a:r>
                    </a:p>
                  </a:txBody>
                  <a:tcPr/>
                </a:tc>
                <a:tc>
                  <a:txBody>
                    <a:bodyPr/>
                    <a:lstStyle/>
                    <a:p>
                      <a:endParaRPr lang="en-SG" sz="1600" dirty="0"/>
                    </a:p>
                  </a:txBody>
                  <a:tcPr/>
                </a:tc>
                <a:extLst>
                  <a:ext uri="{0D108BD9-81ED-4DB2-BD59-A6C34878D82A}">
                    <a16:rowId xmlns:a16="http://schemas.microsoft.com/office/drawing/2014/main" val="1507345196"/>
                  </a:ext>
                </a:extLst>
              </a:tr>
            </a:tbl>
          </a:graphicData>
        </a:graphic>
      </p:graphicFrame>
      <p:sp>
        <p:nvSpPr>
          <p:cNvPr id="10" name="TextBox 9">
            <a:extLst>
              <a:ext uri="{FF2B5EF4-FFF2-40B4-BE49-F238E27FC236}">
                <a16:creationId xmlns:a16="http://schemas.microsoft.com/office/drawing/2014/main" id="{9B6A39ED-3C9C-B5EF-8C18-E8A8D2437F36}"/>
              </a:ext>
            </a:extLst>
          </p:cNvPr>
          <p:cNvSpPr txBox="1"/>
          <p:nvPr/>
        </p:nvSpPr>
        <p:spPr>
          <a:xfrm>
            <a:off x="427786" y="6334780"/>
            <a:ext cx="9813470" cy="461665"/>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Refer to student handbook for more information:</a:t>
            </a:r>
            <a:endParaRPr lang="en-US" sz="1200" dirty="0">
              <a:latin typeface="Arial" panose="020B0604020202020204" pitchFamily="34" charset="0"/>
              <a:cs typeface="Arial" panose="020B0604020202020204" pitchFamily="34" charset="0"/>
              <a:hlinkClick r:id="rId2"/>
            </a:endParaRPr>
          </a:p>
          <a:p>
            <a:r>
              <a:rPr lang="en-US" sz="1200" dirty="0">
                <a:latin typeface="Arial" panose="020B0604020202020204" pitchFamily="34" charset="0"/>
                <a:cs typeface="Arial" panose="020B0604020202020204" pitchFamily="34" charset="0"/>
                <a:hlinkClick r:id="rId2"/>
              </a:rPr>
              <a:t>Student Handbook - 01.Academic_Information (sharepoint.com)</a:t>
            </a:r>
            <a:endParaRPr lang="en-SG" sz="1200" dirty="0"/>
          </a:p>
        </p:txBody>
      </p:sp>
    </p:spTree>
    <p:extLst>
      <p:ext uri="{BB962C8B-B14F-4D97-AF65-F5344CB8AC3E}">
        <p14:creationId xmlns:p14="http://schemas.microsoft.com/office/powerpoint/2010/main" val="231619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843907-55D9-23FD-A6DD-FA75F75F6967}"/>
              </a:ext>
            </a:extLst>
          </p:cNvPr>
          <p:cNvSpPr>
            <a:spLocks noGrp="1"/>
          </p:cNvSpPr>
          <p:nvPr>
            <p:ph type="body" sz="quarter" idx="14"/>
          </p:nvPr>
        </p:nvSpPr>
        <p:spPr>
          <a:xfrm>
            <a:off x="730033" y="1593023"/>
            <a:ext cx="10734379" cy="3671953"/>
          </a:xfrm>
        </p:spPr>
        <p:txBody>
          <a:bodyPr/>
          <a:lstStyle/>
          <a:p>
            <a:r>
              <a:rPr lang="en-US" b="1" dirty="0">
                <a:latin typeface="Aptos" panose="020B0004020202020204" pitchFamily="34" charset="0"/>
              </a:rPr>
              <a:t>Learning Memo </a:t>
            </a:r>
            <a:r>
              <a:rPr lang="en-US" dirty="0">
                <a:latin typeface="Aptos" panose="020B0004020202020204" pitchFamily="34" charset="0"/>
              </a:rPr>
              <a:t>is designed to help you monitor and chart your development of Self-directed and Collaborative Learning skills (SDCL) by getting you to:</a:t>
            </a:r>
          </a:p>
          <a:p>
            <a:pPr lvl="1">
              <a:buAutoNum type="alphaLcParenBoth"/>
            </a:pPr>
            <a:r>
              <a:rPr lang="en-US" sz="1800" dirty="0">
                <a:latin typeface="Aptos" panose="020B0004020202020204" pitchFamily="34" charset="0"/>
              </a:rPr>
              <a:t>set your learning goals (start of semester)</a:t>
            </a:r>
          </a:p>
          <a:p>
            <a:pPr lvl="1">
              <a:buAutoNum type="alphaLcParenBoth"/>
            </a:pPr>
            <a:r>
              <a:rPr lang="en-US" sz="1800" dirty="0">
                <a:latin typeface="Aptos" panose="020B0004020202020204" pitchFamily="34" charset="0"/>
              </a:rPr>
              <a:t>monitor your progress (mid-semester) and </a:t>
            </a:r>
          </a:p>
          <a:p>
            <a:pPr lvl="1">
              <a:buAutoNum type="alphaLcParenBoth"/>
            </a:pPr>
            <a:r>
              <a:rPr lang="en-US" sz="1800" dirty="0">
                <a:latin typeface="Aptos" panose="020B0004020202020204" pitchFamily="34" charset="0"/>
              </a:rPr>
              <a:t>reflect on your learning (end of semester). </a:t>
            </a:r>
          </a:p>
          <a:p>
            <a:endParaRPr lang="en-SG" dirty="0"/>
          </a:p>
          <a:p>
            <a:r>
              <a:rPr lang="en-US" altLang="en-US" b="1" dirty="0">
                <a:latin typeface="Aptos" panose="020B0004020202020204" pitchFamily="34" charset="0"/>
              </a:rPr>
              <a:t>Learning Memo 1</a:t>
            </a:r>
          </a:p>
          <a:p>
            <a:pPr lvl="1"/>
            <a:r>
              <a:rPr lang="en-US" altLang="en-US" sz="1800" b="1" dirty="0">
                <a:latin typeface="Aptos" panose="020B0004020202020204" pitchFamily="34" charset="0"/>
              </a:rPr>
              <a:t>Weeks 1–3:</a:t>
            </a:r>
            <a:r>
              <a:rPr lang="en-US" altLang="en-US" sz="1800" dirty="0">
                <a:latin typeface="Aptos" panose="020B0004020202020204" pitchFamily="34" charset="0"/>
              </a:rPr>
              <a:t> Answer questions </a:t>
            </a:r>
            <a:r>
              <a:rPr lang="en-US" altLang="en-US" sz="1800" b="1" dirty="0">
                <a:latin typeface="Aptos" panose="020B0004020202020204" pitchFamily="34" charset="0"/>
              </a:rPr>
              <a:t>1 to 3</a:t>
            </a:r>
            <a:r>
              <a:rPr lang="en-US" altLang="en-US" sz="1800" dirty="0">
                <a:latin typeface="Aptos" panose="020B0004020202020204" pitchFamily="34" charset="0"/>
              </a:rPr>
              <a:t>. </a:t>
            </a:r>
          </a:p>
          <a:p>
            <a:pPr lvl="1"/>
            <a:r>
              <a:rPr lang="en-US" altLang="en-US" sz="1800" b="1" dirty="0">
                <a:latin typeface="Aptos" panose="020B0004020202020204" pitchFamily="34" charset="0"/>
              </a:rPr>
              <a:t>Weeks 4–7:</a:t>
            </a:r>
            <a:r>
              <a:rPr lang="en-US" altLang="en-US" sz="1800" dirty="0">
                <a:latin typeface="Aptos" panose="020B0004020202020204" pitchFamily="34" charset="0"/>
              </a:rPr>
              <a:t> Answer questions </a:t>
            </a:r>
            <a:r>
              <a:rPr lang="en-US" altLang="en-US" sz="1800" b="1" dirty="0">
                <a:latin typeface="Aptos" panose="020B0004020202020204" pitchFamily="34" charset="0"/>
              </a:rPr>
              <a:t>4 to 8</a:t>
            </a:r>
          </a:p>
          <a:p>
            <a:r>
              <a:rPr lang="en-US" altLang="en-US" b="1" dirty="0">
                <a:latin typeface="Aptos" panose="020B0004020202020204" pitchFamily="34" charset="0"/>
              </a:rPr>
              <a:t>Learning Memo 2</a:t>
            </a:r>
          </a:p>
          <a:p>
            <a:pPr lvl="1"/>
            <a:r>
              <a:rPr lang="en-US" altLang="en-US" sz="1800" b="1" dirty="0">
                <a:latin typeface="Aptos" panose="020B0004020202020204" pitchFamily="34" charset="0"/>
              </a:rPr>
              <a:t>Weeks 8-13: </a:t>
            </a:r>
            <a:r>
              <a:rPr lang="en-US" altLang="en-US" sz="1800" dirty="0">
                <a:latin typeface="Aptos" panose="020B0004020202020204" pitchFamily="34" charset="0"/>
              </a:rPr>
              <a:t>Answer questions </a:t>
            </a:r>
            <a:r>
              <a:rPr lang="en-US" altLang="en-US" sz="1800" b="1" dirty="0">
                <a:latin typeface="Aptos" panose="020B0004020202020204" pitchFamily="34" charset="0"/>
              </a:rPr>
              <a:t>1 to 4</a:t>
            </a:r>
          </a:p>
          <a:p>
            <a:pPr lvl="1"/>
            <a:endParaRPr lang="en-US" altLang="en-US" sz="1800" b="1" dirty="0">
              <a:latin typeface="Aptos" panose="020B0004020202020204" pitchFamily="34" charset="0"/>
            </a:endParaRPr>
          </a:p>
          <a:p>
            <a:pPr marL="0" indent="0">
              <a:buNone/>
            </a:pPr>
            <a:r>
              <a:rPr lang="en-US" altLang="en-US" sz="1400" dirty="0">
                <a:latin typeface="Aptos" panose="020B0004020202020204" pitchFamily="34" charset="0"/>
              </a:rPr>
              <a:t>Note: You may resubmit your responses at any time between Weeks 1 and 7 for learning memo 1 and any time between Weeks 8 and 13 for learning memo 2.</a:t>
            </a:r>
          </a:p>
          <a:p>
            <a:endParaRPr lang="en-SG" dirty="0"/>
          </a:p>
        </p:txBody>
      </p:sp>
      <p:sp>
        <p:nvSpPr>
          <p:cNvPr id="3" name="Text Placeholder 2">
            <a:extLst>
              <a:ext uri="{FF2B5EF4-FFF2-40B4-BE49-F238E27FC236}">
                <a16:creationId xmlns:a16="http://schemas.microsoft.com/office/drawing/2014/main" id="{DA8D533C-B575-E58A-A266-76FC7AEE51F2}"/>
              </a:ext>
            </a:extLst>
          </p:cNvPr>
          <p:cNvSpPr>
            <a:spLocks noGrp="1"/>
          </p:cNvSpPr>
          <p:nvPr>
            <p:ph type="body" sz="quarter" idx="15"/>
          </p:nvPr>
        </p:nvSpPr>
        <p:spPr/>
        <p:txBody>
          <a:bodyPr/>
          <a:lstStyle/>
          <a:p>
            <a:endParaRPr lang="en-SG"/>
          </a:p>
        </p:txBody>
      </p:sp>
      <p:sp>
        <p:nvSpPr>
          <p:cNvPr id="4" name="Text Placeholder 3">
            <a:extLst>
              <a:ext uri="{FF2B5EF4-FFF2-40B4-BE49-F238E27FC236}">
                <a16:creationId xmlns:a16="http://schemas.microsoft.com/office/drawing/2014/main" id="{A5570501-BAE9-93A2-1011-7C9467613B07}"/>
              </a:ext>
            </a:extLst>
          </p:cNvPr>
          <p:cNvSpPr>
            <a:spLocks noGrp="1"/>
          </p:cNvSpPr>
          <p:nvPr>
            <p:ph type="body" sz="quarter" idx="16"/>
          </p:nvPr>
        </p:nvSpPr>
        <p:spPr/>
        <p:txBody>
          <a:bodyPr/>
          <a:lstStyle/>
          <a:p>
            <a:r>
              <a:rPr lang="en-SG" dirty="0"/>
              <a:t>SDCL Learning Memo</a:t>
            </a:r>
          </a:p>
        </p:txBody>
      </p:sp>
      <p:pic>
        <p:nvPicPr>
          <p:cNvPr id="6" name="Picture 5">
            <a:extLst>
              <a:ext uri="{FF2B5EF4-FFF2-40B4-BE49-F238E27FC236}">
                <a16:creationId xmlns:a16="http://schemas.microsoft.com/office/drawing/2014/main" id="{5E3D22C1-7875-E2CF-9D12-64660D447C43}"/>
              </a:ext>
            </a:extLst>
          </p:cNvPr>
          <p:cNvPicPr>
            <a:picLocks noChangeAspect="1"/>
          </p:cNvPicPr>
          <p:nvPr/>
        </p:nvPicPr>
        <p:blipFill>
          <a:blip r:embed="rId2"/>
          <a:stretch>
            <a:fillRect/>
          </a:stretch>
        </p:blipFill>
        <p:spPr>
          <a:xfrm>
            <a:off x="6096000" y="2330246"/>
            <a:ext cx="5347438" cy="2934730"/>
          </a:xfrm>
          <a:prstGeom prst="rect">
            <a:avLst/>
          </a:prstGeom>
        </p:spPr>
      </p:pic>
    </p:spTree>
    <p:extLst>
      <p:ext uri="{BB962C8B-B14F-4D97-AF65-F5344CB8AC3E}">
        <p14:creationId xmlns:p14="http://schemas.microsoft.com/office/powerpoint/2010/main" val="959697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EB3A5E-2DF5-9A52-FA61-66FAE22993CB}"/>
              </a:ext>
            </a:extLst>
          </p:cNvPr>
          <p:cNvSpPr>
            <a:spLocks noGrp="1"/>
          </p:cNvSpPr>
          <p:nvPr>
            <p:ph type="body" sz="quarter" idx="13"/>
          </p:nvPr>
        </p:nvSpPr>
        <p:spPr>
          <a:xfrm>
            <a:off x="271020" y="379173"/>
            <a:ext cx="9216072" cy="623667"/>
          </a:xfrm>
        </p:spPr>
        <p:txBody>
          <a:bodyPr/>
          <a:lstStyle/>
          <a:p>
            <a:r>
              <a:rPr lang="en-SG" sz="2400" dirty="0"/>
              <a:t>Communication Skills (CS) Rubrics</a:t>
            </a:r>
          </a:p>
        </p:txBody>
      </p:sp>
      <p:sp>
        <p:nvSpPr>
          <p:cNvPr id="5" name="Text Placeholder 4">
            <a:extLst>
              <a:ext uri="{FF2B5EF4-FFF2-40B4-BE49-F238E27FC236}">
                <a16:creationId xmlns:a16="http://schemas.microsoft.com/office/drawing/2014/main" id="{F4FA7E5B-F098-20F2-5893-00F133B3983B}"/>
              </a:ext>
            </a:extLst>
          </p:cNvPr>
          <p:cNvSpPr>
            <a:spLocks noGrp="1"/>
          </p:cNvSpPr>
          <p:nvPr>
            <p:ph type="body" sz="quarter" idx="15"/>
          </p:nvPr>
        </p:nvSpPr>
        <p:spPr/>
        <p:txBody>
          <a:bodyPr/>
          <a:lstStyle/>
          <a:p>
            <a:endParaRPr lang="en-SG"/>
          </a:p>
        </p:txBody>
      </p:sp>
      <p:pic>
        <p:nvPicPr>
          <p:cNvPr id="7" name="Picture 6">
            <a:extLst>
              <a:ext uri="{FF2B5EF4-FFF2-40B4-BE49-F238E27FC236}">
                <a16:creationId xmlns:a16="http://schemas.microsoft.com/office/drawing/2014/main" id="{FDE69C28-E9B9-B83D-E203-BE71F405A932}"/>
              </a:ext>
            </a:extLst>
          </p:cNvPr>
          <p:cNvPicPr>
            <a:picLocks noChangeAspect="1"/>
          </p:cNvPicPr>
          <p:nvPr/>
        </p:nvPicPr>
        <p:blipFill>
          <a:blip r:embed="rId2"/>
          <a:stretch>
            <a:fillRect/>
          </a:stretch>
        </p:blipFill>
        <p:spPr>
          <a:xfrm>
            <a:off x="184434" y="895130"/>
            <a:ext cx="11823131" cy="5520207"/>
          </a:xfrm>
          <a:prstGeom prst="rect">
            <a:avLst/>
          </a:prstGeom>
        </p:spPr>
      </p:pic>
    </p:spTree>
    <p:extLst>
      <p:ext uri="{BB962C8B-B14F-4D97-AF65-F5344CB8AC3E}">
        <p14:creationId xmlns:p14="http://schemas.microsoft.com/office/powerpoint/2010/main" val="1432115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D8E777-79C1-FFA5-CAE2-E2D8DF45256A}"/>
              </a:ext>
            </a:extLst>
          </p:cNvPr>
          <p:cNvSpPr>
            <a:spLocks noGrp="1"/>
          </p:cNvSpPr>
          <p:nvPr>
            <p:ph type="body" sz="quarter" idx="13"/>
          </p:nvPr>
        </p:nvSpPr>
        <p:spPr>
          <a:xfrm>
            <a:off x="329919" y="271463"/>
            <a:ext cx="9604656" cy="623667"/>
          </a:xfrm>
        </p:spPr>
        <p:txBody>
          <a:bodyPr/>
          <a:lstStyle/>
          <a:p>
            <a:r>
              <a:rPr lang="en-US" sz="2400" b="1" dirty="0">
                <a:effectLst/>
                <a:ea typeface="Times New Roman" panose="02020603050405020304" pitchFamily="18" charset="0"/>
              </a:rPr>
              <a:t>Self-directed and Collaborative Learning (SDCL)</a:t>
            </a:r>
            <a:r>
              <a:rPr lang="en-GB" sz="2400" b="1" dirty="0">
                <a:effectLst/>
                <a:ea typeface="SimSun" panose="02010600030101010101" pitchFamily="2" charset="-122"/>
              </a:rPr>
              <a:t> Rubrics</a:t>
            </a:r>
            <a:endParaRPr lang="en-SG" sz="2400" dirty="0">
              <a:effectLst/>
              <a:ea typeface="Times New Roman" panose="02020603050405020304" pitchFamily="18" charset="0"/>
            </a:endParaRPr>
          </a:p>
        </p:txBody>
      </p:sp>
      <p:sp>
        <p:nvSpPr>
          <p:cNvPr id="5" name="Text Placeholder 4">
            <a:extLst>
              <a:ext uri="{FF2B5EF4-FFF2-40B4-BE49-F238E27FC236}">
                <a16:creationId xmlns:a16="http://schemas.microsoft.com/office/drawing/2014/main" id="{AAA1EDEA-CB70-8708-D8C4-A25409EBB812}"/>
              </a:ext>
            </a:extLst>
          </p:cNvPr>
          <p:cNvSpPr>
            <a:spLocks noGrp="1"/>
          </p:cNvSpPr>
          <p:nvPr>
            <p:ph type="body" sz="quarter" idx="15"/>
          </p:nvPr>
        </p:nvSpPr>
        <p:spPr/>
        <p:txBody>
          <a:bodyPr/>
          <a:lstStyle/>
          <a:p>
            <a:endParaRPr lang="en-SG"/>
          </a:p>
        </p:txBody>
      </p:sp>
      <p:pic>
        <p:nvPicPr>
          <p:cNvPr id="10" name="Picture 9">
            <a:extLst>
              <a:ext uri="{FF2B5EF4-FFF2-40B4-BE49-F238E27FC236}">
                <a16:creationId xmlns:a16="http://schemas.microsoft.com/office/drawing/2014/main" id="{368B44B2-8D1E-30CD-D5A9-13E73FCF5067}"/>
              </a:ext>
            </a:extLst>
          </p:cNvPr>
          <p:cNvPicPr>
            <a:picLocks noChangeAspect="1"/>
          </p:cNvPicPr>
          <p:nvPr/>
        </p:nvPicPr>
        <p:blipFill>
          <a:blip r:embed="rId2"/>
          <a:stretch>
            <a:fillRect/>
          </a:stretch>
        </p:blipFill>
        <p:spPr>
          <a:xfrm>
            <a:off x="329919" y="792846"/>
            <a:ext cx="11371925" cy="6027054"/>
          </a:xfrm>
          <a:prstGeom prst="rect">
            <a:avLst/>
          </a:prstGeom>
        </p:spPr>
      </p:pic>
    </p:spTree>
    <p:extLst>
      <p:ext uri="{BB962C8B-B14F-4D97-AF65-F5344CB8AC3E}">
        <p14:creationId xmlns:p14="http://schemas.microsoft.com/office/powerpoint/2010/main" val="226604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8806-56B6-7358-3DB9-269BEB71009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B14BEB-AF1E-DAE7-2263-37E97D82FBED}"/>
              </a:ext>
            </a:extLst>
          </p:cNvPr>
          <p:cNvSpPr>
            <a:spLocks noGrp="1"/>
          </p:cNvSpPr>
          <p:nvPr>
            <p:ph type="body" sz="quarter" idx="13"/>
          </p:nvPr>
        </p:nvSpPr>
        <p:spPr/>
        <p:txBody>
          <a:bodyPr vert="horz" lIns="91440" tIns="45720" rIns="91440" bIns="45720" rtlCol="0" anchor="t">
            <a:noAutofit/>
          </a:bodyPr>
          <a:lstStyle/>
          <a:p>
            <a:r>
              <a:rPr lang="en-US" dirty="0"/>
              <a:t>Plagiarism &amp; Academic Dishonesty</a:t>
            </a:r>
          </a:p>
        </p:txBody>
      </p:sp>
      <p:sp>
        <p:nvSpPr>
          <p:cNvPr id="4" name="Text Placeholder 3">
            <a:extLst>
              <a:ext uri="{FF2B5EF4-FFF2-40B4-BE49-F238E27FC236}">
                <a16:creationId xmlns:a16="http://schemas.microsoft.com/office/drawing/2014/main" id="{1A2E8E3A-A07A-FC28-96CF-2567163AC72F}"/>
              </a:ext>
            </a:extLst>
          </p:cNvPr>
          <p:cNvSpPr>
            <a:spLocks noGrp="1"/>
          </p:cNvSpPr>
          <p:nvPr>
            <p:ph type="body" sz="quarter" idx="14"/>
          </p:nvPr>
        </p:nvSpPr>
        <p:spPr>
          <a:xfrm>
            <a:off x="837399" y="1758951"/>
            <a:ext cx="10483064" cy="3798888"/>
          </a:xfrm>
        </p:spPr>
        <p:txBody>
          <a:bodyPr vert="horz" lIns="91440" tIns="45720" rIns="91440" bIns="45720" rtlCol="0" anchor="t">
            <a:noAutofit/>
          </a:bodyPr>
          <a:lstStyle/>
          <a:p>
            <a:pPr marL="0" indent="0">
              <a:buNone/>
            </a:pPr>
            <a:r>
              <a:rPr lang="en-US" dirty="0">
                <a:solidFill>
                  <a:srgbClr val="FF0000"/>
                </a:solidFill>
                <a:latin typeface="Arial" panose="020B0604020202020204" pitchFamily="34" charset="0"/>
              </a:rPr>
              <a:t>Warning:</a:t>
            </a:r>
            <a:endParaRPr lang="en-US" dirty="0">
              <a:solidFill>
                <a:srgbClr val="000000"/>
              </a:solidFill>
              <a:latin typeface="Verdana" panose="020B0604030504040204" pitchFamily="34" charset="0"/>
            </a:endParaRPr>
          </a:p>
          <a:p>
            <a:r>
              <a:rPr lang="en-US" dirty="0">
                <a:solidFill>
                  <a:srgbClr val="FF0000"/>
                </a:solidFill>
                <a:latin typeface="Arial" panose="020B0604020202020204" pitchFamily="34" charset="0"/>
              </a:rPr>
              <a:t>Any student caught infringing any of the Assessment Rules and Regulations in any way is liable to disciplinary action including, but not limited to, an outright failure for the  Summative Assessment and downgrading of the Module Grade. More severe penalties which can be imposed on a student caught cheating in a summative assessment include suspension or even dismissal from the Polytechnic.</a:t>
            </a:r>
          </a:p>
          <a:p>
            <a:endParaRPr lang="en-US" dirty="0">
              <a:solidFill>
                <a:srgbClr val="FF0000"/>
              </a:solidFill>
              <a:latin typeface="Arial" panose="020B0604020202020204" pitchFamily="34" charset="0"/>
            </a:endParaRPr>
          </a:p>
          <a:p>
            <a:r>
              <a:rPr lang="en-US" dirty="0">
                <a:hlinkClick r:id="rId3"/>
              </a:rPr>
              <a:t>Student Handbook - </a:t>
            </a:r>
            <a:r>
              <a:rPr lang="en-US" dirty="0" err="1">
                <a:hlinkClick r:id="rId3"/>
              </a:rPr>
              <a:t>Summative_assessment_rules_and_regulations</a:t>
            </a:r>
            <a:r>
              <a:rPr lang="en-US" dirty="0">
                <a:hlinkClick r:id="rId3"/>
              </a:rPr>
              <a:t> (sharepoint.com)</a:t>
            </a:r>
            <a:endParaRPr lang="en-US" dirty="0"/>
          </a:p>
          <a:p>
            <a:endParaRPr lang="en-SG" sz="1800" kern="100" dirty="0">
              <a:effectLst/>
              <a:ea typeface="DengXian" panose="02010600030101010101" pitchFamily="2" charset="-122"/>
            </a:endParaRPr>
          </a:p>
        </p:txBody>
      </p:sp>
      <p:sp>
        <p:nvSpPr>
          <p:cNvPr id="5" name="Text Placeholder 4">
            <a:extLst>
              <a:ext uri="{FF2B5EF4-FFF2-40B4-BE49-F238E27FC236}">
                <a16:creationId xmlns:a16="http://schemas.microsoft.com/office/drawing/2014/main" id="{BF1238C8-584D-7F84-29CF-8EE5167DCD8F}"/>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085232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466469"/>
            <a:ext cx="10669270" cy="4201795"/>
          </a:xfrm>
          <a:prstGeom prst="rect">
            <a:avLst/>
          </a:prstGeom>
        </p:spPr>
        <p:txBody>
          <a:bodyPr vert="horz" wrap="square" lIns="0" tIns="165100" rIns="0" bIns="0" rtlCol="0">
            <a:spAutoFit/>
          </a:bodyPr>
          <a:lstStyle/>
          <a:p>
            <a:pPr marL="12700">
              <a:lnSpc>
                <a:spcPct val="100000"/>
              </a:lnSpc>
              <a:spcBef>
                <a:spcPts val="1300"/>
              </a:spcBef>
            </a:pPr>
            <a:r>
              <a:rPr sz="2400" dirty="0">
                <a:latin typeface="Arial"/>
                <a:cs typeface="Arial"/>
              </a:rPr>
              <a:t>As</a:t>
            </a:r>
            <a:r>
              <a:rPr sz="2400" spc="-35" dirty="0">
                <a:latin typeface="Arial"/>
                <a:cs typeface="Arial"/>
              </a:rPr>
              <a:t> </a:t>
            </a:r>
            <a:r>
              <a:rPr sz="2400" dirty="0">
                <a:latin typeface="Arial"/>
                <a:cs typeface="Arial"/>
              </a:rPr>
              <a:t>a</a:t>
            </a:r>
            <a:r>
              <a:rPr sz="2400" spc="-40" dirty="0">
                <a:latin typeface="Arial"/>
                <a:cs typeface="Arial"/>
              </a:rPr>
              <a:t> </a:t>
            </a:r>
            <a:r>
              <a:rPr sz="2400" dirty="0">
                <a:latin typeface="Arial"/>
                <a:cs typeface="Arial"/>
              </a:rPr>
              <a:t>learner</a:t>
            </a:r>
            <a:r>
              <a:rPr sz="2400" spc="-20" dirty="0">
                <a:latin typeface="Arial"/>
                <a:cs typeface="Arial"/>
              </a:rPr>
              <a:t> </a:t>
            </a:r>
            <a:r>
              <a:rPr sz="2400" dirty="0">
                <a:latin typeface="Arial"/>
                <a:cs typeface="Arial"/>
              </a:rPr>
              <a:t>in</a:t>
            </a:r>
            <a:r>
              <a:rPr sz="2400" spc="-30" dirty="0">
                <a:latin typeface="Arial"/>
                <a:cs typeface="Arial"/>
              </a:rPr>
              <a:t> </a:t>
            </a:r>
            <a:r>
              <a:rPr sz="2400" spc="-90" dirty="0">
                <a:latin typeface="Arial"/>
                <a:cs typeface="Arial"/>
              </a:rPr>
              <a:t>RP,</a:t>
            </a:r>
            <a:r>
              <a:rPr sz="2400" spc="-30" dirty="0">
                <a:latin typeface="Arial"/>
                <a:cs typeface="Arial"/>
              </a:rPr>
              <a:t> </a:t>
            </a:r>
            <a:r>
              <a:rPr sz="2400" dirty="0">
                <a:latin typeface="Arial"/>
                <a:cs typeface="Arial"/>
              </a:rPr>
              <a:t>you</a:t>
            </a:r>
            <a:r>
              <a:rPr sz="2400" spc="-35" dirty="0">
                <a:latin typeface="Arial"/>
                <a:cs typeface="Arial"/>
              </a:rPr>
              <a:t> </a:t>
            </a:r>
            <a:r>
              <a:rPr sz="2400" spc="-20" dirty="0">
                <a:latin typeface="Arial"/>
                <a:cs typeface="Arial"/>
              </a:rPr>
              <a:t>are:</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Allowed</a:t>
            </a:r>
            <a:r>
              <a:rPr sz="2400" spc="-35" dirty="0">
                <a:latin typeface="Arial"/>
                <a:cs typeface="Arial"/>
              </a:rPr>
              <a:t> </a:t>
            </a:r>
            <a:r>
              <a:rPr sz="2400" dirty="0">
                <a:latin typeface="Arial"/>
                <a:cs typeface="Arial"/>
              </a:rPr>
              <a:t>to</a:t>
            </a:r>
            <a:r>
              <a:rPr sz="2400" spc="-50" dirty="0">
                <a:latin typeface="Arial"/>
                <a:cs typeface="Arial"/>
              </a:rPr>
              <a:t> </a:t>
            </a:r>
            <a:r>
              <a:rPr sz="2400" spc="-10" dirty="0">
                <a:latin typeface="Arial"/>
                <a:cs typeface="Arial"/>
              </a:rPr>
              <a:t>use</a:t>
            </a:r>
            <a:r>
              <a:rPr sz="2400" spc="-155" dirty="0">
                <a:latin typeface="Arial"/>
                <a:cs typeface="Arial"/>
              </a:rPr>
              <a:t> </a:t>
            </a:r>
            <a:r>
              <a:rPr sz="2400" dirty="0">
                <a:latin typeface="Arial"/>
                <a:cs typeface="Arial"/>
              </a:rPr>
              <a:t>AI</a:t>
            </a:r>
            <a:r>
              <a:rPr sz="2400" spc="-60" dirty="0">
                <a:latin typeface="Arial"/>
                <a:cs typeface="Arial"/>
              </a:rPr>
              <a:t> </a:t>
            </a:r>
            <a:r>
              <a:rPr sz="2400" dirty="0">
                <a:latin typeface="Arial"/>
                <a:cs typeface="Arial"/>
              </a:rPr>
              <a:t>tools</a:t>
            </a:r>
            <a:r>
              <a:rPr sz="2400" spc="-50" dirty="0">
                <a:latin typeface="Arial"/>
                <a:cs typeface="Arial"/>
              </a:rPr>
              <a:t> </a:t>
            </a:r>
            <a:r>
              <a:rPr sz="2400" dirty="0">
                <a:latin typeface="Arial"/>
                <a:cs typeface="Arial"/>
              </a:rPr>
              <a:t>for</a:t>
            </a:r>
            <a:r>
              <a:rPr sz="2400" spc="-45" dirty="0">
                <a:latin typeface="Arial"/>
                <a:cs typeface="Arial"/>
              </a:rPr>
              <a:t> </a:t>
            </a:r>
            <a:r>
              <a:rPr sz="2400" dirty="0">
                <a:latin typeface="Arial"/>
                <a:cs typeface="Arial"/>
              </a:rPr>
              <a:t>learning</a:t>
            </a:r>
            <a:r>
              <a:rPr sz="2400" spc="-30" dirty="0">
                <a:latin typeface="Arial"/>
                <a:cs typeface="Arial"/>
              </a:rPr>
              <a:t> </a:t>
            </a:r>
            <a:r>
              <a:rPr sz="2400" spc="-10" dirty="0">
                <a:latin typeface="Arial"/>
                <a:cs typeface="Arial"/>
              </a:rPr>
              <a:t>purposes</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Accountable</a:t>
            </a:r>
            <a:r>
              <a:rPr sz="2400" spc="-150" dirty="0">
                <a:latin typeface="Arial"/>
                <a:cs typeface="Arial"/>
              </a:rPr>
              <a:t> </a:t>
            </a:r>
            <a:r>
              <a:rPr sz="2400" spc="-25" dirty="0">
                <a:latin typeface="Arial"/>
                <a:cs typeface="Arial"/>
              </a:rPr>
              <a:t>for</a:t>
            </a:r>
            <a:endParaRPr sz="2400">
              <a:latin typeface="Arial"/>
              <a:cs typeface="Arial"/>
            </a:endParaRPr>
          </a:p>
          <a:p>
            <a:pPr marL="698500" lvl="1" indent="-228600">
              <a:lnSpc>
                <a:spcPct val="100000"/>
              </a:lnSpc>
              <a:spcBef>
                <a:spcPts val="1195"/>
              </a:spcBef>
              <a:buFont typeface="Courier New"/>
              <a:buChar char="o"/>
              <a:tabLst>
                <a:tab pos="698500" algn="l"/>
              </a:tabLst>
            </a:pPr>
            <a:r>
              <a:rPr sz="2200" dirty="0">
                <a:latin typeface="Arial"/>
                <a:cs typeface="Arial"/>
              </a:rPr>
              <a:t>Using</a:t>
            </a:r>
            <a:r>
              <a:rPr sz="2200" spc="-60" dirty="0">
                <a:latin typeface="Arial"/>
                <a:cs typeface="Arial"/>
              </a:rPr>
              <a:t> </a:t>
            </a:r>
            <a:r>
              <a:rPr sz="2200" dirty="0">
                <a:latin typeface="Arial"/>
                <a:cs typeface="Arial"/>
              </a:rPr>
              <a:t>such</a:t>
            </a:r>
            <a:r>
              <a:rPr sz="2200" spc="-65" dirty="0">
                <a:latin typeface="Arial"/>
                <a:cs typeface="Arial"/>
              </a:rPr>
              <a:t> </a:t>
            </a:r>
            <a:r>
              <a:rPr sz="2200" dirty="0">
                <a:latin typeface="Arial"/>
                <a:cs typeface="Arial"/>
              </a:rPr>
              <a:t>tools</a:t>
            </a:r>
            <a:r>
              <a:rPr sz="2200" spc="-55" dirty="0">
                <a:latin typeface="Arial"/>
                <a:cs typeface="Arial"/>
              </a:rPr>
              <a:t> </a:t>
            </a:r>
            <a:r>
              <a:rPr sz="2200" dirty="0">
                <a:latin typeface="Arial"/>
                <a:cs typeface="Arial"/>
              </a:rPr>
              <a:t>in</a:t>
            </a:r>
            <a:r>
              <a:rPr sz="2200" spc="-50" dirty="0">
                <a:latin typeface="Arial"/>
                <a:cs typeface="Arial"/>
              </a:rPr>
              <a:t> </a:t>
            </a:r>
            <a:r>
              <a:rPr sz="2200" dirty="0">
                <a:latin typeface="Arial"/>
                <a:cs typeface="Arial"/>
              </a:rPr>
              <a:t>an</a:t>
            </a:r>
            <a:r>
              <a:rPr sz="2200" spc="-60" dirty="0">
                <a:latin typeface="Arial"/>
                <a:cs typeface="Arial"/>
              </a:rPr>
              <a:t> </a:t>
            </a:r>
            <a:r>
              <a:rPr sz="2200" dirty="0">
                <a:latin typeface="Arial"/>
                <a:cs typeface="Arial"/>
              </a:rPr>
              <a:t>ethical</a:t>
            </a:r>
            <a:r>
              <a:rPr sz="2200" spc="-65" dirty="0">
                <a:latin typeface="Arial"/>
                <a:cs typeface="Arial"/>
              </a:rPr>
              <a:t> </a:t>
            </a:r>
            <a:r>
              <a:rPr sz="2200" dirty="0">
                <a:latin typeface="Arial"/>
                <a:cs typeface="Arial"/>
              </a:rPr>
              <a:t>and</a:t>
            </a:r>
            <a:r>
              <a:rPr sz="2200" spc="-55" dirty="0">
                <a:latin typeface="Arial"/>
                <a:cs typeface="Arial"/>
              </a:rPr>
              <a:t> </a:t>
            </a:r>
            <a:r>
              <a:rPr sz="2200" dirty="0">
                <a:latin typeface="Arial"/>
                <a:cs typeface="Arial"/>
              </a:rPr>
              <a:t>responsible</a:t>
            </a:r>
            <a:r>
              <a:rPr sz="2200" spc="-60" dirty="0">
                <a:latin typeface="Arial"/>
                <a:cs typeface="Arial"/>
              </a:rPr>
              <a:t> </a:t>
            </a:r>
            <a:r>
              <a:rPr sz="2200" spc="-10" dirty="0">
                <a:latin typeface="Arial"/>
                <a:cs typeface="Arial"/>
              </a:rPr>
              <a:t>manner</a:t>
            </a:r>
            <a:endParaRPr sz="2200">
              <a:latin typeface="Arial"/>
              <a:cs typeface="Arial"/>
            </a:endParaRPr>
          </a:p>
          <a:p>
            <a:pPr marL="698500" marR="149860" lvl="1" indent="-228600">
              <a:lnSpc>
                <a:spcPct val="100000"/>
              </a:lnSpc>
              <a:spcBef>
                <a:spcPts val="1200"/>
              </a:spcBef>
              <a:buFont typeface="Courier New"/>
              <a:buChar char="o"/>
              <a:tabLst>
                <a:tab pos="698500" algn="l"/>
              </a:tabLst>
            </a:pPr>
            <a:r>
              <a:rPr sz="2200" dirty="0">
                <a:latin typeface="Arial"/>
                <a:cs typeface="Arial"/>
              </a:rPr>
              <a:t>Evaluating</a:t>
            </a:r>
            <a:r>
              <a:rPr sz="2200" spc="-80" dirty="0">
                <a:latin typeface="Arial"/>
                <a:cs typeface="Arial"/>
              </a:rPr>
              <a:t> </a:t>
            </a:r>
            <a:r>
              <a:rPr sz="2200" dirty="0">
                <a:latin typeface="Arial"/>
                <a:cs typeface="Arial"/>
              </a:rPr>
              <a:t>the</a:t>
            </a:r>
            <a:r>
              <a:rPr sz="2200" spc="-60" dirty="0">
                <a:latin typeface="Arial"/>
                <a:cs typeface="Arial"/>
              </a:rPr>
              <a:t> </a:t>
            </a:r>
            <a:r>
              <a:rPr sz="2200" spc="-20" dirty="0">
                <a:latin typeface="Arial"/>
                <a:cs typeface="Arial"/>
              </a:rPr>
              <a:t>accuracy,</a:t>
            </a:r>
            <a:r>
              <a:rPr sz="2200" spc="-80" dirty="0">
                <a:latin typeface="Arial"/>
                <a:cs typeface="Arial"/>
              </a:rPr>
              <a:t> </a:t>
            </a:r>
            <a:r>
              <a:rPr sz="2200" dirty="0">
                <a:latin typeface="Arial"/>
                <a:cs typeface="Arial"/>
              </a:rPr>
              <a:t>credibility</a:t>
            </a:r>
            <a:r>
              <a:rPr sz="2200" spc="-75" dirty="0">
                <a:latin typeface="Arial"/>
                <a:cs typeface="Arial"/>
              </a:rPr>
              <a:t> </a:t>
            </a:r>
            <a:r>
              <a:rPr sz="2200" dirty="0">
                <a:latin typeface="Arial"/>
                <a:cs typeface="Arial"/>
              </a:rPr>
              <a:t>and</a:t>
            </a:r>
            <a:r>
              <a:rPr sz="2200" spc="-75" dirty="0">
                <a:latin typeface="Arial"/>
                <a:cs typeface="Arial"/>
              </a:rPr>
              <a:t> </a:t>
            </a:r>
            <a:r>
              <a:rPr sz="2200" dirty="0">
                <a:latin typeface="Arial"/>
                <a:cs typeface="Arial"/>
              </a:rPr>
              <a:t>relevance</a:t>
            </a:r>
            <a:r>
              <a:rPr sz="2200" spc="-60" dirty="0">
                <a:latin typeface="Arial"/>
                <a:cs typeface="Arial"/>
              </a:rPr>
              <a:t> </a:t>
            </a:r>
            <a:r>
              <a:rPr sz="2200" dirty="0">
                <a:latin typeface="Arial"/>
                <a:cs typeface="Arial"/>
              </a:rPr>
              <a:t>of</a:t>
            </a:r>
            <a:r>
              <a:rPr sz="2200" spc="-80" dirty="0">
                <a:latin typeface="Arial"/>
                <a:cs typeface="Arial"/>
              </a:rPr>
              <a:t> </a:t>
            </a:r>
            <a:r>
              <a:rPr sz="2200" dirty="0">
                <a:latin typeface="Arial"/>
                <a:cs typeface="Arial"/>
              </a:rPr>
              <a:t>the</a:t>
            </a:r>
            <a:r>
              <a:rPr sz="2200" spc="-55" dirty="0">
                <a:latin typeface="Arial"/>
                <a:cs typeface="Arial"/>
              </a:rPr>
              <a:t> </a:t>
            </a:r>
            <a:r>
              <a:rPr sz="2200" dirty="0">
                <a:latin typeface="Arial"/>
                <a:cs typeface="Arial"/>
              </a:rPr>
              <a:t>response</a:t>
            </a:r>
            <a:r>
              <a:rPr sz="2200" spc="-70" dirty="0">
                <a:latin typeface="Arial"/>
                <a:cs typeface="Arial"/>
              </a:rPr>
              <a:t> </a:t>
            </a:r>
            <a:r>
              <a:rPr sz="2200" dirty="0">
                <a:latin typeface="Arial"/>
                <a:cs typeface="Arial"/>
              </a:rPr>
              <a:t>generated</a:t>
            </a:r>
            <a:r>
              <a:rPr sz="2200" spc="-65" dirty="0">
                <a:latin typeface="Arial"/>
                <a:cs typeface="Arial"/>
              </a:rPr>
              <a:t> </a:t>
            </a:r>
            <a:r>
              <a:rPr sz="2200" spc="-25" dirty="0">
                <a:latin typeface="Arial"/>
                <a:cs typeface="Arial"/>
              </a:rPr>
              <a:t>by </a:t>
            </a:r>
            <a:r>
              <a:rPr sz="2200" spc="-10" dirty="0">
                <a:latin typeface="Arial"/>
                <a:cs typeface="Arial"/>
              </a:rPr>
              <a:t>the</a:t>
            </a:r>
            <a:r>
              <a:rPr sz="2200" spc="-125" dirty="0">
                <a:latin typeface="Arial"/>
                <a:cs typeface="Arial"/>
              </a:rPr>
              <a:t> </a:t>
            </a:r>
            <a:r>
              <a:rPr sz="2200" dirty="0">
                <a:latin typeface="Arial"/>
                <a:cs typeface="Arial"/>
              </a:rPr>
              <a:t>AI</a:t>
            </a:r>
            <a:r>
              <a:rPr sz="2200" spc="-15" dirty="0">
                <a:latin typeface="Arial"/>
                <a:cs typeface="Arial"/>
              </a:rPr>
              <a:t> </a:t>
            </a:r>
            <a:r>
              <a:rPr sz="2200" spc="-20" dirty="0">
                <a:latin typeface="Arial"/>
                <a:cs typeface="Arial"/>
              </a:rPr>
              <a:t>tool</a:t>
            </a:r>
            <a:endParaRPr sz="2200">
              <a:latin typeface="Arial"/>
              <a:cs typeface="Arial"/>
            </a:endParaRPr>
          </a:p>
          <a:p>
            <a:pPr marL="698500" marR="5080" lvl="1" indent="-228600">
              <a:lnSpc>
                <a:spcPct val="100000"/>
              </a:lnSpc>
              <a:spcBef>
                <a:spcPts val="1205"/>
              </a:spcBef>
              <a:buFont typeface="Courier New"/>
              <a:buChar char="o"/>
              <a:tabLst>
                <a:tab pos="698500" algn="l"/>
              </a:tabLst>
            </a:pPr>
            <a:r>
              <a:rPr sz="2200" spc="-10" dirty="0">
                <a:latin typeface="Arial"/>
                <a:cs typeface="Arial"/>
              </a:rPr>
              <a:t>Understanding</a:t>
            </a:r>
            <a:r>
              <a:rPr sz="2200" spc="-55" dirty="0">
                <a:latin typeface="Arial"/>
                <a:cs typeface="Arial"/>
              </a:rPr>
              <a:t> </a:t>
            </a:r>
            <a:r>
              <a:rPr sz="2200" dirty="0">
                <a:latin typeface="Arial"/>
                <a:cs typeface="Arial"/>
              </a:rPr>
              <a:t>the</a:t>
            </a:r>
            <a:r>
              <a:rPr sz="2200" spc="-50" dirty="0">
                <a:latin typeface="Arial"/>
                <a:cs typeface="Arial"/>
              </a:rPr>
              <a:t> </a:t>
            </a:r>
            <a:r>
              <a:rPr sz="2200" dirty="0">
                <a:latin typeface="Arial"/>
                <a:cs typeface="Arial"/>
              </a:rPr>
              <a:t>types</a:t>
            </a:r>
            <a:r>
              <a:rPr sz="2200" spc="-35" dirty="0">
                <a:latin typeface="Arial"/>
                <a:cs typeface="Arial"/>
              </a:rPr>
              <a:t> </a:t>
            </a:r>
            <a:r>
              <a:rPr sz="2200" dirty="0">
                <a:latin typeface="Arial"/>
                <a:cs typeface="Arial"/>
              </a:rPr>
              <a:t>of</a:t>
            </a:r>
            <a:r>
              <a:rPr sz="2200" spc="-55" dirty="0">
                <a:latin typeface="Arial"/>
                <a:cs typeface="Arial"/>
              </a:rPr>
              <a:t> </a:t>
            </a:r>
            <a:r>
              <a:rPr sz="2200" dirty="0">
                <a:latin typeface="Arial"/>
                <a:cs typeface="Arial"/>
              </a:rPr>
              <a:t>tasks</a:t>
            </a:r>
            <a:r>
              <a:rPr sz="2200" spc="-55" dirty="0">
                <a:latin typeface="Arial"/>
                <a:cs typeface="Arial"/>
              </a:rPr>
              <a:t> </a:t>
            </a:r>
            <a:r>
              <a:rPr sz="2200" dirty="0">
                <a:latin typeface="Arial"/>
                <a:cs typeface="Arial"/>
              </a:rPr>
              <a:t>that</a:t>
            </a:r>
            <a:r>
              <a:rPr sz="2200" spc="-55" dirty="0">
                <a:latin typeface="Arial"/>
                <a:cs typeface="Arial"/>
              </a:rPr>
              <a:t> </a:t>
            </a:r>
            <a:r>
              <a:rPr sz="2200" spc="-10" dirty="0">
                <a:latin typeface="Arial"/>
                <a:cs typeface="Arial"/>
              </a:rPr>
              <a:t>the</a:t>
            </a:r>
            <a:r>
              <a:rPr sz="2200" spc="-145" dirty="0">
                <a:latin typeface="Arial"/>
                <a:cs typeface="Arial"/>
              </a:rPr>
              <a:t> </a:t>
            </a:r>
            <a:r>
              <a:rPr sz="2200" dirty="0">
                <a:latin typeface="Arial"/>
                <a:cs typeface="Arial"/>
              </a:rPr>
              <a:t>AI</a:t>
            </a:r>
            <a:r>
              <a:rPr sz="2200" spc="-55" dirty="0">
                <a:latin typeface="Arial"/>
                <a:cs typeface="Arial"/>
              </a:rPr>
              <a:t> </a:t>
            </a:r>
            <a:r>
              <a:rPr sz="2200" dirty="0">
                <a:latin typeface="Arial"/>
                <a:cs typeface="Arial"/>
              </a:rPr>
              <a:t>tool</a:t>
            </a:r>
            <a:r>
              <a:rPr sz="2200" spc="-50" dirty="0">
                <a:latin typeface="Arial"/>
                <a:cs typeface="Arial"/>
              </a:rPr>
              <a:t> </a:t>
            </a:r>
            <a:r>
              <a:rPr sz="2200" dirty="0">
                <a:latin typeface="Arial"/>
                <a:cs typeface="Arial"/>
              </a:rPr>
              <a:t>is</a:t>
            </a:r>
            <a:r>
              <a:rPr sz="2200" spc="-45" dirty="0">
                <a:latin typeface="Arial"/>
                <a:cs typeface="Arial"/>
              </a:rPr>
              <a:t> </a:t>
            </a:r>
            <a:r>
              <a:rPr sz="2200" dirty="0">
                <a:latin typeface="Arial"/>
                <a:cs typeface="Arial"/>
              </a:rPr>
              <a:t>appropriate</a:t>
            </a:r>
            <a:r>
              <a:rPr sz="2200" spc="-40" dirty="0">
                <a:latin typeface="Arial"/>
                <a:cs typeface="Arial"/>
              </a:rPr>
              <a:t> </a:t>
            </a:r>
            <a:r>
              <a:rPr sz="2200" dirty="0">
                <a:latin typeface="Arial"/>
                <a:cs typeface="Arial"/>
              </a:rPr>
              <a:t>for,</a:t>
            </a:r>
            <a:r>
              <a:rPr sz="2200" spc="-55" dirty="0">
                <a:latin typeface="Arial"/>
                <a:cs typeface="Arial"/>
              </a:rPr>
              <a:t> </a:t>
            </a:r>
            <a:r>
              <a:rPr sz="2200" dirty="0">
                <a:latin typeface="Arial"/>
                <a:cs typeface="Arial"/>
              </a:rPr>
              <a:t>the</a:t>
            </a:r>
            <a:r>
              <a:rPr sz="2200" spc="-40" dirty="0">
                <a:latin typeface="Arial"/>
                <a:cs typeface="Arial"/>
              </a:rPr>
              <a:t> </a:t>
            </a:r>
            <a:r>
              <a:rPr sz="2200" spc="-10" dirty="0">
                <a:latin typeface="Arial"/>
                <a:cs typeface="Arial"/>
              </a:rPr>
              <a:t>limitations </a:t>
            </a:r>
            <a:r>
              <a:rPr sz="2200" dirty="0">
                <a:latin typeface="Arial"/>
                <a:cs typeface="Arial"/>
              </a:rPr>
              <a:t>of</a:t>
            </a:r>
            <a:r>
              <a:rPr sz="2200" spc="-60" dirty="0">
                <a:latin typeface="Arial"/>
                <a:cs typeface="Arial"/>
              </a:rPr>
              <a:t> </a:t>
            </a:r>
            <a:r>
              <a:rPr sz="2200" dirty="0">
                <a:latin typeface="Arial"/>
                <a:cs typeface="Arial"/>
              </a:rPr>
              <a:t>the</a:t>
            </a:r>
            <a:r>
              <a:rPr sz="2200" spc="-45" dirty="0">
                <a:latin typeface="Arial"/>
                <a:cs typeface="Arial"/>
              </a:rPr>
              <a:t> </a:t>
            </a:r>
            <a:r>
              <a:rPr sz="2200" dirty="0">
                <a:latin typeface="Arial"/>
                <a:cs typeface="Arial"/>
              </a:rPr>
              <a:t>tool</a:t>
            </a:r>
            <a:r>
              <a:rPr sz="2200" spc="-55" dirty="0">
                <a:latin typeface="Arial"/>
                <a:cs typeface="Arial"/>
              </a:rPr>
              <a:t> </a:t>
            </a:r>
            <a:r>
              <a:rPr sz="2200" dirty="0">
                <a:latin typeface="Arial"/>
                <a:cs typeface="Arial"/>
              </a:rPr>
              <a:t>and</a:t>
            </a:r>
            <a:r>
              <a:rPr sz="2200" spc="-35" dirty="0">
                <a:latin typeface="Arial"/>
                <a:cs typeface="Arial"/>
              </a:rPr>
              <a:t> </a:t>
            </a:r>
            <a:r>
              <a:rPr sz="2200" dirty="0">
                <a:latin typeface="Arial"/>
                <a:cs typeface="Arial"/>
              </a:rPr>
              <a:t>how</a:t>
            </a:r>
            <a:r>
              <a:rPr sz="2200" spc="-55" dirty="0">
                <a:latin typeface="Arial"/>
                <a:cs typeface="Arial"/>
              </a:rPr>
              <a:t> </a:t>
            </a:r>
            <a:r>
              <a:rPr sz="2200" dirty="0">
                <a:latin typeface="Arial"/>
                <a:cs typeface="Arial"/>
              </a:rPr>
              <a:t>the</a:t>
            </a:r>
            <a:r>
              <a:rPr sz="2200" spc="-155" dirty="0">
                <a:latin typeface="Arial"/>
                <a:cs typeface="Arial"/>
              </a:rPr>
              <a:t> </a:t>
            </a:r>
            <a:r>
              <a:rPr sz="2200" dirty="0">
                <a:latin typeface="Arial"/>
                <a:cs typeface="Arial"/>
              </a:rPr>
              <a:t>AI-generated</a:t>
            </a:r>
            <a:r>
              <a:rPr sz="2200" spc="-25" dirty="0">
                <a:latin typeface="Arial"/>
                <a:cs typeface="Arial"/>
              </a:rPr>
              <a:t> </a:t>
            </a:r>
            <a:r>
              <a:rPr sz="2200" dirty="0">
                <a:latin typeface="Arial"/>
                <a:cs typeface="Arial"/>
              </a:rPr>
              <a:t>response</a:t>
            </a:r>
            <a:r>
              <a:rPr sz="2200" spc="-45" dirty="0">
                <a:latin typeface="Arial"/>
                <a:cs typeface="Arial"/>
              </a:rPr>
              <a:t> </a:t>
            </a:r>
            <a:r>
              <a:rPr sz="2200" dirty="0">
                <a:latin typeface="Arial"/>
                <a:cs typeface="Arial"/>
              </a:rPr>
              <a:t>could</a:t>
            </a:r>
            <a:r>
              <a:rPr sz="2200" spc="-50" dirty="0">
                <a:latin typeface="Arial"/>
                <a:cs typeface="Arial"/>
              </a:rPr>
              <a:t> </a:t>
            </a:r>
            <a:r>
              <a:rPr sz="2200" dirty="0">
                <a:latin typeface="Arial"/>
                <a:cs typeface="Arial"/>
              </a:rPr>
              <a:t>aid</a:t>
            </a:r>
            <a:r>
              <a:rPr sz="2200" spc="-60" dirty="0">
                <a:latin typeface="Arial"/>
                <a:cs typeface="Arial"/>
              </a:rPr>
              <a:t> </a:t>
            </a:r>
            <a:r>
              <a:rPr sz="2200" dirty="0">
                <a:latin typeface="Arial"/>
                <a:cs typeface="Arial"/>
              </a:rPr>
              <a:t>in</a:t>
            </a:r>
            <a:r>
              <a:rPr sz="2200" spc="-50" dirty="0">
                <a:latin typeface="Arial"/>
                <a:cs typeface="Arial"/>
              </a:rPr>
              <a:t> </a:t>
            </a:r>
            <a:r>
              <a:rPr sz="2200" dirty="0">
                <a:latin typeface="Arial"/>
                <a:cs typeface="Arial"/>
              </a:rPr>
              <a:t>your</a:t>
            </a:r>
            <a:r>
              <a:rPr sz="2200" spc="-40" dirty="0">
                <a:latin typeface="Arial"/>
                <a:cs typeface="Arial"/>
              </a:rPr>
              <a:t> </a:t>
            </a:r>
            <a:r>
              <a:rPr sz="2200" spc="-10" dirty="0">
                <a:latin typeface="Arial"/>
                <a:cs typeface="Arial"/>
              </a:rPr>
              <a:t>learning.*</a:t>
            </a:r>
            <a:endParaRPr sz="2200">
              <a:latin typeface="Arial"/>
              <a:cs typeface="Arial"/>
            </a:endParaRPr>
          </a:p>
          <a:p>
            <a:pPr marL="469900">
              <a:lnSpc>
                <a:spcPct val="100000"/>
              </a:lnSpc>
              <a:spcBef>
                <a:spcPts val="1200"/>
              </a:spcBef>
            </a:pPr>
            <a:r>
              <a:rPr sz="2200" dirty="0">
                <a:latin typeface="Arial"/>
                <a:cs typeface="Arial"/>
              </a:rPr>
              <a:t>*Consult</a:t>
            </a:r>
            <a:r>
              <a:rPr sz="2200" spc="-55" dirty="0">
                <a:latin typeface="Arial"/>
                <a:cs typeface="Arial"/>
              </a:rPr>
              <a:t> </a:t>
            </a:r>
            <a:r>
              <a:rPr sz="2200" dirty="0">
                <a:latin typeface="Arial"/>
                <a:cs typeface="Arial"/>
              </a:rPr>
              <a:t>your</a:t>
            </a:r>
            <a:r>
              <a:rPr sz="2200" spc="-35" dirty="0">
                <a:latin typeface="Arial"/>
                <a:cs typeface="Arial"/>
              </a:rPr>
              <a:t> </a:t>
            </a:r>
            <a:r>
              <a:rPr sz="2200" dirty="0">
                <a:latin typeface="Arial"/>
                <a:cs typeface="Arial"/>
              </a:rPr>
              <a:t>lecturers</a:t>
            </a:r>
            <a:r>
              <a:rPr sz="2200" spc="-45" dirty="0">
                <a:latin typeface="Arial"/>
                <a:cs typeface="Arial"/>
              </a:rPr>
              <a:t> </a:t>
            </a:r>
            <a:r>
              <a:rPr sz="2200" dirty="0">
                <a:latin typeface="Arial"/>
                <a:cs typeface="Arial"/>
              </a:rPr>
              <a:t>for</a:t>
            </a:r>
            <a:r>
              <a:rPr sz="2200" spc="-35" dirty="0">
                <a:latin typeface="Arial"/>
                <a:cs typeface="Arial"/>
              </a:rPr>
              <a:t> </a:t>
            </a:r>
            <a:r>
              <a:rPr sz="2200" dirty="0">
                <a:latin typeface="Arial"/>
                <a:cs typeface="Arial"/>
              </a:rPr>
              <a:t>advice</a:t>
            </a:r>
            <a:r>
              <a:rPr sz="2200" spc="-50" dirty="0">
                <a:latin typeface="Arial"/>
                <a:cs typeface="Arial"/>
              </a:rPr>
              <a:t> </a:t>
            </a:r>
            <a:r>
              <a:rPr sz="2200" dirty="0">
                <a:latin typeface="Arial"/>
                <a:cs typeface="Arial"/>
              </a:rPr>
              <a:t>on</a:t>
            </a:r>
            <a:r>
              <a:rPr sz="2200" spc="-55" dirty="0">
                <a:latin typeface="Arial"/>
                <a:cs typeface="Arial"/>
              </a:rPr>
              <a:t> </a:t>
            </a:r>
            <a:r>
              <a:rPr sz="2200" dirty="0">
                <a:latin typeface="Arial"/>
                <a:cs typeface="Arial"/>
              </a:rPr>
              <a:t>the</a:t>
            </a:r>
            <a:r>
              <a:rPr sz="2200" spc="-35" dirty="0">
                <a:latin typeface="Arial"/>
                <a:cs typeface="Arial"/>
              </a:rPr>
              <a:t> </a:t>
            </a:r>
            <a:r>
              <a:rPr sz="2200" dirty="0">
                <a:latin typeface="Arial"/>
                <a:cs typeface="Arial"/>
              </a:rPr>
              <a:t>use</a:t>
            </a:r>
            <a:r>
              <a:rPr sz="2200" spc="-50" dirty="0">
                <a:latin typeface="Arial"/>
                <a:cs typeface="Arial"/>
              </a:rPr>
              <a:t> </a:t>
            </a:r>
            <a:r>
              <a:rPr sz="2200" dirty="0">
                <a:latin typeface="Arial"/>
                <a:cs typeface="Arial"/>
              </a:rPr>
              <a:t>of</a:t>
            </a:r>
            <a:r>
              <a:rPr sz="2200" spc="-50" dirty="0">
                <a:latin typeface="Arial"/>
                <a:cs typeface="Arial"/>
              </a:rPr>
              <a:t> </a:t>
            </a:r>
            <a:r>
              <a:rPr sz="2200" dirty="0">
                <a:latin typeface="Arial"/>
                <a:cs typeface="Arial"/>
              </a:rPr>
              <a:t>such</a:t>
            </a:r>
            <a:r>
              <a:rPr sz="2200" spc="-55" dirty="0">
                <a:latin typeface="Arial"/>
                <a:cs typeface="Arial"/>
              </a:rPr>
              <a:t> </a:t>
            </a:r>
            <a:r>
              <a:rPr sz="2200" dirty="0">
                <a:latin typeface="Arial"/>
                <a:cs typeface="Arial"/>
              </a:rPr>
              <a:t>tools</a:t>
            </a:r>
            <a:r>
              <a:rPr sz="2200" spc="-40" dirty="0">
                <a:latin typeface="Arial"/>
                <a:cs typeface="Arial"/>
              </a:rPr>
              <a:t> </a:t>
            </a:r>
            <a:r>
              <a:rPr sz="2200" dirty="0">
                <a:latin typeface="Arial"/>
                <a:cs typeface="Arial"/>
              </a:rPr>
              <a:t>when</a:t>
            </a:r>
            <a:r>
              <a:rPr sz="2200" spc="-45" dirty="0">
                <a:latin typeface="Arial"/>
                <a:cs typeface="Arial"/>
              </a:rPr>
              <a:t> </a:t>
            </a:r>
            <a:r>
              <a:rPr sz="2200" dirty="0">
                <a:latin typeface="Arial"/>
                <a:cs typeface="Arial"/>
              </a:rPr>
              <a:t>in</a:t>
            </a:r>
            <a:r>
              <a:rPr sz="2200" spc="-40" dirty="0">
                <a:latin typeface="Arial"/>
                <a:cs typeface="Arial"/>
              </a:rPr>
              <a:t> </a:t>
            </a:r>
            <a:r>
              <a:rPr sz="2200" spc="-10" dirty="0">
                <a:latin typeface="Arial"/>
                <a:cs typeface="Arial"/>
              </a:rPr>
              <a:t>doubt.</a:t>
            </a:r>
            <a:endParaRPr sz="22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14</a:t>
            </a:fld>
            <a:endParaRPr spc="-25" dirty="0"/>
          </a:p>
        </p:txBody>
      </p:sp>
      <p:sp>
        <p:nvSpPr>
          <p:cNvPr id="6" name="object 6"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Using</a:t>
            </a:r>
            <a:r>
              <a:rPr spc="-110" dirty="0"/>
              <a:t> </a:t>
            </a:r>
            <a:r>
              <a:rPr dirty="0"/>
              <a:t>AI</a:t>
            </a:r>
            <a:r>
              <a:rPr spc="-95" dirty="0"/>
              <a:t> </a:t>
            </a:r>
            <a:r>
              <a:rPr dirty="0"/>
              <a:t>Tool</a:t>
            </a:r>
            <a:r>
              <a:rPr spc="-100" dirty="0"/>
              <a:t> </a:t>
            </a:r>
            <a:r>
              <a:rPr dirty="0"/>
              <a:t>for</a:t>
            </a:r>
            <a:r>
              <a:rPr spc="-90" dirty="0"/>
              <a:t> </a:t>
            </a:r>
            <a:r>
              <a:rPr spc="-10" dirty="0"/>
              <a:t>Learning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466469"/>
            <a:ext cx="10140315" cy="3592195"/>
          </a:xfrm>
          <a:prstGeom prst="rect">
            <a:avLst/>
          </a:prstGeom>
        </p:spPr>
        <p:txBody>
          <a:bodyPr vert="horz" wrap="square" lIns="0" tIns="165100" rIns="0" bIns="0" rtlCol="0">
            <a:spAutoFit/>
          </a:bodyPr>
          <a:lstStyle/>
          <a:p>
            <a:pPr marL="12700">
              <a:lnSpc>
                <a:spcPct val="100000"/>
              </a:lnSpc>
              <a:spcBef>
                <a:spcPts val="1300"/>
              </a:spcBef>
            </a:pPr>
            <a:r>
              <a:rPr sz="2400" dirty="0">
                <a:latin typeface="Arial"/>
                <a:cs typeface="Arial"/>
              </a:rPr>
              <a:t>Examples</a:t>
            </a:r>
            <a:r>
              <a:rPr sz="2400" spc="-20" dirty="0">
                <a:latin typeface="Arial"/>
                <a:cs typeface="Arial"/>
              </a:rPr>
              <a:t> </a:t>
            </a:r>
            <a:r>
              <a:rPr sz="2400" dirty="0">
                <a:latin typeface="Arial"/>
                <a:cs typeface="Arial"/>
              </a:rPr>
              <a:t>of</a:t>
            </a:r>
            <a:r>
              <a:rPr sz="2400" spc="-40" dirty="0">
                <a:latin typeface="Arial"/>
                <a:cs typeface="Arial"/>
              </a:rPr>
              <a:t> </a:t>
            </a:r>
            <a:r>
              <a:rPr sz="2400" dirty="0">
                <a:latin typeface="Arial"/>
                <a:cs typeface="Arial"/>
              </a:rPr>
              <a:t>appropriate</a:t>
            </a:r>
            <a:r>
              <a:rPr sz="2400" spc="-10" dirty="0">
                <a:latin typeface="Arial"/>
                <a:cs typeface="Arial"/>
              </a:rPr>
              <a:t> </a:t>
            </a:r>
            <a:r>
              <a:rPr sz="2400" dirty="0">
                <a:latin typeface="Arial"/>
                <a:cs typeface="Arial"/>
              </a:rPr>
              <a:t>use</a:t>
            </a:r>
            <a:r>
              <a:rPr sz="2400" spc="-40" dirty="0">
                <a:latin typeface="Arial"/>
                <a:cs typeface="Arial"/>
              </a:rPr>
              <a:t> </a:t>
            </a:r>
            <a:r>
              <a:rPr sz="2400" dirty="0">
                <a:latin typeface="Arial"/>
                <a:cs typeface="Arial"/>
              </a:rPr>
              <a:t>of</a:t>
            </a:r>
            <a:r>
              <a:rPr sz="2400" spc="-165" dirty="0">
                <a:latin typeface="Arial"/>
                <a:cs typeface="Arial"/>
              </a:rPr>
              <a:t> </a:t>
            </a:r>
            <a:r>
              <a:rPr sz="2400" dirty="0">
                <a:latin typeface="Arial"/>
                <a:cs typeface="Arial"/>
              </a:rPr>
              <a:t>AI</a:t>
            </a:r>
            <a:r>
              <a:rPr sz="2400" spc="-40" dirty="0">
                <a:latin typeface="Arial"/>
                <a:cs typeface="Arial"/>
              </a:rPr>
              <a:t> </a:t>
            </a:r>
            <a:r>
              <a:rPr sz="2400" dirty="0">
                <a:latin typeface="Arial"/>
                <a:cs typeface="Arial"/>
              </a:rPr>
              <a:t>tools</a:t>
            </a:r>
            <a:r>
              <a:rPr sz="2400" spc="-40" dirty="0">
                <a:latin typeface="Arial"/>
                <a:cs typeface="Arial"/>
              </a:rPr>
              <a:t> </a:t>
            </a:r>
            <a:r>
              <a:rPr sz="2400" dirty="0">
                <a:latin typeface="Arial"/>
                <a:cs typeface="Arial"/>
              </a:rPr>
              <a:t>for</a:t>
            </a:r>
            <a:r>
              <a:rPr sz="2400" spc="-50" dirty="0">
                <a:latin typeface="Arial"/>
                <a:cs typeface="Arial"/>
              </a:rPr>
              <a:t> </a:t>
            </a:r>
            <a:r>
              <a:rPr sz="2400" spc="-10" dirty="0">
                <a:latin typeface="Arial"/>
                <a:cs typeface="Arial"/>
              </a:rPr>
              <a:t>learning:</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Engage</a:t>
            </a:r>
            <a:r>
              <a:rPr sz="2400" spc="-70" dirty="0">
                <a:latin typeface="Arial"/>
                <a:cs typeface="Arial"/>
              </a:rPr>
              <a:t> </a:t>
            </a:r>
            <a:r>
              <a:rPr sz="2400" dirty="0">
                <a:latin typeface="Arial"/>
                <a:cs typeface="Arial"/>
              </a:rPr>
              <a:t>in</a:t>
            </a:r>
            <a:r>
              <a:rPr sz="2400" spc="-65" dirty="0">
                <a:latin typeface="Arial"/>
                <a:cs typeface="Arial"/>
              </a:rPr>
              <a:t> </a:t>
            </a:r>
            <a:r>
              <a:rPr sz="2400" spc="-10" dirty="0">
                <a:latin typeface="Arial"/>
                <a:cs typeface="Arial"/>
              </a:rPr>
              <a:t>self-</a:t>
            </a:r>
            <a:r>
              <a:rPr sz="2400" dirty="0">
                <a:latin typeface="Arial"/>
                <a:cs typeface="Arial"/>
              </a:rPr>
              <a:t>directed</a:t>
            </a:r>
            <a:r>
              <a:rPr sz="2400" spc="-50" dirty="0">
                <a:latin typeface="Arial"/>
                <a:cs typeface="Arial"/>
              </a:rPr>
              <a:t> </a:t>
            </a:r>
            <a:r>
              <a:rPr sz="2400" dirty="0">
                <a:latin typeface="Arial"/>
                <a:cs typeface="Arial"/>
              </a:rPr>
              <a:t>learning</a:t>
            </a:r>
            <a:r>
              <a:rPr sz="2400" spc="-25" dirty="0">
                <a:latin typeface="Arial"/>
                <a:cs typeface="Arial"/>
              </a:rPr>
              <a:t> </a:t>
            </a:r>
            <a:r>
              <a:rPr sz="2400" dirty="0">
                <a:latin typeface="Arial"/>
                <a:cs typeface="Arial"/>
              </a:rPr>
              <a:t>by</a:t>
            </a:r>
            <a:r>
              <a:rPr sz="2400" spc="-55" dirty="0">
                <a:latin typeface="Arial"/>
                <a:cs typeface="Arial"/>
              </a:rPr>
              <a:t> </a:t>
            </a:r>
            <a:r>
              <a:rPr sz="2400" dirty="0">
                <a:latin typeface="Arial"/>
                <a:cs typeface="Arial"/>
              </a:rPr>
              <a:t>using</a:t>
            </a:r>
            <a:r>
              <a:rPr sz="2400" spc="-55" dirty="0">
                <a:latin typeface="Arial"/>
                <a:cs typeface="Arial"/>
              </a:rPr>
              <a:t> </a:t>
            </a:r>
            <a:r>
              <a:rPr sz="2400" spc="-10" dirty="0">
                <a:latin typeface="Arial"/>
                <a:cs typeface="Arial"/>
              </a:rPr>
              <a:t>the</a:t>
            </a:r>
            <a:r>
              <a:rPr sz="2400" spc="-155" dirty="0">
                <a:latin typeface="Arial"/>
                <a:cs typeface="Arial"/>
              </a:rPr>
              <a:t> </a:t>
            </a:r>
            <a:r>
              <a:rPr sz="2400" dirty="0">
                <a:latin typeface="Arial"/>
                <a:cs typeface="Arial"/>
              </a:rPr>
              <a:t>AI</a:t>
            </a:r>
            <a:r>
              <a:rPr sz="2400" spc="-65" dirty="0">
                <a:latin typeface="Arial"/>
                <a:cs typeface="Arial"/>
              </a:rPr>
              <a:t> </a:t>
            </a:r>
            <a:r>
              <a:rPr sz="2400" dirty="0">
                <a:latin typeface="Arial"/>
                <a:cs typeface="Arial"/>
              </a:rPr>
              <a:t>tool</a:t>
            </a:r>
            <a:r>
              <a:rPr sz="2400" spc="-55" dirty="0">
                <a:latin typeface="Arial"/>
                <a:cs typeface="Arial"/>
              </a:rPr>
              <a:t> </a:t>
            </a:r>
            <a:r>
              <a:rPr sz="2400" spc="-25" dirty="0">
                <a:latin typeface="Arial"/>
                <a:cs typeface="Arial"/>
              </a:rPr>
              <a:t>to:</a:t>
            </a:r>
            <a:endParaRPr sz="2400">
              <a:latin typeface="Arial"/>
              <a:cs typeface="Arial"/>
            </a:endParaRPr>
          </a:p>
          <a:p>
            <a:pPr marL="698500" lvl="1" indent="-228600">
              <a:lnSpc>
                <a:spcPct val="100000"/>
              </a:lnSpc>
              <a:spcBef>
                <a:spcPts val="1195"/>
              </a:spcBef>
              <a:buFont typeface="Courier New"/>
              <a:buChar char="o"/>
              <a:tabLst>
                <a:tab pos="698500" algn="l"/>
              </a:tabLst>
            </a:pPr>
            <a:r>
              <a:rPr sz="2200" dirty="0">
                <a:latin typeface="Arial"/>
                <a:cs typeface="Arial"/>
              </a:rPr>
              <a:t>Generate</a:t>
            </a:r>
            <a:r>
              <a:rPr sz="2200" spc="-55" dirty="0">
                <a:latin typeface="Arial"/>
                <a:cs typeface="Arial"/>
              </a:rPr>
              <a:t> </a:t>
            </a:r>
            <a:r>
              <a:rPr sz="2200" dirty="0">
                <a:latin typeface="Arial"/>
                <a:cs typeface="Arial"/>
              </a:rPr>
              <a:t>responses</a:t>
            </a:r>
            <a:r>
              <a:rPr sz="2200" spc="-70" dirty="0">
                <a:latin typeface="Arial"/>
                <a:cs typeface="Arial"/>
              </a:rPr>
              <a:t> </a:t>
            </a:r>
            <a:r>
              <a:rPr sz="2200" dirty="0">
                <a:latin typeface="Arial"/>
                <a:cs typeface="Arial"/>
              </a:rPr>
              <a:t>to</a:t>
            </a:r>
            <a:r>
              <a:rPr sz="2200" spc="-75" dirty="0">
                <a:latin typeface="Arial"/>
                <a:cs typeface="Arial"/>
              </a:rPr>
              <a:t> </a:t>
            </a:r>
            <a:r>
              <a:rPr sz="2200" dirty="0">
                <a:latin typeface="Arial"/>
                <a:cs typeface="Arial"/>
              </a:rPr>
              <a:t>questions</a:t>
            </a:r>
            <a:r>
              <a:rPr sz="2200" spc="-80" dirty="0">
                <a:latin typeface="Arial"/>
                <a:cs typeface="Arial"/>
              </a:rPr>
              <a:t> </a:t>
            </a:r>
            <a:r>
              <a:rPr sz="2200" dirty="0">
                <a:latin typeface="Arial"/>
                <a:cs typeface="Arial"/>
              </a:rPr>
              <a:t>that</a:t>
            </a:r>
            <a:r>
              <a:rPr sz="2200" spc="-65" dirty="0">
                <a:latin typeface="Arial"/>
                <a:cs typeface="Arial"/>
              </a:rPr>
              <a:t> </a:t>
            </a:r>
            <a:r>
              <a:rPr sz="2200" dirty="0">
                <a:latin typeface="Arial"/>
                <a:cs typeface="Arial"/>
              </a:rPr>
              <a:t>you</a:t>
            </a:r>
            <a:r>
              <a:rPr sz="2200" spc="-80" dirty="0">
                <a:latin typeface="Arial"/>
                <a:cs typeface="Arial"/>
              </a:rPr>
              <a:t> </a:t>
            </a:r>
            <a:r>
              <a:rPr sz="2200" dirty="0">
                <a:latin typeface="Arial"/>
                <a:cs typeface="Arial"/>
              </a:rPr>
              <a:t>may</a:t>
            </a:r>
            <a:r>
              <a:rPr sz="2200" spc="-60" dirty="0">
                <a:latin typeface="Arial"/>
                <a:cs typeface="Arial"/>
              </a:rPr>
              <a:t> </a:t>
            </a:r>
            <a:r>
              <a:rPr sz="2200" dirty="0">
                <a:latin typeface="Arial"/>
                <a:cs typeface="Arial"/>
              </a:rPr>
              <a:t>have</a:t>
            </a:r>
            <a:r>
              <a:rPr sz="2200" spc="-70" dirty="0">
                <a:latin typeface="Arial"/>
                <a:cs typeface="Arial"/>
              </a:rPr>
              <a:t> </a:t>
            </a:r>
            <a:r>
              <a:rPr sz="2200" dirty="0">
                <a:latin typeface="Arial"/>
                <a:cs typeface="Arial"/>
              </a:rPr>
              <a:t>and</a:t>
            </a:r>
            <a:r>
              <a:rPr sz="2200" spc="-60" dirty="0">
                <a:latin typeface="Arial"/>
                <a:cs typeface="Arial"/>
              </a:rPr>
              <a:t> </a:t>
            </a:r>
            <a:r>
              <a:rPr sz="2200" dirty="0">
                <a:latin typeface="Arial"/>
                <a:cs typeface="Arial"/>
              </a:rPr>
              <a:t>verifying</a:t>
            </a:r>
            <a:r>
              <a:rPr sz="2200" spc="-60" dirty="0">
                <a:latin typeface="Arial"/>
                <a:cs typeface="Arial"/>
              </a:rPr>
              <a:t> </a:t>
            </a:r>
            <a:r>
              <a:rPr sz="2200" spc="-25" dirty="0">
                <a:latin typeface="Arial"/>
                <a:cs typeface="Arial"/>
              </a:rPr>
              <a:t>the</a:t>
            </a:r>
            <a:endParaRPr sz="2200">
              <a:latin typeface="Arial"/>
              <a:cs typeface="Arial"/>
            </a:endParaRPr>
          </a:p>
          <a:p>
            <a:pPr marL="698500">
              <a:lnSpc>
                <a:spcPct val="100000"/>
              </a:lnSpc>
            </a:pPr>
            <a:r>
              <a:rPr sz="2200" spc="-10" dirty="0">
                <a:latin typeface="Arial"/>
                <a:cs typeface="Arial"/>
              </a:rPr>
              <a:t>appropriateness</a:t>
            </a:r>
            <a:r>
              <a:rPr sz="2200" spc="-55" dirty="0">
                <a:latin typeface="Arial"/>
                <a:cs typeface="Arial"/>
              </a:rPr>
              <a:t> </a:t>
            </a:r>
            <a:r>
              <a:rPr sz="2200" dirty="0">
                <a:latin typeface="Arial"/>
                <a:cs typeface="Arial"/>
              </a:rPr>
              <a:t>and</a:t>
            </a:r>
            <a:r>
              <a:rPr sz="2200" spc="-55" dirty="0">
                <a:latin typeface="Arial"/>
                <a:cs typeface="Arial"/>
              </a:rPr>
              <a:t> </a:t>
            </a:r>
            <a:r>
              <a:rPr sz="2200" dirty="0">
                <a:latin typeface="Arial"/>
                <a:cs typeface="Arial"/>
              </a:rPr>
              <a:t>validity</a:t>
            </a:r>
            <a:r>
              <a:rPr sz="2200" spc="-70" dirty="0">
                <a:latin typeface="Arial"/>
                <a:cs typeface="Arial"/>
              </a:rPr>
              <a:t> </a:t>
            </a:r>
            <a:r>
              <a:rPr sz="2200" dirty="0">
                <a:latin typeface="Arial"/>
                <a:cs typeface="Arial"/>
              </a:rPr>
              <a:t>of</a:t>
            </a:r>
            <a:r>
              <a:rPr sz="2200" spc="-55" dirty="0">
                <a:latin typeface="Arial"/>
                <a:cs typeface="Arial"/>
              </a:rPr>
              <a:t> </a:t>
            </a:r>
            <a:r>
              <a:rPr sz="2200" dirty="0">
                <a:latin typeface="Arial"/>
                <a:cs typeface="Arial"/>
              </a:rPr>
              <a:t>these</a:t>
            </a:r>
            <a:r>
              <a:rPr sz="2200" spc="-60" dirty="0">
                <a:latin typeface="Arial"/>
                <a:cs typeface="Arial"/>
              </a:rPr>
              <a:t> </a:t>
            </a:r>
            <a:r>
              <a:rPr sz="2200" dirty="0">
                <a:latin typeface="Arial"/>
                <a:cs typeface="Arial"/>
              </a:rPr>
              <a:t>responses</a:t>
            </a:r>
            <a:r>
              <a:rPr sz="2200" spc="-60" dirty="0">
                <a:latin typeface="Arial"/>
                <a:cs typeface="Arial"/>
              </a:rPr>
              <a:t> </a:t>
            </a:r>
            <a:r>
              <a:rPr sz="2200" dirty="0">
                <a:latin typeface="Arial"/>
                <a:cs typeface="Arial"/>
              </a:rPr>
              <a:t>through</a:t>
            </a:r>
            <a:r>
              <a:rPr sz="2200" spc="-50" dirty="0">
                <a:latin typeface="Arial"/>
                <a:cs typeface="Arial"/>
              </a:rPr>
              <a:t> </a:t>
            </a:r>
            <a:r>
              <a:rPr sz="2200" dirty="0">
                <a:latin typeface="Arial"/>
                <a:cs typeface="Arial"/>
              </a:rPr>
              <a:t>further</a:t>
            </a:r>
            <a:r>
              <a:rPr sz="2200" spc="-55" dirty="0">
                <a:latin typeface="Arial"/>
                <a:cs typeface="Arial"/>
              </a:rPr>
              <a:t> </a:t>
            </a:r>
            <a:r>
              <a:rPr sz="2200" spc="-10" dirty="0">
                <a:latin typeface="Arial"/>
                <a:cs typeface="Arial"/>
              </a:rPr>
              <a:t>research</a:t>
            </a:r>
            <a:endParaRPr sz="2200">
              <a:latin typeface="Arial"/>
              <a:cs typeface="Arial"/>
            </a:endParaRPr>
          </a:p>
          <a:p>
            <a:pPr marL="698500" marR="5080" lvl="1" indent="-228600">
              <a:lnSpc>
                <a:spcPct val="100000"/>
              </a:lnSpc>
              <a:spcBef>
                <a:spcPts val="1200"/>
              </a:spcBef>
              <a:buFont typeface="Courier New"/>
              <a:buChar char="o"/>
              <a:tabLst>
                <a:tab pos="698500" algn="l"/>
              </a:tabLst>
            </a:pPr>
            <a:r>
              <a:rPr sz="2200" dirty="0">
                <a:latin typeface="Arial"/>
                <a:cs typeface="Arial"/>
              </a:rPr>
              <a:t>Generate</a:t>
            </a:r>
            <a:r>
              <a:rPr sz="2200" spc="-40" dirty="0">
                <a:latin typeface="Arial"/>
                <a:cs typeface="Arial"/>
              </a:rPr>
              <a:t> </a:t>
            </a:r>
            <a:r>
              <a:rPr sz="2200" dirty="0">
                <a:latin typeface="Arial"/>
                <a:cs typeface="Arial"/>
              </a:rPr>
              <a:t>Q&amp;As</a:t>
            </a:r>
            <a:r>
              <a:rPr sz="2200" spc="-70" dirty="0">
                <a:latin typeface="Arial"/>
                <a:cs typeface="Arial"/>
              </a:rPr>
              <a:t> </a:t>
            </a:r>
            <a:r>
              <a:rPr sz="2200" dirty="0">
                <a:latin typeface="Arial"/>
                <a:cs typeface="Arial"/>
              </a:rPr>
              <a:t>or</a:t>
            </a:r>
            <a:r>
              <a:rPr sz="2200" spc="-60" dirty="0">
                <a:latin typeface="Arial"/>
                <a:cs typeface="Arial"/>
              </a:rPr>
              <a:t> </a:t>
            </a:r>
            <a:r>
              <a:rPr sz="2200" dirty="0">
                <a:latin typeface="Arial"/>
                <a:cs typeface="Arial"/>
              </a:rPr>
              <a:t>critique</a:t>
            </a:r>
            <a:r>
              <a:rPr sz="2200" spc="-60" dirty="0">
                <a:latin typeface="Arial"/>
                <a:cs typeface="Arial"/>
              </a:rPr>
              <a:t> </a:t>
            </a:r>
            <a:r>
              <a:rPr sz="2200" dirty="0">
                <a:latin typeface="Arial"/>
                <a:cs typeface="Arial"/>
              </a:rPr>
              <a:t>draft</a:t>
            </a:r>
            <a:r>
              <a:rPr sz="2200" spc="-45" dirty="0">
                <a:latin typeface="Arial"/>
                <a:cs typeface="Arial"/>
              </a:rPr>
              <a:t> </a:t>
            </a:r>
            <a:r>
              <a:rPr sz="2200" dirty="0">
                <a:latin typeface="Arial"/>
                <a:cs typeface="Arial"/>
              </a:rPr>
              <a:t>work,</a:t>
            </a:r>
            <a:r>
              <a:rPr sz="2200" spc="-65" dirty="0">
                <a:latin typeface="Arial"/>
                <a:cs typeface="Arial"/>
              </a:rPr>
              <a:t> </a:t>
            </a:r>
            <a:r>
              <a:rPr sz="2200" dirty="0">
                <a:latin typeface="Arial"/>
                <a:cs typeface="Arial"/>
              </a:rPr>
              <a:t>and</a:t>
            </a:r>
            <a:r>
              <a:rPr sz="2200" spc="-55" dirty="0">
                <a:latin typeface="Arial"/>
                <a:cs typeface="Arial"/>
              </a:rPr>
              <a:t> </a:t>
            </a:r>
            <a:r>
              <a:rPr sz="2200" dirty="0">
                <a:latin typeface="Arial"/>
                <a:cs typeface="Arial"/>
              </a:rPr>
              <a:t>critically</a:t>
            </a:r>
            <a:r>
              <a:rPr sz="2200" spc="-80" dirty="0">
                <a:latin typeface="Arial"/>
                <a:cs typeface="Arial"/>
              </a:rPr>
              <a:t> </a:t>
            </a:r>
            <a:r>
              <a:rPr sz="2200" dirty="0">
                <a:latin typeface="Arial"/>
                <a:cs typeface="Arial"/>
              </a:rPr>
              <a:t>assessing</a:t>
            </a:r>
            <a:r>
              <a:rPr sz="2200" spc="-70" dirty="0">
                <a:latin typeface="Arial"/>
                <a:cs typeface="Arial"/>
              </a:rPr>
              <a:t> </a:t>
            </a:r>
            <a:r>
              <a:rPr sz="2200" dirty="0">
                <a:latin typeface="Arial"/>
                <a:cs typeface="Arial"/>
              </a:rPr>
              <a:t>the</a:t>
            </a:r>
            <a:r>
              <a:rPr sz="2200" spc="-65" dirty="0">
                <a:latin typeface="Arial"/>
                <a:cs typeface="Arial"/>
              </a:rPr>
              <a:t> </a:t>
            </a:r>
            <a:r>
              <a:rPr sz="2200" spc="-10" dirty="0">
                <a:latin typeface="Arial"/>
                <a:cs typeface="Arial"/>
              </a:rPr>
              <a:t>responses </a:t>
            </a:r>
            <a:r>
              <a:rPr sz="2200" dirty="0">
                <a:latin typeface="Arial"/>
                <a:cs typeface="Arial"/>
              </a:rPr>
              <a:t>provided</a:t>
            </a:r>
            <a:r>
              <a:rPr sz="2200" spc="-50" dirty="0">
                <a:latin typeface="Arial"/>
                <a:cs typeface="Arial"/>
              </a:rPr>
              <a:t> </a:t>
            </a:r>
            <a:r>
              <a:rPr sz="2200" dirty="0">
                <a:latin typeface="Arial"/>
                <a:cs typeface="Arial"/>
              </a:rPr>
              <a:t>by</a:t>
            </a:r>
            <a:r>
              <a:rPr sz="2200" spc="-55" dirty="0">
                <a:latin typeface="Arial"/>
                <a:cs typeface="Arial"/>
              </a:rPr>
              <a:t> </a:t>
            </a:r>
            <a:r>
              <a:rPr sz="2200" dirty="0">
                <a:latin typeface="Arial"/>
                <a:cs typeface="Arial"/>
              </a:rPr>
              <a:t>the</a:t>
            </a:r>
            <a:r>
              <a:rPr sz="2200" spc="-60" dirty="0">
                <a:latin typeface="Arial"/>
                <a:cs typeface="Arial"/>
              </a:rPr>
              <a:t> </a:t>
            </a:r>
            <a:r>
              <a:rPr sz="2200" spc="-20" dirty="0">
                <a:latin typeface="Arial"/>
                <a:cs typeface="Arial"/>
              </a:rPr>
              <a:t>tool</a:t>
            </a:r>
            <a:endParaRPr sz="2200">
              <a:latin typeface="Arial"/>
              <a:cs typeface="Arial"/>
            </a:endParaRPr>
          </a:p>
          <a:p>
            <a:pPr marL="355600" indent="-342900">
              <a:lnSpc>
                <a:spcPct val="100000"/>
              </a:lnSpc>
              <a:spcBef>
                <a:spcPts val="1205"/>
              </a:spcBef>
              <a:buChar char="•"/>
              <a:tabLst>
                <a:tab pos="355600" algn="l"/>
              </a:tabLst>
            </a:pPr>
            <a:r>
              <a:rPr sz="2400" dirty="0">
                <a:latin typeface="Arial"/>
                <a:cs typeface="Arial"/>
              </a:rPr>
              <a:t>Using</a:t>
            </a:r>
            <a:r>
              <a:rPr sz="2400" spc="-45" dirty="0">
                <a:latin typeface="Arial"/>
                <a:cs typeface="Arial"/>
              </a:rPr>
              <a:t> </a:t>
            </a:r>
            <a:r>
              <a:rPr sz="2400" dirty="0">
                <a:latin typeface="Arial"/>
                <a:cs typeface="Arial"/>
              </a:rPr>
              <a:t>the</a:t>
            </a:r>
            <a:r>
              <a:rPr sz="2400" spc="-165" dirty="0">
                <a:latin typeface="Arial"/>
                <a:cs typeface="Arial"/>
              </a:rPr>
              <a:t> </a:t>
            </a:r>
            <a:r>
              <a:rPr sz="2400" dirty="0">
                <a:latin typeface="Arial"/>
                <a:cs typeface="Arial"/>
              </a:rPr>
              <a:t>AI</a:t>
            </a:r>
            <a:r>
              <a:rPr sz="2400" spc="-55" dirty="0">
                <a:latin typeface="Arial"/>
                <a:cs typeface="Arial"/>
              </a:rPr>
              <a:t> </a:t>
            </a:r>
            <a:r>
              <a:rPr sz="2400" dirty="0">
                <a:latin typeface="Arial"/>
                <a:cs typeface="Arial"/>
              </a:rPr>
              <a:t>tool</a:t>
            </a:r>
            <a:r>
              <a:rPr sz="2400" spc="-55" dirty="0">
                <a:latin typeface="Arial"/>
                <a:cs typeface="Arial"/>
              </a:rPr>
              <a:t> </a:t>
            </a:r>
            <a:r>
              <a:rPr sz="2400" dirty="0">
                <a:latin typeface="Arial"/>
                <a:cs typeface="Arial"/>
              </a:rPr>
              <a:t>together</a:t>
            </a:r>
            <a:r>
              <a:rPr sz="2400" spc="-60" dirty="0">
                <a:latin typeface="Arial"/>
                <a:cs typeface="Arial"/>
              </a:rPr>
              <a:t> </a:t>
            </a:r>
            <a:r>
              <a:rPr sz="2400" dirty="0">
                <a:latin typeface="Arial"/>
                <a:cs typeface="Arial"/>
              </a:rPr>
              <a:t>with</a:t>
            </a:r>
            <a:r>
              <a:rPr sz="2400" spc="-30" dirty="0">
                <a:latin typeface="Arial"/>
                <a:cs typeface="Arial"/>
              </a:rPr>
              <a:t> </a:t>
            </a:r>
            <a:r>
              <a:rPr sz="2400" dirty="0">
                <a:latin typeface="Arial"/>
                <a:cs typeface="Arial"/>
              </a:rPr>
              <a:t>other</a:t>
            </a:r>
            <a:r>
              <a:rPr sz="2400" spc="-60" dirty="0">
                <a:latin typeface="Arial"/>
                <a:cs typeface="Arial"/>
              </a:rPr>
              <a:t> </a:t>
            </a:r>
            <a:r>
              <a:rPr sz="2400" dirty="0">
                <a:latin typeface="Arial"/>
                <a:cs typeface="Arial"/>
              </a:rPr>
              <a:t>learning</a:t>
            </a:r>
            <a:r>
              <a:rPr sz="2400" spc="-20" dirty="0">
                <a:latin typeface="Arial"/>
                <a:cs typeface="Arial"/>
              </a:rPr>
              <a:t> </a:t>
            </a:r>
            <a:r>
              <a:rPr sz="2400" dirty="0">
                <a:latin typeface="Arial"/>
                <a:cs typeface="Arial"/>
              </a:rPr>
              <a:t>resources</a:t>
            </a:r>
            <a:r>
              <a:rPr sz="2400" spc="-35" dirty="0">
                <a:latin typeface="Arial"/>
                <a:cs typeface="Arial"/>
              </a:rPr>
              <a:t> </a:t>
            </a:r>
            <a:r>
              <a:rPr sz="2400" dirty="0">
                <a:latin typeface="Arial"/>
                <a:cs typeface="Arial"/>
              </a:rPr>
              <a:t>to</a:t>
            </a:r>
            <a:r>
              <a:rPr sz="2400" spc="-65" dirty="0">
                <a:latin typeface="Arial"/>
                <a:cs typeface="Arial"/>
              </a:rPr>
              <a:t> </a:t>
            </a:r>
            <a:r>
              <a:rPr sz="2400" dirty="0">
                <a:latin typeface="Arial"/>
                <a:cs typeface="Arial"/>
              </a:rPr>
              <a:t>gain</a:t>
            </a:r>
            <a:r>
              <a:rPr sz="2400" spc="-30" dirty="0">
                <a:latin typeface="Arial"/>
                <a:cs typeface="Arial"/>
              </a:rPr>
              <a:t> </a:t>
            </a:r>
            <a:r>
              <a:rPr sz="2400" dirty="0">
                <a:latin typeface="Arial"/>
                <a:cs typeface="Arial"/>
              </a:rPr>
              <a:t>a</a:t>
            </a:r>
            <a:r>
              <a:rPr sz="2400" spc="-60" dirty="0">
                <a:latin typeface="Arial"/>
                <a:cs typeface="Arial"/>
              </a:rPr>
              <a:t> </a:t>
            </a:r>
            <a:r>
              <a:rPr sz="2400" spc="-10" dirty="0">
                <a:latin typeface="Arial"/>
                <a:cs typeface="Arial"/>
              </a:rPr>
              <a:t>deeper</a:t>
            </a:r>
            <a:endParaRPr sz="2400">
              <a:latin typeface="Arial"/>
              <a:cs typeface="Arial"/>
            </a:endParaRPr>
          </a:p>
          <a:p>
            <a:pPr marL="355600">
              <a:lnSpc>
                <a:spcPct val="100000"/>
              </a:lnSpc>
              <a:spcBef>
                <a:spcPts val="5"/>
              </a:spcBef>
            </a:pPr>
            <a:r>
              <a:rPr sz="2400" dirty="0">
                <a:latin typeface="Arial"/>
                <a:cs typeface="Arial"/>
              </a:rPr>
              <a:t>understanding</a:t>
            </a:r>
            <a:r>
              <a:rPr sz="2400" spc="-40" dirty="0">
                <a:latin typeface="Arial"/>
                <a:cs typeface="Arial"/>
              </a:rPr>
              <a:t> </a:t>
            </a:r>
            <a:r>
              <a:rPr sz="2400" dirty="0">
                <a:latin typeface="Arial"/>
                <a:cs typeface="Arial"/>
              </a:rPr>
              <a:t>of</a:t>
            </a:r>
            <a:r>
              <a:rPr sz="2400" spc="-70" dirty="0">
                <a:latin typeface="Arial"/>
                <a:cs typeface="Arial"/>
              </a:rPr>
              <a:t> </a:t>
            </a:r>
            <a:r>
              <a:rPr sz="2400" dirty="0">
                <a:latin typeface="Arial"/>
                <a:cs typeface="Arial"/>
              </a:rPr>
              <a:t>the</a:t>
            </a:r>
            <a:r>
              <a:rPr sz="2400" spc="-85" dirty="0">
                <a:latin typeface="Arial"/>
                <a:cs typeface="Arial"/>
              </a:rPr>
              <a:t> </a:t>
            </a:r>
            <a:r>
              <a:rPr sz="2400" dirty="0">
                <a:latin typeface="Arial"/>
                <a:cs typeface="Arial"/>
              </a:rPr>
              <a:t>subject</a:t>
            </a:r>
            <a:r>
              <a:rPr sz="2400" spc="-65" dirty="0">
                <a:latin typeface="Arial"/>
                <a:cs typeface="Arial"/>
              </a:rPr>
              <a:t> </a:t>
            </a:r>
            <a:r>
              <a:rPr sz="2400" spc="-10" dirty="0">
                <a:latin typeface="Arial"/>
                <a:cs typeface="Arial"/>
              </a:rPr>
              <a:t>matter</a:t>
            </a:r>
            <a:endParaRPr sz="2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15</a:t>
            </a:fld>
            <a:endParaRPr spc="-25" dirty="0"/>
          </a:p>
        </p:txBody>
      </p:sp>
      <p:sp>
        <p:nvSpPr>
          <p:cNvPr id="6" name="object 6"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Using</a:t>
            </a:r>
            <a:r>
              <a:rPr spc="-110" dirty="0"/>
              <a:t> </a:t>
            </a:r>
            <a:r>
              <a:rPr dirty="0"/>
              <a:t>AI</a:t>
            </a:r>
            <a:r>
              <a:rPr spc="-95" dirty="0"/>
              <a:t> </a:t>
            </a:r>
            <a:r>
              <a:rPr dirty="0"/>
              <a:t>Tool</a:t>
            </a:r>
            <a:r>
              <a:rPr spc="-100" dirty="0"/>
              <a:t> </a:t>
            </a:r>
            <a:r>
              <a:rPr dirty="0"/>
              <a:t>for</a:t>
            </a:r>
            <a:r>
              <a:rPr spc="-90" dirty="0"/>
              <a:t> </a:t>
            </a:r>
            <a:r>
              <a:rPr spc="-10" dirty="0"/>
              <a:t>Learning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466469"/>
            <a:ext cx="10516870" cy="4509770"/>
          </a:xfrm>
          <a:prstGeom prst="rect">
            <a:avLst/>
          </a:prstGeom>
        </p:spPr>
        <p:txBody>
          <a:bodyPr vert="horz" wrap="square" lIns="0" tIns="165100" rIns="0" bIns="0" rtlCol="0">
            <a:spAutoFit/>
          </a:bodyPr>
          <a:lstStyle/>
          <a:p>
            <a:pPr marL="12700">
              <a:lnSpc>
                <a:spcPct val="100000"/>
              </a:lnSpc>
              <a:spcBef>
                <a:spcPts val="1300"/>
              </a:spcBef>
            </a:pPr>
            <a:r>
              <a:rPr sz="2400" spc="-45" dirty="0">
                <a:latin typeface="Arial"/>
                <a:cs typeface="Arial"/>
              </a:rPr>
              <a:t>You</a:t>
            </a:r>
            <a:r>
              <a:rPr sz="2400" spc="-85" dirty="0">
                <a:latin typeface="Arial"/>
                <a:cs typeface="Arial"/>
              </a:rPr>
              <a:t> </a:t>
            </a:r>
            <a:r>
              <a:rPr sz="2400" dirty="0">
                <a:latin typeface="Arial"/>
                <a:cs typeface="Arial"/>
              </a:rPr>
              <a:t>are</a:t>
            </a:r>
            <a:r>
              <a:rPr sz="2400" spc="-85" dirty="0">
                <a:latin typeface="Arial"/>
                <a:cs typeface="Arial"/>
              </a:rPr>
              <a:t> </a:t>
            </a:r>
            <a:r>
              <a:rPr sz="2400" dirty="0">
                <a:latin typeface="Arial"/>
                <a:cs typeface="Arial"/>
              </a:rPr>
              <a:t>expected</a:t>
            </a:r>
            <a:r>
              <a:rPr sz="2400" spc="-65" dirty="0">
                <a:latin typeface="Arial"/>
                <a:cs typeface="Arial"/>
              </a:rPr>
              <a:t> </a:t>
            </a:r>
            <a:r>
              <a:rPr sz="2400" spc="-25" dirty="0">
                <a:latin typeface="Arial"/>
                <a:cs typeface="Arial"/>
              </a:rPr>
              <a:t>to:</a:t>
            </a:r>
            <a:endParaRPr sz="2400">
              <a:latin typeface="Arial"/>
              <a:cs typeface="Arial"/>
            </a:endParaRPr>
          </a:p>
          <a:p>
            <a:pPr marL="355600" marR="817880" indent="-343535">
              <a:lnSpc>
                <a:spcPct val="100000"/>
              </a:lnSpc>
              <a:spcBef>
                <a:spcPts val="1200"/>
              </a:spcBef>
              <a:buChar char="•"/>
              <a:tabLst>
                <a:tab pos="355600" algn="l"/>
              </a:tabLst>
            </a:pPr>
            <a:r>
              <a:rPr sz="2400" dirty="0">
                <a:latin typeface="Arial"/>
                <a:cs typeface="Arial"/>
              </a:rPr>
              <a:t>Submit</a:t>
            </a:r>
            <a:r>
              <a:rPr sz="2400" spc="-75" dirty="0">
                <a:latin typeface="Arial"/>
                <a:cs typeface="Arial"/>
              </a:rPr>
              <a:t> </a:t>
            </a:r>
            <a:r>
              <a:rPr sz="2400" dirty="0">
                <a:latin typeface="Arial"/>
                <a:cs typeface="Arial"/>
              </a:rPr>
              <a:t>authentic</a:t>
            </a:r>
            <a:r>
              <a:rPr sz="2400" spc="-65" dirty="0">
                <a:latin typeface="Arial"/>
                <a:cs typeface="Arial"/>
              </a:rPr>
              <a:t> </a:t>
            </a:r>
            <a:r>
              <a:rPr sz="2400" dirty="0">
                <a:latin typeface="Arial"/>
                <a:cs typeface="Arial"/>
              </a:rPr>
              <a:t>work</a:t>
            </a:r>
            <a:r>
              <a:rPr sz="2400" spc="-70" dirty="0">
                <a:latin typeface="Arial"/>
                <a:cs typeface="Arial"/>
              </a:rPr>
              <a:t> </a:t>
            </a:r>
            <a:r>
              <a:rPr sz="2400" dirty="0">
                <a:latin typeface="Arial"/>
                <a:cs typeface="Arial"/>
              </a:rPr>
              <a:t>for</a:t>
            </a:r>
            <a:r>
              <a:rPr sz="2400" spc="-75" dirty="0">
                <a:latin typeface="Arial"/>
                <a:cs typeface="Arial"/>
              </a:rPr>
              <a:t> </a:t>
            </a:r>
            <a:r>
              <a:rPr sz="2400" dirty="0">
                <a:latin typeface="Arial"/>
                <a:cs typeface="Arial"/>
              </a:rPr>
              <a:t>assessment</a:t>
            </a:r>
            <a:r>
              <a:rPr sz="2400" spc="-75" dirty="0">
                <a:latin typeface="Arial"/>
                <a:cs typeface="Arial"/>
              </a:rPr>
              <a:t> </a:t>
            </a:r>
            <a:r>
              <a:rPr sz="2400" dirty="0">
                <a:latin typeface="Arial"/>
                <a:cs typeface="Arial"/>
              </a:rPr>
              <a:t>that</a:t>
            </a:r>
            <a:r>
              <a:rPr sz="2400" spc="-75" dirty="0">
                <a:latin typeface="Arial"/>
                <a:cs typeface="Arial"/>
              </a:rPr>
              <a:t> </a:t>
            </a:r>
            <a:r>
              <a:rPr sz="2400" dirty="0">
                <a:latin typeface="Arial"/>
                <a:cs typeface="Arial"/>
              </a:rPr>
              <a:t>represents</a:t>
            </a:r>
            <a:r>
              <a:rPr sz="2400" spc="-70" dirty="0">
                <a:latin typeface="Arial"/>
                <a:cs typeface="Arial"/>
              </a:rPr>
              <a:t> </a:t>
            </a:r>
            <a:r>
              <a:rPr sz="2400" dirty="0">
                <a:latin typeface="Arial"/>
                <a:cs typeface="Arial"/>
              </a:rPr>
              <a:t>your</a:t>
            </a:r>
            <a:r>
              <a:rPr sz="2400" spc="-80" dirty="0">
                <a:latin typeface="Arial"/>
                <a:cs typeface="Arial"/>
              </a:rPr>
              <a:t> </a:t>
            </a:r>
            <a:r>
              <a:rPr sz="2400" spc="-10" dirty="0">
                <a:latin typeface="Arial"/>
                <a:cs typeface="Arial"/>
              </a:rPr>
              <a:t>academic abilities.</a:t>
            </a:r>
            <a:endParaRPr sz="2400">
              <a:latin typeface="Arial"/>
              <a:cs typeface="Arial"/>
            </a:endParaRPr>
          </a:p>
          <a:p>
            <a:pPr marL="355600" marR="271145" indent="-343535">
              <a:lnSpc>
                <a:spcPct val="100000"/>
              </a:lnSpc>
              <a:spcBef>
                <a:spcPts val="1200"/>
              </a:spcBef>
              <a:buChar char="•"/>
              <a:tabLst>
                <a:tab pos="355600" algn="l"/>
              </a:tabLst>
            </a:pPr>
            <a:r>
              <a:rPr sz="2400" dirty="0">
                <a:latin typeface="Arial"/>
                <a:cs typeface="Arial"/>
              </a:rPr>
              <a:t>Understand</a:t>
            </a:r>
            <a:r>
              <a:rPr sz="2400" spc="-45" dirty="0">
                <a:latin typeface="Arial"/>
                <a:cs typeface="Arial"/>
              </a:rPr>
              <a:t> </a:t>
            </a:r>
            <a:r>
              <a:rPr sz="2400" dirty="0">
                <a:latin typeface="Arial"/>
                <a:cs typeface="Arial"/>
              </a:rPr>
              <a:t>and</a:t>
            </a:r>
            <a:r>
              <a:rPr sz="2400" spc="-65" dirty="0">
                <a:latin typeface="Arial"/>
                <a:cs typeface="Arial"/>
              </a:rPr>
              <a:t> </a:t>
            </a:r>
            <a:r>
              <a:rPr sz="2400" dirty="0">
                <a:latin typeface="Arial"/>
                <a:cs typeface="Arial"/>
              </a:rPr>
              <a:t>comply</a:t>
            </a:r>
            <a:r>
              <a:rPr sz="2400" spc="-45" dirty="0">
                <a:latin typeface="Arial"/>
                <a:cs typeface="Arial"/>
              </a:rPr>
              <a:t> </a:t>
            </a:r>
            <a:r>
              <a:rPr sz="2400" dirty="0">
                <a:latin typeface="Arial"/>
                <a:cs typeface="Arial"/>
              </a:rPr>
              <a:t>with</a:t>
            </a:r>
            <a:r>
              <a:rPr sz="2400" spc="-55" dirty="0">
                <a:latin typeface="Arial"/>
                <a:cs typeface="Arial"/>
              </a:rPr>
              <a:t> </a:t>
            </a:r>
            <a:r>
              <a:rPr sz="2400" spc="-10" dirty="0">
                <a:latin typeface="Arial"/>
                <a:cs typeface="Arial"/>
              </a:rPr>
              <a:t>whether</a:t>
            </a:r>
            <a:r>
              <a:rPr sz="2400" spc="-155" dirty="0">
                <a:latin typeface="Arial"/>
                <a:cs typeface="Arial"/>
              </a:rPr>
              <a:t> </a:t>
            </a:r>
            <a:r>
              <a:rPr sz="2400" dirty="0">
                <a:latin typeface="Arial"/>
                <a:cs typeface="Arial"/>
              </a:rPr>
              <a:t>AI</a:t>
            </a:r>
            <a:r>
              <a:rPr sz="2400" spc="-65" dirty="0">
                <a:latin typeface="Arial"/>
                <a:cs typeface="Arial"/>
              </a:rPr>
              <a:t> </a:t>
            </a:r>
            <a:r>
              <a:rPr sz="2400" dirty="0">
                <a:latin typeface="Arial"/>
                <a:cs typeface="Arial"/>
              </a:rPr>
              <a:t>use</a:t>
            </a:r>
            <a:r>
              <a:rPr sz="2400" spc="-55" dirty="0">
                <a:latin typeface="Arial"/>
                <a:cs typeface="Arial"/>
              </a:rPr>
              <a:t> </a:t>
            </a:r>
            <a:r>
              <a:rPr sz="2400" dirty="0">
                <a:latin typeface="Arial"/>
                <a:cs typeface="Arial"/>
              </a:rPr>
              <a:t>is</a:t>
            </a:r>
            <a:r>
              <a:rPr sz="2400" spc="-55" dirty="0">
                <a:latin typeface="Arial"/>
                <a:cs typeface="Arial"/>
              </a:rPr>
              <a:t> </a:t>
            </a:r>
            <a:r>
              <a:rPr sz="2400" dirty="0">
                <a:latin typeface="Arial"/>
                <a:cs typeface="Arial"/>
              </a:rPr>
              <a:t>permitted</a:t>
            </a:r>
            <a:r>
              <a:rPr sz="2400" spc="-70" dirty="0">
                <a:latin typeface="Arial"/>
                <a:cs typeface="Arial"/>
              </a:rPr>
              <a:t> </a:t>
            </a:r>
            <a:r>
              <a:rPr sz="2400" dirty="0">
                <a:latin typeface="Arial"/>
                <a:cs typeface="Arial"/>
              </a:rPr>
              <a:t>for</a:t>
            </a:r>
            <a:r>
              <a:rPr sz="2400" spc="-50" dirty="0">
                <a:latin typeface="Arial"/>
                <a:cs typeface="Arial"/>
              </a:rPr>
              <a:t> </a:t>
            </a:r>
            <a:r>
              <a:rPr sz="2400" spc="-20" dirty="0">
                <a:latin typeface="Arial"/>
                <a:cs typeface="Arial"/>
              </a:rPr>
              <a:t>each </a:t>
            </a:r>
            <a:r>
              <a:rPr sz="2400" dirty="0">
                <a:latin typeface="Arial"/>
                <a:cs typeface="Arial"/>
              </a:rPr>
              <a:t>assessment,</a:t>
            </a:r>
            <a:r>
              <a:rPr sz="2400" spc="-114" dirty="0">
                <a:latin typeface="Arial"/>
                <a:cs typeface="Arial"/>
              </a:rPr>
              <a:t> </a:t>
            </a:r>
            <a:r>
              <a:rPr sz="2400" dirty="0">
                <a:latin typeface="Arial"/>
                <a:cs typeface="Arial"/>
              </a:rPr>
              <a:t>and</a:t>
            </a:r>
            <a:r>
              <a:rPr sz="2400" spc="-80" dirty="0">
                <a:latin typeface="Arial"/>
                <a:cs typeface="Arial"/>
              </a:rPr>
              <a:t> </a:t>
            </a:r>
            <a:r>
              <a:rPr sz="2400" dirty="0">
                <a:latin typeface="Arial"/>
                <a:cs typeface="Arial"/>
              </a:rPr>
              <a:t>what</a:t>
            </a:r>
            <a:r>
              <a:rPr sz="2400" spc="-70" dirty="0">
                <a:latin typeface="Arial"/>
                <a:cs typeface="Arial"/>
              </a:rPr>
              <a:t> </a:t>
            </a:r>
            <a:r>
              <a:rPr sz="2400" dirty="0">
                <a:latin typeface="Arial"/>
                <a:cs typeface="Arial"/>
              </a:rPr>
              <a:t>constitutes</a:t>
            </a:r>
            <a:r>
              <a:rPr sz="2400" spc="-80" dirty="0">
                <a:latin typeface="Arial"/>
                <a:cs typeface="Arial"/>
              </a:rPr>
              <a:t> </a:t>
            </a:r>
            <a:r>
              <a:rPr sz="2400" dirty="0">
                <a:latin typeface="Arial"/>
                <a:cs typeface="Arial"/>
              </a:rPr>
              <a:t>authorised</a:t>
            </a:r>
            <a:r>
              <a:rPr sz="2400" spc="-65" dirty="0">
                <a:latin typeface="Arial"/>
                <a:cs typeface="Arial"/>
              </a:rPr>
              <a:t> </a:t>
            </a:r>
            <a:r>
              <a:rPr sz="2400" dirty="0">
                <a:latin typeface="Arial"/>
                <a:cs typeface="Arial"/>
              </a:rPr>
              <a:t>and</a:t>
            </a:r>
            <a:r>
              <a:rPr sz="2400" spc="-70" dirty="0">
                <a:latin typeface="Arial"/>
                <a:cs typeface="Arial"/>
              </a:rPr>
              <a:t> </a:t>
            </a:r>
            <a:r>
              <a:rPr sz="2400" spc="-10" dirty="0">
                <a:latin typeface="Arial"/>
                <a:cs typeface="Arial"/>
              </a:rPr>
              <a:t>unauthorised</a:t>
            </a:r>
            <a:r>
              <a:rPr sz="2400" spc="-65" dirty="0">
                <a:latin typeface="Arial"/>
                <a:cs typeface="Arial"/>
              </a:rPr>
              <a:t> </a:t>
            </a:r>
            <a:r>
              <a:rPr sz="2400" dirty="0">
                <a:latin typeface="Arial"/>
                <a:cs typeface="Arial"/>
              </a:rPr>
              <a:t>use</a:t>
            </a:r>
            <a:r>
              <a:rPr sz="2400" spc="-75" dirty="0">
                <a:latin typeface="Arial"/>
                <a:cs typeface="Arial"/>
              </a:rPr>
              <a:t> </a:t>
            </a:r>
            <a:r>
              <a:rPr sz="2400" dirty="0">
                <a:latin typeface="Arial"/>
                <a:cs typeface="Arial"/>
              </a:rPr>
              <a:t>of</a:t>
            </a:r>
            <a:r>
              <a:rPr sz="2400" spc="-170" dirty="0">
                <a:latin typeface="Arial"/>
                <a:cs typeface="Arial"/>
              </a:rPr>
              <a:t> </a:t>
            </a:r>
            <a:r>
              <a:rPr sz="2400" spc="-25" dirty="0">
                <a:latin typeface="Arial"/>
                <a:cs typeface="Arial"/>
              </a:rPr>
              <a:t>AI.</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Consult</a:t>
            </a:r>
            <a:r>
              <a:rPr sz="2400" spc="-35" dirty="0">
                <a:latin typeface="Arial"/>
                <a:cs typeface="Arial"/>
              </a:rPr>
              <a:t> </a:t>
            </a:r>
            <a:r>
              <a:rPr sz="2400" dirty="0">
                <a:latin typeface="Arial"/>
                <a:cs typeface="Arial"/>
              </a:rPr>
              <a:t>your</a:t>
            </a:r>
            <a:r>
              <a:rPr sz="2400" spc="-50" dirty="0">
                <a:latin typeface="Arial"/>
                <a:cs typeface="Arial"/>
              </a:rPr>
              <a:t> </a:t>
            </a:r>
            <a:r>
              <a:rPr sz="2400" dirty="0">
                <a:latin typeface="Arial"/>
                <a:cs typeface="Arial"/>
              </a:rPr>
              <a:t>lecturer</a:t>
            </a:r>
            <a:r>
              <a:rPr sz="2400" spc="-45" dirty="0">
                <a:latin typeface="Arial"/>
                <a:cs typeface="Arial"/>
              </a:rPr>
              <a:t> </a:t>
            </a:r>
            <a:r>
              <a:rPr sz="2400" dirty="0">
                <a:latin typeface="Arial"/>
                <a:cs typeface="Arial"/>
              </a:rPr>
              <a:t>if</a:t>
            </a:r>
            <a:r>
              <a:rPr sz="2400" spc="-60" dirty="0">
                <a:latin typeface="Arial"/>
                <a:cs typeface="Arial"/>
              </a:rPr>
              <a:t> </a:t>
            </a:r>
            <a:r>
              <a:rPr sz="2400" dirty="0">
                <a:latin typeface="Arial"/>
                <a:cs typeface="Arial"/>
              </a:rPr>
              <a:t>you</a:t>
            </a:r>
            <a:r>
              <a:rPr sz="2400" spc="-50" dirty="0">
                <a:latin typeface="Arial"/>
                <a:cs typeface="Arial"/>
              </a:rPr>
              <a:t> </a:t>
            </a:r>
            <a:r>
              <a:rPr sz="2400" dirty="0">
                <a:latin typeface="Arial"/>
                <a:cs typeface="Arial"/>
              </a:rPr>
              <a:t>are</a:t>
            </a:r>
            <a:r>
              <a:rPr sz="2400" spc="-50" dirty="0">
                <a:latin typeface="Arial"/>
                <a:cs typeface="Arial"/>
              </a:rPr>
              <a:t> </a:t>
            </a:r>
            <a:r>
              <a:rPr sz="2400" dirty="0">
                <a:latin typeface="Arial"/>
                <a:cs typeface="Arial"/>
              </a:rPr>
              <a:t>in</a:t>
            </a:r>
            <a:r>
              <a:rPr sz="2400" spc="-40" dirty="0">
                <a:latin typeface="Arial"/>
                <a:cs typeface="Arial"/>
              </a:rPr>
              <a:t> </a:t>
            </a:r>
            <a:r>
              <a:rPr sz="2400" spc="-10" dirty="0">
                <a:latin typeface="Arial"/>
                <a:cs typeface="Arial"/>
              </a:rPr>
              <a:t>doubt.</a:t>
            </a:r>
            <a:endParaRPr sz="2400">
              <a:latin typeface="Arial"/>
              <a:cs typeface="Arial"/>
            </a:endParaRPr>
          </a:p>
          <a:p>
            <a:pPr marL="12700">
              <a:lnSpc>
                <a:spcPts val="2735"/>
              </a:lnSpc>
              <a:spcBef>
                <a:spcPts val="2570"/>
              </a:spcBef>
            </a:pPr>
            <a:r>
              <a:rPr sz="2400" dirty="0">
                <a:latin typeface="Arial"/>
                <a:cs typeface="Arial"/>
              </a:rPr>
              <a:t>The</a:t>
            </a:r>
            <a:r>
              <a:rPr sz="2400" spc="-50" dirty="0">
                <a:latin typeface="Arial"/>
                <a:cs typeface="Arial"/>
              </a:rPr>
              <a:t> </a:t>
            </a:r>
            <a:r>
              <a:rPr sz="2400" dirty="0">
                <a:latin typeface="Arial"/>
                <a:cs typeface="Arial"/>
              </a:rPr>
              <a:t>unauthorised</a:t>
            </a:r>
            <a:r>
              <a:rPr sz="2400" spc="-10" dirty="0">
                <a:latin typeface="Arial"/>
                <a:cs typeface="Arial"/>
              </a:rPr>
              <a:t> </a:t>
            </a:r>
            <a:r>
              <a:rPr sz="2400" dirty="0">
                <a:latin typeface="Arial"/>
                <a:cs typeface="Arial"/>
              </a:rPr>
              <a:t>use</a:t>
            </a:r>
            <a:r>
              <a:rPr sz="2400" spc="-35" dirty="0">
                <a:latin typeface="Arial"/>
                <a:cs typeface="Arial"/>
              </a:rPr>
              <a:t> </a:t>
            </a:r>
            <a:r>
              <a:rPr sz="2400" dirty="0">
                <a:latin typeface="Arial"/>
                <a:cs typeface="Arial"/>
              </a:rPr>
              <a:t>of</a:t>
            </a:r>
            <a:r>
              <a:rPr sz="2400" spc="-165" dirty="0">
                <a:latin typeface="Arial"/>
                <a:cs typeface="Arial"/>
              </a:rPr>
              <a:t> </a:t>
            </a:r>
            <a:r>
              <a:rPr sz="2400" dirty="0">
                <a:latin typeface="Arial"/>
                <a:cs typeface="Arial"/>
              </a:rPr>
              <a:t>AI</a:t>
            </a:r>
            <a:r>
              <a:rPr sz="2400" spc="-60" dirty="0">
                <a:latin typeface="Arial"/>
                <a:cs typeface="Arial"/>
              </a:rPr>
              <a:t> </a:t>
            </a:r>
            <a:r>
              <a:rPr sz="2400" dirty="0">
                <a:latin typeface="Arial"/>
                <a:cs typeface="Arial"/>
              </a:rPr>
              <a:t>to</a:t>
            </a:r>
            <a:r>
              <a:rPr sz="2400" spc="-40" dirty="0">
                <a:latin typeface="Arial"/>
                <a:cs typeface="Arial"/>
              </a:rPr>
              <a:t> </a:t>
            </a:r>
            <a:r>
              <a:rPr sz="2400" dirty="0">
                <a:latin typeface="Arial"/>
                <a:cs typeface="Arial"/>
              </a:rPr>
              <a:t>create</a:t>
            </a:r>
            <a:r>
              <a:rPr sz="2400" spc="-45" dirty="0">
                <a:latin typeface="Arial"/>
                <a:cs typeface="Arial"/>
              </a:rPr>
              <a:t> </a:t>
            </a:r>
            <a:r>
              <a:rPr sz="2400" dirty="0">
                <a:latin typeface="Arial"/>
                <a:cs typeface="Arial"/>
              </a:rPr>
              <a:t>content</a:t>
            </a:r>
            <a:r>
              <a:rPr sz="2400" spc="-35" dirty="0">
                <a:latin typeface="Arial"/>
                <a:cs typeface="Arial"/>
              </a:rPr>
              <a:t> </a:t>
            </a:r>
            <a:r>
              <a:rPr sz="2400" dirty="0">
                <a:latin typeface="Arial"/>
                <a:cs typeface="Arial"/>
              </a:rPr>
              <a:t>that</a:t>
            </a:r>
            <a:r>
              <a:rPr sz="2400" spc="-40" dirty="0">
                <a:latin typeface="Arial"/>
                <a:cs typeface="Arial"/>
              </a:rPr>
              <a:t> </a:t>
            </a:r>
            <a:r>
              <a:rPr sz="2400" dirty="0">
                <a:latin typeface="Arial"/>
                <a:cs typeface="Arial"/>
              </a:rPr>
              <a:t>is</a:t>
            </a:r>
            <a:r>
              <a:rPr sz="2400" spc="-40" dirty="0">
                <a:latin typeface="Arial"/>
                <a:cs typeface="Arial"/>
              </a:rPr>
              <a:t> </a:t>
            </a:r>
            <a:r>
              <a:rPr sz="2400" dirty="0">
                <a:latin typeface="Arial"/>
                <a:cs typeface="Arial"/>
              </a:rPr>
              <a:t>submitted</a:t>
            </a:r>
            <a:r>
              <a:rPr sz="2400" spc="-40" dirty="0">
                <a:latin typeface="Arial"/>
                <a:cs typeface="Arial"/>
              </a:rPr>
              <a:t> </a:t>
            </a:r>
            <a:r>
              <a:rPr sz="2400" dirty="0">
                <a:latin typeface="Arial"/>
                <a:cs typeface="Arial"/>
              </a:rPr>
              <a:t>as</a:t>
            </a:r>
            <a:r>
              <a:rPr sz="2400" spc="-45" dirty="0">
                <a:latin typeface="Arial"/>
                <a:cs typeface="Arial"/>
              </a:rPr>
              <a:t> </a:t>
            </a:r>
            <a:r>
              <a:rPr sz="2400" dirty="0">
                <a:latin typeface="Arial"/>
                <a:cs typeface="Arial"/>
              </a:rPr>
              <a:t>the</a:t>
            </a:r>
            <a:r>
              <a:rPr sz="2400" spc="-35" dirty="0">
                <a:latin typeface="Arial"/>
                <a:cs typeface="Arial"/>
              </a:rPr>
              <a:t> </a:t>
            </a:r>
            <a:r>
              <a:rPr sz="2400" spc="-10" dirty="0">
                <a:latin typeface="Arial"/>
                <a:cs typeface="Arial"/>
              </a:rPr>
              <a:t>learner’s</a:t>
            </a:r>
            <a:endParaRPr sz="2400">
              <a:latin typeface="Arial"/>
              <a:cs typeface="Arial"/>
            </a:endParaRPr>
          </a:p>
          <a:p>
            <a:pPr marL="12700">
              <a:lnSpc>
                <a:spcPts val="2590"/>
              </a:lnSpc>
            </a:pPr>
            <a:r>
              <a:rPr sz="2400" dirty="0">
                <a:latin typeface="Arial"/>
                <a:cs typeface="Arial"/>
              </a:rPr>
              <a:t>own</a:t>
            </a:r>
            <a:r>
              <a:rPr sz="2400" spc="-55" dirty="0">
                <a:latin typeface="Arial"/>
                <a:cs typeface="Arial"/>
              </a:rPr>
              <a:t> </a:t>
            </a:r>
            <a:r>
              <a:rPr sz="2400" dirty="0">
                <a:latin typeface="Arial"/>
                <a:cs typeface="Arial"/>
              </a:rPr>
              <a:t>work</a:t>
            </a:r>
            <a:r>
              <a:rPr sz="2400" spc="-55" dirty="0">
                <a:latin typeface="Arial"/>
                <a:cs typeface="Arial"/>
              </a:rPr>
              <a:t> </a:t>
            </a:r>
            <a:r>
              <a:rPr sz="2400" dirty="0">
                <a:latin typeface="Arial"/>
                <a:cs typeface="Arial"/>
              </a:rPr>
              <a:t>is</a:t>
            </a:r>
            <a:r>
              <a:rPr sz="2400" spc="-65" dirty="0">
                <a:latin typeface="Arial"/>
                <a:cs typeface="Arial"/>
              </a:rPr>
              <a:t> </a:t>
            </a:r>
            <a:r>
              <a:rPr sz="2400" dirty="0">
                <a:latin typeface="Arial"/>
                <a:cs typeface="Arial"/>
              </a:rPr>
              <a:t>considered</a:t>
            </a:r>
            <a:r>
              <a:rPr sz="2400" spc="-35" dirty="0">
                <a:latin typeface="Arial"/>
                <a:cs typeface="Arial"/>
              </a:rPr>
              <a:t> </a:t>
            </a:r>
            <a:r>
              <a:rPr sz="2400" dirty="0">
                <a:latin typeface="Arial"/>
                <a:cs typeface="Arial"/>
              </a:rPr>
              <a:t>plagiarism.</a:t>
            </a:r>
            <a:r>
              <a:rPr sz="2400" spc="-30" dirty="0">
                <a:latin typeface="Arial"/>
                <a:cs typeface="Arial"/>
              </a:rPr>
              <a:t> </a:t>
            </a:r>
            <a:r>
              <a:rPr sz="2400" dirty="0">
                <a:latin typeface="Arial"/>
                <a:cs typeface="Arial"/>
              </a:rPr>
              <a:t>Such</a:t>
            </a:r>
            <a:r>
              <a:rPr sz="2400" spc="-50" dirty="0">
                <a:latin typeface="Arial"/>
                <a:cs typeface="Arial"/>
              </a:rPr>
              <a:t> </a:t>
            </a:r>
            <a:r>
              <a:rPr sz="2400" dirty="0">
                <a:latin typeface="Arial"/>
                <a:cs typeface="Arial"/>
              </a:rPr>
              <a:t>an</a:t>
            </a:r>
            <a:r>
              <a:rPr sz="2400" spc="-65" dirty="0">
                <a:latin typeface="Arial"/>
                <a:cs typeface="Arial"/>
              </a:rPr>
              <a:t> </a:t>
            </a:r>
            <a:r>
              <a:rPr sz="2400" dirty="0">
                <a:latin typeface="Arial"/>
                <a:cs typeface="Arial"/>
              </a:rPr>
              <a:t>act</a:t>
            </a:r>
            <a:r>
              <a:rPr sz="2400" spc="-55" dirty="0">
                <a:latin typeface="Arial"/>
                <a:cs typeface="Arial"/>
              </a:rPr>
              <a:t> </a:t>
            </a:r>
            <a:r>
              <a:rPr sz="2400" dirty="0">
                <a:latin typeface="Arial"/>
                <a:cs typeface="Arial"/>
              </a:rPr>
              <a:t>constitutes</a:t>
            </a:r>
            <a:r>
              <a:rPr sz="2400" spc="-65" dirty="0">
                <a:latin typeface="Arial"/>
                <a:cs typeface="Arial"/>
              </a:rPr>
              <a:t> </a:t>
            </a:r>
            <a:r>
              <a:rPr sz="2400" spc="-10" dirty="0">
                <a:latin typeface="Arial"/>
                <a:cs typeface="Arial"/>
              </a:rPr>
              <a:t>academic</a:t>
            </a:r>
            <a:endParaRPr sz="2400">
              <a:latin typeface="Arial"/>
              <a:cs typeface="Arial"/>
            </a:endParaRPr>
          </a:p>
          <a:p>
            <a:pPr marL="12700">
              <a:lnSpc>
                <a:spcPts val="2590"/>
              </a:lnSpc>
            </a:pPr>
            <a:r>
              <a:rPr sz="2400" dirty="0">
                <a:latin typeface="Arial"/>
                <a:cs typeface="Arial"/>
              </a:rPr>
              <a:t>dishonesty</a:t>
            </a:r>
            <a:r>
              <a:rPr sz="2400" spc="-55" dirty="0">
                <a:latin typeface="Arial"/>
                <a:cs typeface="Arial"/>
              </a:rPr>
              <a:t> </a:t>
            </a:r>
            <a:r>
              <a:rPr sz="2400" dirty="0">
                <a:latin typeface="Arial"/>
                <a:cs typeface="Arial"/>
              </a:rPr>
              <a:t>and</a:t>
            </a:r>
            <a:r>
              <a:rPr sz="2400" spc="-55" dirty="0">
                <a:latin typeface="Arial"/>
                <a:cs typeface="Arial"/>
              </a:rPr>
              <a:t> </a:t>
            </a:r>
            <a:r>
              <a:rPr sz="2400" dirty="0">
                <a:latin typeface="Arial"/>
                <a:cs typeface="Arial"/>
              </a:rPr>
              <a:t>is</a:t>
            </a:r>
            <a:r>
              <a:rPr sz="2400" spc="-70" dirty="0">
                <a:latin typeface="Arial"/>
                <a:cs typeface="Arial"/>
              </a:rPr>
              <a:t> </a:t>
            </a:r>
            <a:r>
              <a:rPr sz="2400" dirty="0">
                <a:latin typeface="Arial"/>
                <a:cs typeface="Arial"/>
              </a:rPr>
              <a:t>a</a:t>
            </a:r>
            <a:r>
              <a:rPr sz="2400" spc="-65" dirty="0">
                <a:latin typeface="Arial"/>
                <a:cs typeface="Arial"/>
              </a:rPr>
              <a:t> </a:t>
            </a:r>
            <a:r>
              <a:rPr sz="2400" dirty="0">
                <a:latin typeface="Arial"/>
                <a:cs typeface="Arial"/>
              </a:rPr>
              <a:t>violation</a:t>
            </a:r>
            <a:r>
              <a:rPr sz="2400" spc="-50" dirty="0">
                <a:latin typeface="Arial"/>
                <a:cs typeface="Arial"/>
              </a:rPr>
              <a:t> </a:t>
            </a:r>
            <a:r>
              <a:rPr sz="2400" dirty="0">
                <a:latin typeface="Arial"/>
                <a:cs typeface="Arial"/>
              </a:rPr>
              <a:t>of</a:t>
            </a:r>
            <a:r>
              <a:rPr sz="2400" spc="-65" dirty="0">
                <a:latin typeface="Arial"/>
                <a:cs typeface="Arial"/>
              </a:rPr>
              <a:t> </a:t>
            </a:r>
            <a:r>
              <a:rPr sz="2400" dirty="0">
                <a:latin typeface="Arial"/>
                <a:cs typeface="Arial"/>
              </a:rPr>
              <a:t>RP’s</a:t>
            </a:r>
            <a:r>
              <a:rPr sz="2400" spc="-40" dirty="0">
                <a:latin typeface="Arial"/>
                <a:cs typeface="Arial"/>
              </a:rPr>
              <a:t> </a:t>
            </a:r>
            <a:r>
              <a:rPr sz="2400" dirty="0">
                <a:latin typeface="Arial"/>
                <a:cs typeface="Arial"/>
              </a:rPr>
              <a:t>Rules</a:t>
            </a:r>
            <a:r>
              <a:rPr sz="2400" spc="-55" dirty="0">
                <a:latin typeface="Arial"/>
                <a:cs typeface="Arial"/>
              </a:rPr>
              <a:t> </a:t>
            </a:r>
            <a:r>
              <a:rPr sz="2400" dirty="0">
                <a:latin typeface="Arial"/>
                <a:cs typeface="Arial"/>
              </a:rPr>
              <a:t>and</a:t>
            </a:r>
            <a:r>
              <a:rPr sz="2400" spc="-55" dirty="0">
                <a:latin typeface="Arial"/>
                <a:cs typeface="Arial"/>
              </a:rPr>
              <a:t> </a:t>
            </a:r>
            <a:r>
              <a:rPr sz="2400" dirty="0">
                <a:latin typeface="Arial"/>
                <a:cs typeface="Arial"/>
              </a:rPr>
              <a:t>Regulations</a:t>
            </a:r>
            <a:r>
              <a:rPr sz="2400" spc="-20" dirty="0">
                <a:latin typeface="Arial"/>
                <a:cs typeface="Arial"/>
              </a:rPr>
              <a:t> </a:t>
            </a:r>
            <a:r>
              <a:rPr sz="2400" dirty="0">
                <a:latin typeface="Arial"/>
                <a:cs typeface="Arial"/>
              </a:rPr>
              <a:t>pertaining</a:t>
            </a:r>
            <a:r>
              <a:rPr sz="2400" spc="-45" dirty="0">
                <a:latin typeface="Arial"/>
                <a:cs typeface="Arial"/>
              </a:rPr>
              <a:t> </a:t>
            </a:r>
            <a:r>
              <a:rPr sz="2400" spc="-25" dirty="0">
                <a:latin typeface="Arial"/>
                <a:cs typeface="Arial"/>
              </a:rPr>
              <a:t>to</a:t>
            </a:r>
            <a:endParaRPr sz="2400">
              <a:latin typeface="Arial"/>
              <a:cs typeface="Arial"/>
            </a:endParaRPr>
          </a:p>
          <a:p>
            <a:pPr marL="12700">
              <a:lnSpc>
                <a:spcPts val="2735"/>
              </a:lnSpc>
            </a:pPr>
            <a:r>
              <a:rPr sz="2400" dirty="0">
                <a:latin typeface="Arial"/>
                <a:cs typeface="Arial"/>
              </a:rPr>
              <a:t>academic</a:t>
            </a:r>
            <a:r>
              <a:rPr sz="2400" spc="-90" dirty="0">
                <a:latin typeface="Arial"/>
                <a:cs typeface="Arial"/>
              </a:rPr>
              <a:t> </a:t>
            </a:r>
            <a:r>
              <a:rPr sz="2400" spc="-10" dirty="0">
                <a:latin typeface="Arial"/>
                <a:cs typeface="Arial"/>
              </a:rPr>
              <a:t>integrity.</a:t>
            </a:r>
            <a:endParaRPr sz="2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16</a:t>
            </a:fld>
            <a:endParaRPr spc="-25" dirty="0"/>
          </a:p>
        </p:txBody>
      </p:sp>
      <p:sp>
        <p:nvSpPr>
          <p:cNvPr id="6" name="object 6" descr="$PPTXTitle"/>
          <p:cNvSpPr txBox="1">
            <a:spLocks noGrp="1"/>
          </p:cNvSpPr>
          <p:nvPr>
            <p:ph type="title"/>
          </p:nvPr>
        </p:nvSpPr>
        <p:spPr>
          <a:xfrm>
            <a:off x="838200" y="774952"/>
            <a:ext cx="10515600" cy="505908"/>
          </a:xfrm>
          <a:prstGeom prst="rect">
            <a:avLst/>
          </a:prstGeom>
        </p:spPr>
        <p:txBody>
          <a:bodyPr vert="horz" wrap="square" lIns="0" tIns="13335" rIns="0" bIns="0" rtlCol="0">
            <a:spAutoFit/>
          </a:bodyPr>
          <a:lstStyle/>
          <a:p>
            <a:pPr marL="12700">
              <a:lnSpc>
                <a:spcPct val="100000"/>
              </a:lnSpc>
              <a:spcBef>
                <a:spcPts val="105"/>
              </a:spcBef>
            </a:pPr>
            <a:r>
              <a:rPr dirty="0"/>
              <a:t>Using</a:t>
            </a:r>
            <a:r>
              <a:rPr spc="-85" dirty="0"/>
              <a:t> </a:t>
            </a:r>
            <a:r>
              <a:rPr dirty="0"/>
              <a:t>AI</a:t>
            </a:r>
            <a:r>
              <a:rPr spc="-65" dirty="0"/>
              <a:t> </a:t>
            </a:r>
            <a:r>
              <a:rPr dirty="0"/>
              <a:t>Tool</a:t>
            </a:r>
            <a:r>
              <a:rPr spc="-75" dirty="0"/>
              <a:t> </a:t>
            </a:r>
            <a:r>
              <a:rPr dirty="0"/>
              <a:t>in</a:t>
            </a:r>
            <a:r>
              <a:rPr spc="-75" dirty="0"/>
              <a:t> </a:t>
            </a:r>
            <a:r>
              <a:rPr spc="-10" dirty="0"/>
              <a:t>Assessment</a:t>
            </a:r>
            <a:endParaRPr sz="3150" baseline="25132"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582292"/>
            <a:ext cx="10600055" cy="4618990"/>
          </a:xfrm>
          <a:prstGeom prst="rect">
            <a:avLst/>
          </a:prstGeom>
        </p:spPr>
        <p:txBody>
          <a:bodyPr vert="horz" wrap="square" lIns="0" tIns="53975" rIns="0" bIns="0" rtlCol="0">
            <a:spAutoFit/>
          </a:bodyPr>
          <a:lstStyle/>
          <a:p>
            <a:pPr marL="355600" marR="5080" indent="-343535">
              <a:lnSpc>
                <a:spcPts val="2590"/>
              </a:lnSpc>
              <a:spcBef>
                <a:spcPts val="425"/>
              </a:spcBef>
              <a:buChar char="•"/>
              <a:tabLst>
                <a:tab pos="355600" algn="l"/>
              </a:tabLst>
            </a:pPr>
            <a:r>
              <a:rPr sz="2400" dirty="0">
                <a:latin typeface="Arial"/>
                <a:cs typeface="Arial"/>
              </a:rPr>
              <a:t>If</a:t>
            </a:r>
            <a:r>
              <a:rPr sz="2400" spc="-170" dirty="0">
                <a:latin typeface="Arial"/>
                <a:cs typeface="Arial"/>
              </a:rPr>
              <a:t> </a:t>
            </a:r>
            <a:r>
              <a:rPr sz="2400" dirty="0">
                <a:latin typeface="Arial"/>
                <a:cs typeface="Arial"/>
              </a:rPr>
              <a:t>AI</a:t>
            </a:r>
            <a:r>
              <a:rPr sz="2400" spc="-100" dirty="0">
                <a:latin typeface="Arial"/>
                <a:cs typeface="Arial"/>
              </a:rPr>
              <a:t> </a:t>
            </a:r>
            <a:r>
              <a:rPr sz="2400" dirty="0">
                <a:latin typeface="Arial"/>
                <a:cs typeface="Arial"/>
              </a:rPr>
              <a:t>tools</a:t>
            </a:r>
            <a:r>
              <a:rPr sz="2400" spc="-60" dirty="0">
                <a:latin typeface="Arial"/>
                <a:cs typeface="Arial"/>
              </a:rPr>
              <a:t> </a:t>
            </a:r>
            <a:r>
              <a:rPr sz="2400" dirty="0">
                <a:latin typeface="Arial"/>
                <a:cs typeface="Arial"/>
              </a:rPr>
              <a:t>are</a:t>
            </a:r>
            <a:r>
              <a:rPr sz="2400" spc="-60" dirty="0">
                <a:latin typeface="Arial"/>
                <a:cs typeface="Arial"/>
              </a:rPr>
              <a:t> </a:t>
            </a:r>
            <a:r>
              <a:rPr sz="2400" dirty="0">
                <a:latin typeface="Arial"/>
                <a:cs typeface="Arial"/>
              </a:rPr>
              <a:t>permitted</a:t>
            </a:r>
            <a:r>
              <a:rPr sz="2400" spc="-60" dirty="0">
                <a:latin typeface="Arial"/>
                <a:cs typeface="Arial"/>
              </a:rPr>
              <a:t> </a:t>
            </a:r>
            <a:r>
              <a:rPr sz="2400" dirty="0">
                <a:latin typeface="Arial"/>
                <a:cs typeface="Arial"/>
              </a:rPr>
              <a:t>for</a:t>
            </a:r>
            <a:r>
              <a:rPr sz="2400" spc="-75" dirty="0">
                <a:latin typeface="Arial"/>
                <a:cs typeface="Arial"/>
              </a:rPr>
              <a:t> </a:t>
            </a:r>
            <a:r>
              <a:rPr sz="2400" dirty="0">
                <a:latin typeface="Arial"/>
                <a:cs typeface="Arial"/>
              </a:rPr>
              <a:t>an</a:t>
            </a:r>
            <a:r>
              <a:rPr sz="2400" spc="-55" dirty="0">
                <a:latin typeface="Arial"/>
                <a:cs typeface="Arial"/>
              </a:rPr>
              <a:t> </a:t>
            </a:r>
            <a:r>
              <a:rPr sz="2400" dirty="0">
                <a:latin typeface="Arial"/>
                <a:cs typeface="Arial"/>
              </a:rPr>
              <a:t>assessment,</a:t>
            </a:r>
            <a:r>
              <a:rPr sz="2400" spc="-60" dirty="0">
                <a:latin typeface="Arial"/>
                <a:cs typeface="Arial"/>
              </a:rPr>
              <a:t> </a:t>
            </a:r>
            <a:r>
              <a:rPr sz="2400" dirty="0">
                <a:latin typeface="Arial"/>
                <a:cs typeface="Arial"/>
              </a:rPr>
              <a:t>you</a:t>
            </a:r>
            <a:r>
              <a:rPr sz="2400" spc="-60" dirty="0">
                <a:latin typeface="Arial"/>
                <a:cs typeface="Arial"/>
              </a:rPr>
              <a:t> </a:t>
            </a:r>
            <a:r>
              <a:rPr sz="2400" dirty="0">
                <a:latin typeface="Arial"/>
                <a:cs typeface="Arial"/>
              </a:rPr>
              <a:t>must</a:t>
            </a:r>
            <a:r>
              <a:rPr sz="2400" spc="-70" dirty="0">
                <a:latin typeface="Arial"/>
                <a:cs typeface="Arial"/>
              </a:rPr>
              <a:t> </a:t>
            </a:r>
            <a:r>
              <a:rPr sz="2400" dirty="0">
                <a:latin typeface="Arial"/>
                <a:cs typeface="Arial"/>
              </a:rPr>
              <a:t>acknowledge</a:t>
            </a:r>
            <a:r>
              <a:rPr sz="2400" spc="-25" dirty="0">
                <a:latin typeface="Arial"/>
                <a:cs typeface="Arial"/>
              </a:rPr>
              <a:t> </a:t>
            </a:r>
            <a:r>
              <a:rPr sz="2400" dirty="0">
                <a:latin typeface="Arial"/>
                <a:cs typeface="Arial"/>
              </a:rPr>
              <a:t>their</a:t>
            </a:r>
            <a:r>
              <a:rPr sz="2400" spc="-55" dirty="0">
                <a:latin typeface="Arial"/>
                <a:cs typeface="Arial"/>
              </a:rPr>
              <a:t> </a:t>
            </a:r>
            <a:r>
              <a:rPr sz="2400" spc="-25" dirty="0">
                <a:latin typeface="Arial"/>
                <a:cs typeface="Arial"/>
              </a:rPr>
              <a:t>use </a:t>
            </a:r>
            <a:r>
              <a:rPr sz="2400" dirty="0">
                <a:latin typeface="Arial"/>
                <a:cs typeface="Arial"/>
              </a:rPr>
              <a:t>in</a:t>
            </a:r>
            <a:r>
              <a:rPr sz="2400" spc="-90" dirty="0">
                <a:latin typeface="Arial"/>
                <a:cs typeface="Arial"/>
              </a:rPr>
              <a:t> </a:t>
            </a:r>
            <a:r>
              <a:rPr sz="2400" dirty="0">
                <a:latin typeface="Arial"/>
                <a:cs typeface="Arial"/>
              </a:rPr>
              <a:t>your</a:t>
            </a:r>
            <a:r>
              <a:rPr sz="2400" spc="-75" dirty="0">
                <a:latin typeface="Arial"/>
                <a:cs typeface="Arial"/>
              </a:rPr>
              <a:t> </a:t>
            </a:r>
            <a:r>
              <a:rPr sz="2400" dirty="0">
                <a:latin typeface="Arial"/>
                <a:cs typeface="Arial"/>
              </a:rPr>
              <a:t>submission</a:t>
            </a:r>
            <a:r>
              <a:rPr sz="2400" spc="-55" dirty="0">
                <a:latin typeface="Arial"/>
                <a:cs typeface="Arial"/>
              </a:rPr>
              <a:t> </a:t>
            </a:r>
            <a:r>
              <a:rPr sz="2400" spc="-25" dirty="0">
                <a:latin typeface="Arial"/>
                <a:cs typeface="Arial"/>
              </a:rPr>
              <a:t>by:</a:t>
            </a:r>
            <a:endParaRPr sz="2400">
              <a:latin typeface="Arial"/>
              <a:cs typeface="Arial"/>
            </a:endParaRPr>
          </a:p>
          <a:p>
            <a:pPr marL="698500" lvl="1" indent="-228600">
              <a:lnSpc>
                <a:spcPct val="100000"/>
              </a:lnSpc>
              <a:spcBef>
                <a:spcPts val="200"/>
              </a:spcBef>
              <a:buFont typeface="Courier New"/>
              <a:buChar char="o"/>
              <a:tabLst>
                <a:tab pos="698500" algn="l"/>
              </a:tabLst>
            </a:pPr>
            <a:r>
              <a:rPr sz="2200" dirty="0">
                <a:latin typeface="Arial"/>
                <a:cs typeface="Arial"/>
              </a:rPr>
              <a:t>Citing</a:t>
            </a:r>
            <a:r>
              <a:rPr sz="2200" spc="-50" dirty="0">
                <a:latin typeface="Arial"/>
                <a:cs typeface="Arial"/>
              </a:rPr>
              <a:t> </a:t>
            </a:r>
            <a:r>
              <a:rPr sz="2200" spc="-10" dirty="0">
                <a:latin typeface="Arial"/>
                <a:cs typeface="Arial"/>
              </a:rPr>
              <a:t>the</a:t>
            </a:r>
            <a:r>
              <a:rPr sz="2200" spc="-145" dirty="0">
                <a:latin typeface="Arial"/>
                <a:cs typeface="Arial"/>
              </a:rPr>
              <a:t> </a:t>
            </a:r>
            <a:r>
              <a:rPr sz="2200" dirty="0">
                <a:latin typeface="Arial"/>
                <a:cs typeface="Arial"/>
              </a:rPr>
              <a:t>AI</a:t>
            </a:r>
            <a:r>
              <a:rPr sz="2200" spc="-45" dirty="0">
                <a:latin typeface="Arial"/>
                <a:cs typeface="Arial"/>
              </a:rPr>
              <a:t> </a:t>
            </a:r>
            <a:r>
              <a:rPr sz="2200" dirty="0">
                <a:latin typeface="Arial"/>
                <a:cs typeface="Arial"/>
              </a:rPr>
              <a:t>tool(s)</a:t>
            </a:r>
            <a:r>
              <a:rPr sz="2200" spc="-45" dirty="0">
                <a:latin typeface="Arial"/>
                <a:cs typeface="Arial"/>
              </a:rPr>
              <a:t> </a:t>
            </a:r>
            <a:r>
              <a:rPr sz="2200" spc="-10" dirty="0">
                <a:latin typeface="Arial"/>
                <a:cs typeface="Arial"/>
              </a:rPr>
              <a:t>used;</a:t>
            </a:r>
            <a:endParaRPr sz="2200">
              <a:latin typeface="Arial"/>
              <a:cs typeface="Arial"/>
            </a:endParaRPr>
          </a:p>
          <a:p>
            <a:pPr marL="698500" lvl="1" indent="-228600">
              <a:lnSpc>
                <a:spcPct val="100000"/>
              </a:lnSpc>
              <a:spcBef>
                <a:spcPts val="240"/>
              </a:spcBef>
              <a:buFont typeface="Courier New"/>
              <a:buChar char="o"/>
              <a:tabLst>
                <a:tab pos="698500" algn="l"/>
              </a:tabLst>
            </a:pPr>
            <a:r>
              <a:rPr sz="2200" dirty="0">
                <a:latin typeface="Arial"/>
                <a:cs typeface="Arial"/>
              </a:rPr>
              <a:t>Providing</a:t>
            </a:r>
            <a:r>
              <a:rPr sz="2200" spc="-75" dirty="0">
                <a:latin typeface="Arial"/>
                <a:cs typeface="Arial"/>
              </a:rPr>
              <a:t> </a:t>
            </a:r>
            <a:r>
              <a:rPr sz="2200" dirty="0">
                <a:latin typeface="Arial"/>
                <a:cs typeface="Arial"/>
              </a:rPr>
              <a:t>the</a:t>
            </a:r>
            <a:r>
              <a:rPr sz="2200" spc="-80" dirty="0">
                <a:latin typeface="Arial"/>
                <a:cs typeface="Arial"/>
              </a:rPr>
              <a:t> </a:t>
            </a:r>
            <a:r>
              <a:rPr sz="2200" dirty="0">
                <a:latin typeface="Arial"/>
                <a:cs typeface="Arial"/>
              </a:rPr>
              <a:t>input</a:t>
            </a:r>
            <a:r>
              <a:rPr sz="2200" spc="-80" dirty="0">
                <a:latin typeface="Arial"/>
                <a:cs typeface="Arial"/>
              </a:rPr>
              <a:t> </a:t>
            </a:r>
            <a:r>
              <a:rPr sz="2200" dirty="0">
                <a:latin typeface="Arial"/>
                <a:cs typeface="Arial"/>
              </a:rPr>
              <a:t>prompt(s)</a:t>
            </a:r>
            <a:r>
              <a:rPr sz="2200" spc="-55" dirty="0">
                <a:latin typeface="Arial"/>
                <a:cs typeface="Arial"/>
              </a:rPr>
              <a:t> </a:t>
            </a:r>
            <a:r>
              <a:rPr sz="2200" dirty="0">
                <a:latin typeface="Arial"/>
                <a:cs typeface="Arial"/>
              </a:rPr>
              <a:t>and</a:t>
            </a:r>
            <a:r>
              <a:rPr sz="2200" spc="-70" dirty="0">
                <a:latin typeface="Arial"/>
                <a:cs typeface="Arial"/>
              </a:rPr>
              <a:t> </a:t>
            </a:r>
            <a:r>
              <a:rPr sz="2200" dirty="0">
                <a:latin typeface="Arial"/>
                <a:cs typeface="Arial"/>
              </a:rPr>
              <a:t>relevant</a:t>
            </a:r>
            <a:r>
              <a:rPr sz="2200" spc="-65" dirty="0">
                <a:latin typeface="Arial"/>
                <a:cs typeface="Arial"/>
              </a:rPr>
              <a:t> </a:t>
            </a:r>
            <a:r>
              <a:rPr sz="2200" dirty="0">
                <a:latin typeface="Arial"/>
                <a:cs typeface="Arial"/>
              </a:rPr>
              <a:t>response(s);</a:t>
            </a:r>
            <a:r>
              <a:rPr sz="2200" spc="-65" dirty="0">
                <a:latin typeface="Arial"/>
                <a:cs typeface="Arial"/>
              </a:rPr>
              <a:t> </a:t>
            </a:r>
            <a:r>
              <a:rPr sz="2200" spc="-25" dirty="0">
                <a:latin typeface="Arial"/>
                <a:cs typeface="Arial"/>
              </a:rPr>
              <a:t>and</a:t>
            </a:r>
            <a:endParaRPr sz="2200">
              <a:latin typeface="Arial"/>
              <a:cs typeface="Arial"/>
            </a:endParaRPr>
          </a:p>
          <a:p>
            <a:pPr marL="698500" lvl="1" indent="-228600">
              <a:lnSpc>
                <a:spcPct val="100000"/>
              </a:lnSpc>
              <a:spcBef>
                <a:spcPts val="229"/>
              </a:spcBef>
              <a:buFont typeface="Courier New"/>
              <a:buChar char="o"/>
              <a:tabLst>
                <a:tab pos="698500" algn="l"/>
              </a:tabLst>
            </a:pPr>
            <a:r>
              <a:rPr sz="2200" dirty="0">
                <a:latin typeface="Arial"/>
                <a:cs typeface="Arial"/>
              </a:rPr>
              <a:t>Explaining</a:t>
            </a:r>
            <a:r>
              <a:rPr sz="2200" spc="-85" dirty="0">
                <a:latin typeface="Arial"/>
                <a:cs typeface="Arial"/>
              </a:rPr>
              <a:t> </a:t>
            </a:r>
            <a:r>
              <a:rPr sz="2200" dirty="0">
                <a:latin typeface="Arial"/>
                <a:cs typeface="Arial"/>
              </a:rPr>
              <a:t>how</a:t>
            </a:r>
            <a:r>
              <a:rPr sz="2200" spc="-60" dirty="0">
                <a:latin typeface="Arial"/>
                <a:cs typeface="Arial"/>
              </a:rPr>
              <a:t> </a:t>
            </a:r>
            <a:r>
              <a:rPr sz="2200" dirty="0">
                <a:latin typeface="Arial"/>
                <a:cs typeface="Arial"/>
              </a:rPr>
              <a:t>and</a:t>
            </a:r>
            <a:r>
              <a:rPr sz="2200" spc="-45" dirty="0">
                <a:latin typeface="Arial"/>
                <a:cs typeface="Arial"/>
              </a:rPr>
              <a:t> </a:t>
            </a:r>
            <a:r>
              <a:rPr sz="2200" dirty="0">
                <a:latin typeface="Arial"/>
                <a:cs typeface="Arial"/>
              </a:rPr>
              <a:t>where</a:t>
            </a:r>
            <a:r>
              <a:rPr sz="2200" spc="-45" dirty="0">
                <a:latin typeface="Arial"/>
                <a:cs typeface="Arial"/>
              </a:rPr>
              <a:t> </a:t>
            </a:r>
            <a:r>
              <a:rPr sz="2200" spc="-10" dirty="0">
                <a:latin typeface="Arial"/>
                <a:cs typeface="Arial"/>
              </a:rPr>
              <a:t>the</a:t>
            </a:r>
            <a:r>
              <a:rPr sz="2200" spc="-140" dirty="0">
                <a:latin typeface="Arial"/>
                <a:cs typeface="Arial"/>
              </a:rPr>
              <a:t> </a:t>
            </a:r>
            <a:r>
              <a:rPr sz="2200" dirty="0">
                <a:latin typeface="Arial"/>
                <a:cs typeface="Arial"/>
              </a:rPr>
              <a:t>AI-generated</a:t>
            </a:r>
            <a:r>
              <a:rPr sz="2200" spc="-50" dirty="0">
                <a:latin typeface="Arial"/>
                <a:cs typeface="Arial"/>
              </a:rPr>
              <a:t> </a:t>
            </a:r>
            <a:r>
              <a:rPr sz="2200" dirty="0">
                <a:latin typeface="Arial"/>
                <a:cs typeface="Arial"/>
              </a:rPr>
              <a:t>content</a:t>
            </a:r>
            <a:r>
              <a:rPr sz="2200" spc="-65" dirty="0">
                <a:latin typeface="Arial"/>
                <a:cs typeface="Arial"/>
              </a:rPr>
              <a:t> </a:t>
            </a:r>
            <a:r>
              <a:rPr sz="2200" dirty="0">
                <a:latin typeface="Arial"/>
                <a:cs typeface="Arial"/>
              </a:rPr>
              <a:t>was</a:t>
            </a:r>
            <a:r>
              <a:rPr sz="2200" spc="-45" dirty="0">
                <a:latin typeface="Arial"/>
                <a:cs typeface="Arial"/>
              </a:rPr>
              <a:t> </a:t>
            </a:r>
            <a:r>
              <a:rPr sz="2200" dirty="0">
                <a:latin typeface="Arial"/>
                <a:cs typeface="Arial"/>
              </a:rPr>
              <a:t>used</a:t>
            </a:r>
            <a:r>
              <a:rPr sz="2200" spc="-55" dirty="0">
                <a:latin typeface="Arial"/>
                <a:cs typeface="Arial"/>
              </a:rPr>
              <a:t> </a:t>
            </a:r>
            <a:r>
              <a:rPr sz="2200" dirty="0">
                <a:latin typeface="Arial"/>
                <a:cs typeface="Arial"/>
              </a:rPr>
              <a:t>in</a:t>
            </a:r>
            <a:r>
              <a:rPr sz="2200" spc="-65" dirty="0">
                <a:latin typeface="Arial"/>
                <a:cs typeface="Arial"/>
              </a:rPr>
              <a:t> </a:t>
            </a:r>
            <a:r>
              <a:rPr sz="2200" dirty="0">
                <a:latin typeface="Arial"/>
                <a:cs typeface="Arial"/>
              </a:rPr>
              <a:t>your</a:t>
            </a:r>
            <a:r>
              <a:rPr sz="2200" spc="-40" dirty="0">
                <a:latin typeface="Arial"/>
                <a:cs typeface="Arial"/>
              </a:rPr>
              <a:t> </a:t>
            </a:r>
            <a:r>
              <a:rPr sz="2200" spc="-10" dirty="0">
                <a:latin typeface="Arial"/>
                <a:cs typeface="Arial"/>
              </a:rPr>
              <a:t>work.</a:t>
            </a:r>
            <a:endParaRPr sz="2200">
              <a:latin typeface="Arial"/>
              <a:cs typeface="Arial"/>
            </a:endParaRPr>
          </a:p>
          <a:p>
            <a:pPr lvl="1">
              <a:lnSpc>
                <a:spcPct val="100000"/>
              </a:lnSpc>
              <a:spcBef>
                <a:spcPts val="1065"/>
              </a:spcBef>
              <a:buFont typeface="Courier New"/>
              <a:buChar char="o"/>
            </a:pPr>
            <a:endParaRPr sz="2200">
              <a:latin typeface="Arial"/>
              <a:cs typeface="Arial"/>
            </a:endParaRPr>
          </a:p>
          <a:p>
            <a:pPr marL="355600" indent="-342900">
              <a:lnSpc>
                <a:spcPct val="100000"/>
              </a:lnSpc>
              <a:buChar char="•"/>
              <a:tabLst>
                <a:tab pos="355600" algn="l"/>
              </a:tabLst>
            </a:pPr>
            <a:r>
              <a:rPr sz="2400" dirty="0">
                <a:latin typeface="Arial"/>
                <a:cs typeface="Arial"/>
              </a:rPr>
              <a:t>Where</a:t>
            </a:r>
            <a:r>
              <a:rPr sz="2400" spc="-85" dirty="0">
                <a:latin typeface="Arial"/>
                <a:cs typeface="Arial"/>
              </a:rPr>
              <a:t> </a:t>
            </a:r>
            <a:r>
              <a:rPr sz="2400" dirty="0">
                <a:latin typeface="Arial"/>
                <a:cs typeface="Arial"/>
              </a:rPr>
              <a:t>required,</a:t>
            </a:r>
            <a:r>
              <a:rPr sz="2400" spc="-40" dirty="0">
                <a:latin typeface="Arial"/>
                <a:cs typeface="Arial"/>
              </a:rPr>
              <a:t> </a:t>
            </a:r>
            <a:r>
              <a:rPr sz="2400" dirty="0">
                <a:latin typeface="Arial"/>
                <a:cs typeface="Arial"/>
              </a:rPr>
              <a:t>you</a:t>
            </a:r>
            <a:r>
              <a:rPr sz="2400" spc="-60" dirty="0">
                <a:latin typeface="Arial"/>
                <a:cs typeface="Arial"/>
              </a:rPr>
              <a:t> </a:t>
            </a:r>
            <a:r>
              <a:rPr sz="2400" dirty="0">
                <a:latin typeface="Arial"/>
                <a:cs typeface="Arial"/>
              </a:rPr>
              <a:t>may</a:t>
            </a:r>
            <a:r>
              <a:rPr sz="2400" spc="-55" dirty="0">
                <a:latin typeface="Arial"/>
                <a:cs typeface="Arial"/>
              </a:rPr>
              <a:t> </a:t>
            </a:r>
            <a:r>
              <a:rPr sz="2400" dirty="0">
                <a:latin typeface="Arial"/>
                <a:cs typeface="Arial"/>
              </a:rPr>
              <a:t>also</a:t>
            </a:r>
            <a:r>
              <a:rPr sz="2400" spc="-45" dirty="0">
                <a:latin typeface="Arial"/>
                <a:cs typeface="Arial"/>
              </a:rPr>
              <a:t> </a:t>
            </a:r>
            <a:r>
              <a:rPr sz="2400" dirty="0">
                <a:latin typeface="Arial"/>
                <a:cs typeface="Arial"/>
              </a:rPr>
              <a:t>be</a:t>
            </a:r>
            <a:r>
              <a:rPr sz="2400" spc="-60" dirty="0">
                <a:latin typeface="Arial"/>
                <a:cs typeface="Arial"/>
              </a:rPr>
              <a:t> </a:t>
            </a:r>
            <a:r>
              <a:rPr sz="2400" dirty="0">
                <a:latin typeface="Arial"/>
                <a:cs typeface="Arial"/>
              </a:rPr>
              <a:t>asked</a:t>
            </a:r>
            <a:r>
              <a:rPr sz="2400" spc="-50" dirty="0">
                <a:latin typeface="Arial"/>
                <a:cs typeface="Arial"/>
              </a:rPr>
              <a:t> </a:t>
            </a:r>
            <a:r>
              <a:rPr sz="2400" dirty="0">
                <a:latin typeface="Arial"/>
                <a:cs typeface="Arial"/>
              </a:rPr>
              <a:t>to</a:t>
            </a:r>
            <a:r>
              <a:rPr sz="2400" spc="-60" dirty="0">
                <a:latin typeface="Arial"/>
                <a:cs typeface="Arial"/>
              </a:rPr>
              <a:t> </a:t>
            </a:r>
            <a:r>
              <a:rPr sz="2400" dirty="0">
                <a:latin typeface="Arial"/>
                <a:cs typeface="Arial"/>
              </a:rPr>
              <a:t>attend</a:t>
            </a:r>
            <a:r>
              <a:rPr sz="2400" spc="-65" dirty="0">
                <a:latin typeface="Arial"/>
                <a:cs typeface="Arial"/>
              </a:rPr>
              <a:t> </a:t>
            </a:r>
            <a:r>
              <a:rPr sz="2400" dirty="0">
                <a:latin typeface="Arial"/>
                <a:cs typeface="Arial"/>
              </a:rPr>
              <a:t>a</a:t>
            </a:r>
            <a:r>
              <a:rPr sz="2400" spc="-65" dirty="0">
                <a:latin typeface="Arial"/>
                <a:cs typeface="Arial"/>
              </a:rPr>
              <a:t> </a:t>
            </a:r>
            <a:r>
              <a:rPr sz="2400" dirty="0">
                <a:latin typeface="Arial"/>
                <a:cs typeface="Arial"/>
              </a:rPr>
              <a:t>Q&amp;A</a:t>
            </a:r>
            <a:r>
              <a:rPr sz="2400" spc="-165" dirty="0">
                <a:latin typeface="Arial"/>
                <a:cs typeface="Arial"/>
              </a:rPr>
              <a:t> </a:t>
            </a:r>
            <a:r>
              <a:rPr sz="2400" dirty="0">
                <a:latin typeface="Arial"/>
                <a:cs typeface="Arial"/>
              </a:rPr>
              <a:t>session</a:t>
            </a:r>
            <a:r>
              <a:rPr sz="2400" spc="-50" dirty="0">
                <a:latin typeface="Arial"/>
                <a:cs typeface="Arial"/>
              </a:rPr>
              <a:t> </a:t>
            </a:r>
            <a:r>
              <a:rPr sz="2400" spc="-25" dirty="0">
                <a:latin typeface="Arial"/>
                <a:cs typeface="Arial"/>
              </a:rPr>
              <a:t>to:</a:t>
            </a:r>
            <a:endParaRPr sz="2400">
              <a:latin typeface="Arial"/>
              <a:cs typeface="Arial"/>
            </a:endParaRPr>
          </a:p>
          <a:p>
            <a:pPr marL="698500" lvl="1" indent="-228600">
              <a:lnSpc>
                <a:spcPct val="100000"/>
              </a:lnSpc>
              <a:spcBef>
                <a:spcPts val="595"/>
              </a:spcBef>
              <a:buFont typeface="Courier New"/>
              <a:buChar char="o"/>
              <a:tabLst>
                <a:tab pos="698500" algn="l"/>
              </a:tabLst>
            </a:pPr>
            <a:r>
              <a:rPr sz="2200" dirty="0">
                <a:latin typeface="Arial"/>
                <a:cs typeface="Arial"/>
              </a:rPr>
              <a:t>Explain</a:t>
            </a:r>
            <a:r>
              <a:rPr sz="2200" spc="-95" dirty="0">
                <a:latin typeface="Arial"/>
                <a:cs typeface="Arial"/>
              </a:rPr>
              <a:t> </a:t>
            </a:r>
            <a:r>
              <a:rPr sz="2200" dirty="0">
                <a:latin typeface="Arial"/>
                <a:cs typeface="Arial"/>
              </a:rPr>
              <a:t>how</a:t>
            </a:r>
            <a:r>
              <a:rPr sz="2200" spc="-60" dirty="0">
                <a:latin typeface="Arial"/>
                <a:cs typeface="Arial"/>
              </a:rPr>
              <a:t> </a:t>
            </a:r>
            <a:r>
              <a:rPr sz="2200" spc="-10" dirty="0">
                <a:latin typeface="Arial"/>
                <a:cs typeface="Arial"/>
              </a:rPr>
              <a:t>the</a:t>
            </a:r>
            <a:r>
              <a:rPr sz="2200" spc="-145" dirty="0">
                <a:latin typeface="Arial"/>
                <a:cs typeface="Arial"/>
              </a:rPr>
              <a:t> </a:t>
            </a:r>
            <a:r>
              <a:rPr sz="2200" spc="-10" dirty="0">
                <a:latin typeface="Arial"/>
                <a:cs typeface="Arial"/>
              </a:rPr>
              <a:t>AI-</a:t>
            </a:r>
            <a:r>
              <a:rPr sz="2200" dirty="0">
                <a:latin typeface="Arial"/>
                <a:cs typeface="Arial"/>
              </a:rPr>
              <a:t>generated</a:t>
            </a:r>
            <a:r>
              <a:rPr sz="2200" spc="-50" dirty="0">
                <a:latin typeface="Arial"/>
                <a:cs typeface="Arial"/>
              </a:rPr>
              <a:t> </a:t>
            </a:r>
            <a:r>
              <a:rPr sz="2200" dirty="0">
                <a:latin typeface="Arial"/>
                <a:cs typeface="Arial"/>
              </a:rPr>
              <a:t>content</a:t>
            </a:r>
            <a:r>
              <a:rPr sz="2200" spc="-65" dirty="0">
                <a:latin typeface="Arial"/>
                <a:cs typeface="Arial"/>
              </a:rPr>
              <a:t> </a:t>
            </a:r>
            <a:r>
              <a:rPr sz="2200" dirty="0">
                <a:latin typeface="Arial"/>
                <a:cs typeface="Arial"/>
              </a:rPr>
              <a:t>influenced</a:t>
            </a:r>
            <a:r>
              <a:rPr sz="2200" spc="-70" dirty="0">
                <a:latin typeface="Arial"/>
                <a:cs typeface="Arial"/>
              </a:rPr>
              <a:t> </a:t>
            </a:r>
            <a:r>
              <a:rPr sz="2200" dirty="0">
                <a:latin typeface="Arial"/>
                <a:cs typeface="Arial"/>
              </a:rPr>
              <a:t>your</a:t>
            </a:r>
            <a:r>
              <a:rPr sz="2200" spc="-55" dirty="0">
                <a:latin typeface="Arial"/>
                <a:cs typeface="Arial"/>
              </a:rPr>
              <a:t> </a:t>
            </a:r>
            <a:r>
              <a:rPr sz="2200" dirty="0">
                <a:latin typeface="Arial"/>
                <a:cs typeface="Arial"/>
              </a:rPr>
              <a:t>work;</a:t>
            </a:r>
            <a:r>
              <a:rPr sz="2200" spc="-50" dirty="0">
                <a:latin typeface="Arial"/>
                <a:cs typeface="Arial"/>
              </a:rPr>
              <a:t> </a:t>
            </a:r>
            <a:r>
              <a:rPr sz="2200" spc="-10" dirty="0">
                <a:latin typeface="Arial"/>
                <a:cs typeface="Arial"/>
              </a:rPr>
              <a:t>and/or</a:t>
            </a:r>
            <a:endParaRPr sz="2200">
              <a:latin typeface="Arial"/>
              <a:cs typeface="Arial"/>
            </a:endParaRPr>
          </a:p>
          <a:p>
            <a:pPr marL="698500" lvl="1" indent="-228600">
              <a:lnSpc>
                <a:spcPct val="100000"/>
              </a:lnSpc>
              <a:spcBef>
                <a:spcPts val="605"/>
              </a:spcBef>
              <a:buFont typeface="Courier New"/>
              <a:buChar char="o"/>
              <a:tabLst>
                <a:tab pos="698500" algn="l"/>
              </a:tabLst>
            </a:pPr>
            <a:r>
              <a:rPr sz="2200" spc="-10" dirty="0">
                <a:latin typeface="Arial"/>
                <a:cs typeface="Arial"/>
              </a:rPr>
              <a:t>Verify</a:t>
            </a:r>
            <a:r>
              <a:rPr sz="2200" spc="-75" dirty="0">
                <a:latin typeface="Arial"/>
                <a:cs typeface="Arial"/>
              </a:rPr>
              <a:t> </a:t>
            </a:r>
            <a:r>
              <a:rPr sz="2200" dirty="0">
                <a:latin typeface="Arial"/>
                <a:cs typeface="Arial"/>
              </a:rPr>
              <a:t>the</a:t>
            </a:r>
            <a:r>
              <a:rPr sz="2200" spc="-75" dirty="0">
                <a:latin typeface="Arial"/>
                <a:cs typeface="Arial"/>
              </a:rPr>
              <a:t> </a:t>
            </a:r>
            <a:r>
              <a:rPr sz="2200" dirty="0">
                <a:latin typeface="Arial"/>
                <a:cs typeface="Arial"/>
              </a:rPr>
              <a:t>authenticity</a:t>
            </a:r>
            <a:r>
              <a:rPr sz="2200" spc="-80" dirty="0">
                <a:latin typeface="Arial"/>
                <a:cs typeface="Arial"/>
              </a:rPr>
              <a:t> </a:t>
            </a:r>
            <a:r>
              <a:rPr sz="2200" dirty="0">
                <a:latin typeface="Arial"/>
                <a:cs typeface="Arial"/>
              </a:rPr>
              <a:t>of</a:t>
            </a:r>
            <a:r>
              <a:rPr sz="2200" spc="-80" dirty="0">
                <a:latin typeface="Arial"/>
                <a:cs typeface="Arial"/>
              </a:rPr>
              <a:t> </a:t>
            </a:r>
            <a:r>
              <a:rPr sz="2200" dirty="0">
                <a:latin typeface="Arial"/>
                <a:cs typeface="Arial"/>
              </a:rPr>
              <a:t>your</a:t>
            </a:r>
            <a:r>
              <a:rPr sz="2200" spc="-55" dirty="0">
                <a:latin typeface="Arial"/>
                <a:cs typeface="Arial"/>
              </a:rPr>
              <a:t> </a:t>
            </a:r>
            <a:r>
              <a:rPr sz="2200" dirty="0">
                <a:latin typeface="Arial"/>
                <a:cs typeface="Arial"/>
              </a:rPr>
              <a:t>submission;</a:t>
            </a:r>
            <a:r>
              <a:rPr sz="2200" spc="-85" dirty="0">
                <a:latin typeface="Arial"/>
                <a:cs typeface="Arial"/>
              </a:rPr>
              <a:t> </a:t>
            </a:r>
            <a:r>
              <a:rPr sz="2200" spc="-10" dirty="0">
                <a:latin typeface="Arial"/>
                <a:cs typeface="Arial"/>
              </a:rPr>
              <a:t>and/or</a:t>
            </a:r>
            <a:endParaRPr sz="2200">
              <a:latin typeface="Arial"/>
              <a:cs typeface="Arial"/>
            </a:endParaRPr>
          </a:p>
          <a:p>
            <a:pPr marL="698500" marR="196850" lvl="1" indent="-228600">
              <a:lnSpc>
                <a:spcPct val="100000"/>
              </a:lnSpc>
              <a:spcBef>
                <a:spcPts val="600"/>
              </a:spcBef>
              <a:buFont typeface="Courier New"/>
              <a:buChar char="o"/>
              <a:tabLst>
                <a:tab pos="698500" algn="l"/>
              </a:tabLst>
            </a:pPr>
            <a:r>
              <a:rPr sz="2200" dirty="0">
                <a:latin typeface="Arial"/>
                <a:cs typeface="Arial"/>
              </a:rPr>
              <a:t>Provide</a:t>
            </a:r>
            <a:r>
              <a:rPr sz="2200" spc="-65" dirty="0">
                <a:latin typeface="Arial"/>
                <a:cs typeface="Arial"/>
              </a:rPr>
              <a:t> </a:t>
            </a:r>
            <a:r>
              <a:rPr sz="2200" dirty="0">
                <a:latin typeface="Arial"/>
                <a:cs typeface="Arial"/>
              </a:rPr>
              <a:t>additional</a:t>
            </a:r>
            <a:r>
              <a:rPr sz="2200" spc="-75" dirty="0">
                <a:latin typeface="Arial"/>
                <a:cs typeface="Arial"/>
              </a:rPr>
              <a:t> </a:t>
            </a:r>
            <a:r>
              <a:rPr sz="2200" dirty="0">
                <a:latin typeface="Arial"/>
                <a:cs typeface="Arial"/>
              </a:rPr>
              <a:t>materials</a:t>
            </a:r>
            <a:r>
              <a:rPr sz="2200" spc="-60" dirty="0">
                <a:latin typeface="Arial"/>
                <a:cs typeface="Arial"/>
              </a:rPr>
              <a:t> </a:t>
            </a:r>
            <a:r>
              <a:rPr sz="2200" dirty="0">
                <a:latin typeface="Arial"/>
                <a:cs typeface="Arial"/>
              </a:rPr>
              <a:t>(e.g.,</a:t>
            </a:r>
            <a:r>
              <a:rPr sz="2200" spc="-60" dirty="0">
                <a:latin typeface="Arial"/>
                <a:cs typeface="Arial"/>
              </a:rPr>
              <a:t> </a:t>
            </a:r>
            <a:r>
              <a:rPr sz="2200" dirty="0">
                <a:latin typeface="Arial"/>
                <a:cs typeface="Arial"/>
              </a:rPr>
              <a:t>drafts</a:t>
            </a:r>
            <a:r>
              <a:rPr sz="2200" spc="-65" dirty="0">
                <a:latin typeface="Arial"/>
                <a:cs typeface="Arial"/>
              </a:rPr>
              <a:t> </a:t>
            </a:r>
            <a:r>
              <a:rPr sz="2200" dirty="0">
                <a:latin typeface="Arial"/>
                <a:cs typeface="Arial"/>
              </a:rPr>
              <a:t>of</a:t>
            </a:r>
            <a:r>
              <a:rPr sz="2200" spc="-60" dirty="0">
                <a:latin typeface="Arial"/>
                <a:cs typeface="Arial"/>
              </a:rPr>
              <a:t> </a:t>
            </a:r>
            <a:r>
              <a:rPr sz="2200" dirty="0">
                <a:latin typeface="Arial"/>
                <a:cs typeface="Arial"/>
              </a:rPr>
              <a:t>your</a:t>
            </a:r>
            <a:r>
              <a:rPr sz="2200" spc="-60" dirty="0">
                <a:latin typeface="Arial"/>
                <a:cs typeface="Arial"/>
              </a:rPr>
              <a:t> </a:t>
            </a:r>
            <a:r>
              <a:rPr sz="2200" dirty="0">
                <a:latin typeface="Arial"/>
                <a:cs typeface="Arial"/>
              </a:rPr>
              <a:t>original</a:t>
            </a:r>
            <a:r>
              <a:rPr sz="2200" spc="-70" dirty="0">
                <a:latin typeface="Arial"/>
                <a:cs typeface="Arial"/>
              </a:rPr>
              <a:t> </a:t>
            </a:r>
            <a:r>
              <a:rPr sz="2200" dirty="0">
                <a:latin typeface="Arial"/>
                <a:cs typeface="Arial"/>
              </a:rPr>
              <a:t>work)</a:t>
            </a:r>
            <a:r>
              <a:rPr sz="2200" spc="-65" dirty="0">
                <a:latin typeface="Arial"/>
                <a:cs typeface="Arial"/>
              </a:rPr>
              <a:t> </a:t>
            </a:r>
            <a:r>
              <a:rPr sz="2200" dirty="0">
                <a:latin typeface="Arial"/>
                <a:cs typeface="Arial"/>
              </a:rPr>
              <a:t>to</a:t>
            </a:r>
            <a:r>
              <a:rPr sz="2200" spc="-75" dirty="0">
                <a:latin typeface="Arial"/>
                <a:cs typeface="Arial"/>
              </a:rPr>
              <a:t> </a:t>
            </a:r>
            <a:r>
              <a:rPr sz="2200" dirty="0">
                <a:latin typeface="Arial"/>
                <a:cs typeface="Arial"/>
              </a:rPr>
              <a:t>determine</a:t>
            </a:r>
            <a:r>
              <a:rPr sz="2200" spc="-50" dirty="0">
                <a:latin typeface="Arial"/>
                <a:cs typeface="Arial"/>
              </a:rPr>
              <a:t> </a:t>
            </a:r>
            <a:r>
              <a:rPr sz="2200" spc="-25" dirty="0">
                <a:latin typeface="Arial"/>
                <a:cs typeface="Arial"/>
              </a:rPr>
              <a:t>the </a:t>
            </a:r>
            <a:r>
              <a:rPr sz="2200" dirty="0">
                <a:latin typeface="Arial"/>
                <a:cs typeface="Arial"/>
              </a:rPr>
              <a:t>extent</a:t>
            </a:r>
            <a:r>
              <a:rPr sz="2200" spc="-85" dirty="0">
                <a:latin typeface="Arial"/>
                <a:cs typeface="Arial"/>
              </a:rPr>
              <a:t> </a:t>
            </a:r>
            <a:r>
              <a:rPr sz="2200" dirty="0">
                <a:latin typeface="Arial"/>
                <a:cs typeface="Arial"/>
              </a:rPr>
              <a:t>of</a:t>
            </a:r>
            <a:r>
              <a:rPr sz="2200" spc="-75" dirty="0">
                <a:latin typeface="Arial"/>
                <a:cs typeface="Arial"/>
              </a:rPr>
              <a:t> </a:t>
            </a:r>
            <a:r>
              <a:rPr sz="2200" dirty="0">
                <a:latin typeface="Arial"/>
                <a:cs typeface="Arial"/>
              </a:rPr>
              <a:t>your</a:t>
            </a:r>
            <a:r>
              <a:rPr sz="2200" spc="-50" dirty="0">
                <a:latin typeface="Arial"/>
                <a:cs typeface="Arial"/>
              </a:rPr>
              <a:t> </a:t>
            </a:r>
            <a:r>
              <a:rPr sz="2200" dirty="0">
                <a:latin typeface="Arial"/>
                <a:cs typeface="Arial"/>
              </a:rPr>
              <a:t>original</a:t>
            </a:r>
            <a:r>
              <a:rPr sz="2200" spc="-80" dirty="0">
                <a:latin typeface="Arial"/>
                <a:cs typeface="Arial"/>
              </a:rPr>
              <a:t> </a:t>
            </a:r>
            <a:r>
              <a:rPr sz="2200" dirty="0">
                <a:latin typeface="Arial"/>
                <a:cs typeface="Arial"/>
              </a:rPr>
              <a:t>contribution</a:t>
            </a:r>
            <a:r>
              <a:rPr sz="2200" spc="-75" dirty="0">
                <a:latin typeface="Arial"/>
                <a:cs typeface="Arial"/>
              </a:rPr>
              <a:t> </a:t>
            </a:r>
            <a:r>
              <a:rPr sz="2200" dirty="0">
                <a:latin typeface="Arial"/>
                <a:cs typeface="Arial"/>
              </a:rPr>
              <a:t>relative</a:t>
            </a:r>
            <a:r>
              <a:rPr sz="2200" spc="-65" dirty="0">
                <a:latin typeface="Arial"/>
                <a:cs typeface="Arial"/>
              </a:rPr>
              <a:t> </a:t>
            </a:r>
            <a:r>
              <a:rPr sz="2200" dirty="0">
                <a:latin typeface="Arial"/>
                <a:cs typeface="Arial"/>
              </a:rPr>
              <a:t>to</a:t>
            </a:r>
            <a:r>
              <a:rPr sz="2200" spc="-150" dirty="0">
                <a:latin typeface="Arial"/>
                <a:cs typeface="Arial"/>
              </a:rPr>
              <a:t> </a:t>
            </a:r>
            <a:r>
              <a:rPr sz="2200" dirty="0">
                <a:latin typeface="Arial"/>
                <a:cs typeface="Arial"/>
              </a:rPr>
              <a:t>AI-generated</a:t>
            </a:r>
            <a:r>
              <a:rPr sz="2200" spc="-50" dirty="0">
                <a:latin typeface="Arial"/>
                <a:cs typeface="Arial"/>
              </a:rPr>
              <a:t> </a:t>
            </a:r>
            <a:r>
              <a:rPr sz="2200" dirty="0">
                <a:latin typeface="Arial"/>
                <a:cs typeface="Arial"/>
              </a:rPr>
              <a:t>content;</a:t>
            </a:r>
            <a:r>
              <a:rPr sz="2200" spc="-75" dirty="0">
                <a:latin typeface="Arial"/>
                <a:cs typeface="Arial"/>
              </a:rPr>
              <a:t> </a:t>
            </a:r>
            <a:r>
              <a:rPr sz="2200" spc="-10" dirty="0">
                <a:latin typeface="Arial"/>
                <a:cs typeface="Arial"/>
              </a:rPr>
              <a:t>and/or</a:t>
            </a:r>
            <a:endParaRPr sz="2200">
              <a:latin typeface="Arial"/>
              <a:cs typeface="Arial"/>
            </a:endParaRPr>
          </a:p>
          <a:p>
            <a:pPr marL="698500" lvl="1" indent="-228600">
              <a:lnSpc>
                <a:spcPct val="100000"/>
              </a:lnSpc>
              <a:spcBef>
                <a:spcPts val="600"/>
              </a:spcBef>
              <a:buFont typeface="Courier New"/>
              <a:buChar char="o"/>
              <a:tabLst>
                <a:tab pos="698500" algn="l"/>
              </a:tabLst>
            </a:pPr>
            <a:r>
              <a:rPr sz="2200" dirty="0">
                <a:latin typeface="Arial"/>
                <a:cs typeface="Arial"/>
              </a:rPr>
              <a:t>Demonstrate</a:t>
            </a:r>
            <a:r>
              <a:rPr sz="2200" spc="-80" dirty="0">
                <a:latin typeface="Arial"/>
                <a:cs typeface="Arial"/>
              </a:rPr>
              <a:t> </a:t>
            </a:r>
            <a:r>
              <a:rPr sz="2200" dirty="0">
                <a:latin typeface="Arial"/>
                <a:cs typeface="Arial"/>
              </a:rPr>
              <a:t>your</a:t>
            </a:r>
            <a:r>
              <a:rPr sz="2200" spc="-60" dirty="0">
                <a:latin typeface="Arial"/>
                <a:cs typeface="Arial"/>
              </a:rPr>
              <a:t> </a:t>
            </a:r>
            <a:r>
              <a:rPr sz="2200" spc="-10" dirty="0">
                <a:latin typeface="Arial"/>
                <a:cs typeface="Arial"/>
              </a:rPr>
              <a:t>understanding</a:t>
            </a:r>
            <a:r>
              <a:rPr sz="2200" spc="-60" dirty="0">
                <a:latin typeface="Arial"/>
                <a:cs typeface="Arial"/>
              </a:rPr>
              <a:t> </a:t>
            </a:r>
            <a:r>
              <a:rPr sz="2200" dirty="0">
                <a:latin typeface="Arial"/>
                <a:cs typeface="Arial"/>
              </a:rPr>
              <a:t>of</a:t>
            </a:r>
            <a:r>
              <a:rPr sz="2200" spc="-70" dirty="0">
                <a:latin typeface="Arial"/>
                <a:cs typeface="Arial"/>
              </a:rPr>
              <a:t> </a:t>
            </a:r>
            <a:r>
              <a:rPr sz="2200" spc="-10" dirty="0">
                <a:latin typeface="Arial"/>
                <a:cs typeface="Arial"/>
              </a:rPr>
              <a:t>the</a:t>
            </a:r>
            <a:r>
              <a:rPr sz="2200" spc="-145" dirty="0">
                <a:latin typeface="Arial"/>
                <a:cs typeface="Arial"/>
              </a:rPr>
              <a:t> </a:t>
            </a:r>
            <a:r>
              <a:rPr sz="2200" dirty="0">
                <a:latin typeface="Arial"/>
                <a:cs typeface="Arial"/>
              </a:rPr>
              <a:t>AI-generated</a:t>
            </a:r>
            <a:r>
              <a:rPr sz="2200" spc="-45" dirty="0">
                <a:latin typeface="Arial"/>
                <a:cs typeface="Arial"/>
              </a:rPr>
              <a:t> </a:t>
            </a:r>
            <a:r>
              <a:rPr sz="2200" spc="-10" dirty="0">
                <a:latin typeface="Arial"/>
                <a:cs typeface="Arial"/>
              </a:rPr>
              <a:t>response(s).</a:t>
            </a:r>
            <a:endParaRPr sz="22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17</a:t>
            </a:fld>
            <a:endParaRPr spc="-25" dirty="0"/>
          </a:p>
        </p:txBody>
      </p:sp>
      <p:sp>
        <p:nvSpPr>
          <p:cNvPr id="6" name="object 6"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Using</a:t>
            </a:r>
            <a:r>
              <a:rPr spc="-85" dirty="0"/>
              <a:t> </a:t>
            </a:r>
            <a:r>
              <a:rPr dirty="0"/>
              <a:t>AI</a:t>
            </a:r>
            <a:r>
              <a:rPr spc="-65" dirty="0"/>
              <a:t> </a:t>
            </a:r>
            <a:r>
              <a:rPr dirty="0"/>
              <a:t>Tool</a:t>
            </a:r>
            <a:r>
              <a:rPr spc="-75" dirty="0"/>
              <a:t> </a:t>
            </a:r>
            <a:r>
              <a:rPr dirty="0"/>
              <a:t>in</a:t>
            </a:r>
            <a:r>
              <a:rPr spc="-75" dirty="0"/>
              <a:t> </a:t>
            </a:r>
            <a:r>
              <a:rPr spc="-10" dirty="0"/>
              <a:t>Assessment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Citing</a:t>
            </a:r>
            <a:r>
              <a:rPr spc="-50" dirty="0"/>
              <a:t> </a:t>
            </a:r>
            <a:r>
              <a:rPr dirty="0"/>
              <a:t>the</a:t>
            </a:r>
            <a:r>
              <a:rPr spc="-25" dirty="0"/>
              <a:t> </a:t>
            </a:r>
            <a:r>
              <a:rPr dirty="0"/>
              <a:t>Use</a:t>
            </a:r>
            <a:r>
              <a:rPr spc="-25" dirty="0"/>
              <a:t> </a:t>
            </a:r>
            <a:r>
              <a:rPr dirty="0"/>
              <a:t>of</a:t>
            </a:r>
            <a:r>
              <a:rPr spc="150" dirty="0"/>
              <a:t> </a:t>
            </a:r>
            <a:r>
              <a:rPr dirty="0"/>
              <a:t>AI</a:t>
            </a:r>
            <a:r>
              <a:rPr spc="-30" dirty="0"/>
              <a:t> </a:t>
            </a:r>
            <a:r>
              <a:rPr spc="-10" dirty="0"/>
              <a:t>Tools</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18</a:t>
            </a:fld>
            <a:endParaRPr spc="-25" dirty="0"/>
          </a:p>
        </p:txBody>
      </p:sp>
      <p:graphicFrame>
        <p:nvGraphicFramePr>
          <p:cNvPr id="6" name="object 6"/>
          <p:cNvGraphicFramePr>
            <a:graphicFrameLocks noGrp="1"/>
          </p:cNvGraphicFramePr>
          <p:nvPr/>
        </p:nvGraphicFramePr>
        <p:xfrm>
          <a:off x="802970" y="3422650"/>
          <a:ext cx="10739120" cy="2377440"/>
        </p:xfrm>
        <a:graphic>
          <a:graphicData uri="http://schemas.openxmlformats.org/drawingml/2006/table">
            <a:tbl>
              <a:tblPr firstRow="1" bandRow="1">
                <a:tableStyleId>{2D5ABB26-0587-4C30-8999-92F81FD0307C}</a:tableStyleId>
              </a:tblPr>
              <a:tblGrid>
                <a:gridCol w="4636135">
                  <a:extLst>
                    <a:ext uri="{9D8B030D-6E8A-4147-A177-3AD203B41FA5}">
                      <a16:colId xmlns:a16="http://schemas.microsoft.com/office/drawing/2014/main" val="20000"/>
                    </a:ext>
                  </a:extLst>
                </a:gridCol>
                <a:gridCol w="6102985">
                  <a:extLst>
                    <a:ext uri="{9D8B030D-6E8A-4147-A177-3AD203B41FA5}">
                      <a16:colId xmlns:a16="http://schemas.microsoft.com/office/drawing/2014/main" val="20001"/>
                    </a:ext>
                  </a:extLst>
                </a:gridCol>
              </a:tblGrid>
              <a:tr h="1188720">
                <a:tc>
                  <a:txBody>
                    <a:bodyPr/>
                    <a:lstStyle/>
                    <a:p>
                      <a:pPr marL="91440">
                        <a:lnSpc>
                          <a:spcPct val="100000"/>
                        </a:lnSpc>
                        <a:spcBef>
                          <a:spcPts val="315"/>
                        </a:spcBef>
                      </a:pPr>
                      <a:r>
                        <a:rPr sz="1800" b="1" dirty="0">
                          <a:latin typeface="Arial"/>
                          <a:cs typeface="Arial"/>
                        </a:rPr>
                        <a:t>Reference</a:t>
                      </a:r>
                      <a:r>
                        <a:rPr sz="1800" b="1" spc="-25" dirty="0">
                          <a:latin typeface="Arial"/>
                          <a:cs typeface="Arial"/>
                        </a:rPr>
                        <a:t> </a:t>
                      </a:r>
                      <a:r>
                        <a:rPr sz="1800" b="1" dirty="0">
                          <a:latin typeface="Arial"/>
                          <a:cs typeface="Arial"/>
                        </a:rPr>
                        <a:t>list</a:t>
                      </a:r>
                      <a:r>
                        <a:rPr sz="1800" b="1" spc="-45" dirty="0">
                          <a:latin typeface="Arial"/>
                          <a:cs typeface="Arial"/>
                        </a:rPr>
                        <a:t> </a:t>
                      </a:r>
                      <a:r>
                        <a:rPr sz="1800" b="1" spc="-10" dirty="0">
                          <a:latin typeface="Arial"/>
                          <a:cs typeface="Arial"/>
                        </a:rPr>
                        <a:t>format:</a:t>
                      </a:r>
                      <a:endParaRPr sz="1800">
                        <a:latin typeface="Arial"/>
                        <a:cs typeface="Arial"/>
                      </a:endParaRPr>
                    </a:p>
                    <a:p>
                      <a:pPr marL="91440" marR="87630">
                        <a:lnSpc>
                          <a:spcPct val="100000"/>
                        </a:lnSpc>
                      </a:pPr>
                      <a:r>
                        <a:rPr sz="1800" dirty="0">
                          <a:latin typeface="Arial"/>
                          <a:cs typeface="Arial"/>
                        </a:rPr>
                        <a:t>AI</a:t>
                      </a:r>
                      <a:r>
                        <a:rPr sz="1800" spc="-40" dirty="0">
                          <a:latin typeface="Arial"/>
                          <a:cs typeface="Arial"/>
                        </a:rPr>
                        <a:t> </a:t>
                      </a:r>
                      <a:r>
                        <a:rPr sz="1800" dirty="0">
                          <a:latin typeface="Arial"/>
                          <a:cs typeface="Arial"/>
                        </a:rPr>
                        <a:t>Company</a:t>
                      </a:r>
                      <a:r>
                        <a:rPr sz="1800" spc="-20" dirty="0">
                          <a:latin typeface="Arial"/>
                          <a:cs typeface="Arial"/>
                        </a:rPr>
                        <a:t> </a:t>
                      </a:r>
                      <a:r>
                        <a:rPr sz="1800" dirty="0">
                          <a:latin typeface="Arial"/>
                          <a:cs typeface="Arial"/>
                        </a:rPr>
                        <a:t>Name.</a:t>
                      </a:r>
                      <a:r>
                        <a:rPr sz="1800" spc="-35" dirty="0">
                          <a:latin typeface="Arial"/>
                          <a:cs typeface="Arial"/>
                        </a:rPr>
                        <a:t> (Year,</a:t>
                      </a:r>
                      <a:r>
                        <a:rPr sz="1800" spc="-30" dirty="0">
                          <a:latin typeface="Arial"/>
                          <a:cs typeface="Arial"/>
                        </a:rPr>
                        <a:t> </a:t>
                      </a:r>
                      <a:r>
                        <a:rPr sz="1800" dirty="0">
                          <a:latin typeface="Arial"/>
                          <a:cs typeface="Arial"/>
                        </a:rPr>
                        <a:t>Month</a:t>
                      </a:r>
                      <a:r>
                        <a:rPr sz="1800" spc="-35" dirty="0">
                          <a:latin typeface="Arial"/>
                          <a:cs typeface="Arial"/>
                        </a:rPr>
                        <a:t> </a:t>
                      </a:r>
                      <a:r>
                        <a:rPr sz="1800" dirty="0">
                          <a:latin typeface="Arial"/>
                          <a:cs typeface="Arial"/>
                        </a:rPr>
                        <a:t>Day). </a:t>
                      </a:r>
                      <a:r>
                        <a:rPr sz="1800" i="1" spc="-10" dirty="0">
                          <a:latin typeface="Arial"/>
                          <a:cs typeface="Arial"/>
                        </a:rPr>
                        <a:t>Title </a:t>
                      </a:r>
                      <a:r>
                        <a:rPr sz="1800" i="1" dirty="0">
                          <a:latin typeface="Arial"/>
                          <a:cs typeface="Arial"/>
                        </a:rPr>
                        <a:t>of</a:t>
                      </a:r>
                      <a:r>
                        <a:rPr sz="1800" i="1" spc="-15" dirty="0">
                          <a:latin typeface="Arial"/>
                          <a:cs typeface="Arial"/>
                        </a:rPr>
                        <a:t> </a:t>
                      </a:r>
                      <a:r>
                        <a:rPr sz="1800" i="1" dirty="0">
                          <a:latin typeface="Arial"/>
                          <a:cs typeface="Arial"/>
                        </a:rPr>
                        <a:t>chat</a:t>
                      </a:r>
                      <a:r>
                        <a:rPr sz="1800" i="1" spc="-5" dirty="0">
                          <a:latin typeface="Arial"/>
                          <a:cs typeface="Arial"/>
                        </a:rPr>
                        <a:t> </a:t>
                      </a:r>
                      <a:r>
                        <a:rPr sz="1800" dirty="0">
                          <a:latin typeface="Arial"/>
                          <a:cs typeface="Arial"/>
                        </a:rPr>
                        <a:t>[Description, e.g.</a:t>
                      </a:r>
                      <a:r>
                        <a:rPr sz="1800" spc="-15" dirty="0">
                          <a:latin typeface="Arial"/>
                          <a:cs typeface="Arial"/>
                        </a:rPr>
                        <a:t> </a:t>
                      </a:r>
                      <a:r>
                        <a:rPr sz="1800" spc="-10" dirty="0">
                          <a:latin typeface="Arial"/>
                          <a:cs typeface="Arial"/>
                        </a:rPr>
                        <a:t>Generative</a:t>
                      </a:r>
                      <a:r>
                        <a:rPr sz="1800" spc="-95" dirty="0">
                          <a:latin typeface="Arial"/>
                          <a:cs typeface="Arial"/>
                        </a:rPr>
                        <a:t> </a:t>
                      </a:r>
                      <a:r>
                        <a:rPr sz="1800" spc="-25" dirty="0">
                          <a:latin typeface="Arial"/>
                          <a:cs typeface="Arial"/>
                        </a:rPr>
                        <a:t>AI </a:t>
                      </a:r>
                      <a:r>
                        <a:rPr sz="1800" dirty="0">
                          <a:latin typeface="Arial"/>
                          <a:cs typeface="Arial"/>
                        </a:rPr>
                        <a:t>chat].</a:t>
                      </a:r>
                      <a:r>
                        <a:rPr sz="1800" spc="-50" dirty="0">
                          <a:latin typeface="Arial"/>
                          <a:cs typeface="Arial"/>
                        </a:rPr>
                        <a:t> </a:t>
                      </a:r>
                      <a:r>
                        <a:rPr sz="1800" spc="-45" dirty="0">
                          <a:latin typeface="Arial"/>
                          <a:cs typeface="Arial"/>
                        </a:rPr>
                        <a:t>Tool</a:t>
                      </a:r>
                      <a:r>
                        <a:rPr sz="1800" spc="-30" dirty="0">
                          <a:latin typeface="Arial"/>
                          <a:cs typeface="Arial"/>
                        </a:rPr>
                        <a:t> </a:t>
                      </a:r>
                      <a:r>
                        <a:rPr sz="1800" dirty="0">
                          <a:latin typeface="Arial"/>
                          <a:cs typeface="Arial"/>
                        </a:rPr>
                        <a:t>name</a:t>
                      </a:r>
                      <a:r>
                        <a:rPr sz="1800" spc="-10" dirty="0">
                          <a:latin typeface="Arial"/>
                          <a:cs typeface="Arial"/>
                        </a:rPr>
                        <a:t> </a:t>
                      </a:r>
                      <a:r>
                        <a:rPr sz="1800" dirty="0">
                          <a:latin typeface="Arial"/>
                          <a:cs typeface="Arial"/>
                        </a:rPr>
                        <a:t>/</a:t>
                      </a:r>
                      <a:r>
                        <a:rPr sz="1800" spc="-15" dirty="0">
                          <a:latin typeface="Arial"/>
                          <a:cs typeface="Arial"/>
                        </a:rPr>
                        <a:t> </a:t>
                      </a:r>
                      <a:r>
                        <a:rPr sz="1800" dirty="0">
                          <a:latin typeface="Arial"/>
                          <a:cs typeface="Arial"/>
                        </a:rPr>
                        <a:t>model. URL</a:t>
                      </a:r>
                      <a:r>
                        <a:rPr sz="1800" spc="-80" dirty="0">
                          <a:latin typeface="Arial"/>
                          <a:cs typeface="Arial"/>
                        </a:rPr>
                        <a:t> </a:t>
                      </a:r>
                      <a:r>
                        <a:rPr sz="1800" dirty="0">
                          <a:latin typeface="Arial"/>
                          <a:cs typeface="Arial"/>
                        </a:rPr>
                        <a:t>of</a:t>
                      </a:r>
                      <a:r>
                        <a:rPr sz="1800" spc="-15" dirty="0">
                          <a:latin typeface="Arial"/>
                          <a:cs typeface="Arial"/>
                        </a:rPr>
                        <a:t> </a:t>
                      </a:r>
                      <a:r>
                        <a:rPr sz="1800" dirty="0">
                          <a:latin typeface="Arial"/>
                          <a:cs typeface="Arial"/>
                        </a:rPr>
                        <a:t>the</a:t>
                      </a:r>
                      <a:r>
                        <a:rPr sz="1800" spc="-25" dirty="0">
                          <a:latin typeface="Arial"/>
                          <a:cs typeface="Arial"/>
                        </a:rPr>
                        <a:t> </a:t>
                      </a:r>
                      <a:r>
                        <a:rPr sz="1800" spc="-20" dirty="0">
                          <a:latin typeface="Arial"/>
                          <a:cs typeface="Arial"/>
                        </a:rPr>
                        <a:t>chat</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5DCF8"/>
                    </a:solidFill>
                  </a:tcPr>
                </a:tc>
                <a:tc>
                  <a:txBody>
                    <a:bodyPr/>
                    <a:lstStyle/>
                    <a:p>
                      <a:pPr marL="92075">
                        <a:lnSpc>
                          <a:spcPct val="100000"/>
                        </a:lnSpc>
                        <a:spcBef>
                          <a:spcPts val="315"/>
                        </a:spcBef>
                      </a:pPr>
                      <a:r>
                        <a:rPr sz="1800" b="1" spc="-10" dirty="0">
                          <a:latin typeface="Arial"/>
                          <a:cs typeface="Arial"/>
                        </a:rPr>
                        <a:t>Example:</a:t>
                      </a:r>
                      <a:endParaRPr sz="1800">
                        <a:latin typeface="Arial"/>
                        <a:cs typeface="Arial"/>
                      </a:endParaRPr>
                    </a:p>
                    <a:p>
                      <a:pPr marL="92075" marR="678180">
                        <a:lnSpc>
                          <a:spcPct val="100000"/>
                        </a:lnSpc>
                      </a:pPr>
                      <a:r>
                        <a:rPr sz="1800" dirty="0">
                          <a:solidFill>
                            <a:srgbClr val="001F5F"/>
                          </a:solidFill>
                          <a:latin typeface="Arial Narrow"/>
                          <a:cs typeface="Arial Narrow"/>
                        </a:rPr>
                        <a:t>OpenAI.</a:t>
                      </a:r>
                      <a:r>
                        <a:rPr sz="1800" spc="-35" dirty="0">
                          <a:solidFill>
                            <a:srgbClr val="001F5F"/>
                          </a:solidFill>
                          <a:latin typeface="Arial Narrow"/>
                          <a:cs typeface="Arial Narrow"/>
                        </a:rPr>
                        <a:t> </a:t>
                      </a:r>
                      <a:r>
                        <a:rPr sz="1800" dirty="0">
                          <a:solidFill>
                            <a:srgbClr val="001F5F"/>
                          </a:solidFill>
                          <a:latin typeface="Arial Narrow"/>
                          <a:cs typeface="Arial Narrow"/>
                        </a:rPr>
                        <a:t>(2025,</a:t>
                      </a:r>
                      <a:r>
                        <a:rPr sz="1800" spc="-15" dirty="0">
                          <a:solidFill>
                            <a:srgbClr val="001F5F"/>
                          </a:solidFill>
                          <a:latin typeface="Arial Narrow"/>
                          <a:cs typeface="Arial Narrow"/>
                        </a:rPr>
                        <a:t> </a:t>
                      </a:r>
                      <a:r>
                        <a:rPr sz="1800" dirty="0">
                          <a:solidFill>
                            <a:srgbClr val="001F5F"/>
                          </a:solidFill>
                          <a:latin typeface="Arial Narrow"/>
                          <a:cs typeface="Arial Narrow"/>
                        </a:rPr>
                        <a:t>January</a:t>
                      </a:r>
                      <a:r>
                        <a:rPr sz="1800" spc="-35" dirty="0">
                          <a:solidFill>
                            <a:srgbClr val="001F5F"/>
                          </a:solidFill>
                          <a:latin typeface="Arial Narrow"/>
                          <a:cs typeface="Arial Narrow"/>
                        </a:rPr>
                        <a:t> </a:t>
                      </a:r>
                      <a:r>
                        <a:rPr sz="1800" dirty="0">
                          <a:solidFill>
                            <a:srgbClr val="001F5F"/>
                          </a:solidFill>
                          <a:latin typeface="Arial Narrow"/>
                          <a:cs typeface="Arial Narrow"/>
                        </a:rPr>
                        <a:t>15).</a:t>
                      </a:r>
                      <a:r>
                        <a:rPr sz="1800" spc="-30" dirty="0">
                          <a:solidFill>
                            <a:srgbClr val="001F5F"/>
                          </a:solidFill>
                          <a:latin typeface="Arial Narrow"/>
                          <a:cs typeface="Arial Narrow"/>
                        </a:rPr>
                        <a:t> </a:t>
                      </a:r>
                      <a:r>
                        <a:rPr sz="1800" i="1" dirty="0">
                          <a:solidFill>
                            <a:srgbClr val="001F5F"/>
                          </a:solidFill>
                          <a:latin typeface="Arial Narrow"/>
                          <a:cs typeface="Arial Narrow"/>
                        </a:rPr>
                        <a:t>What</a:t>
                      </a:r>
                      <a:r>
                        <a:rPr sz="1800" i="1" spc="-45" dirty="0">
                          <a:solidFill>
                            <a:srgbClr val="001F5F"/>
                          </a:solidFill>
                          <a:latin typeface="Arial Narrow"/>
                          <a:cs typeface="Arial Narrow"/>
                        </a:rPr>
                        <a:t> </a:t>
                      </a:r>
                      <a:r>
                        <a:rPr sz="1800" i="1" dirty="0">
                          <a:solidFill>
                            <a:srgbClr val="001F5F"/>
                          </a:solidFill>
                          <a:latin typeface="Arial Narrow"/>
                          <a:cs typeface="Arial Narrow"/>
                        </a:rPr>
                        <a:t>are</a:t>
                      </a:r>
                      <a:r>
                        <a:rPr sz="1800" i="1" spc="-60" dirty="0">
                          <a:solidFill>
                            <a:srgbClr val="001F5F"/>
                          </a:solidFill>
                          <a:latin typeface="Arial Narrow"/>
                          <a:cs typeface="Arial Narrow"/>
                        </a:rPr>
                        <a:t> </a:t>
                      </a:r>
                      <a:r>
                        <a:rPr sz="1800" i="1" dirty="0">
                          <a:solidFill>
                            <a:srgbClr val="001F5F"/>
                          </a:solidFill>
                          <a:latin typeface="Arial Narrow"/>
                          <a:cs typeface="Arial Narrow"/>
                        </a:rPr>
                        <a:t>the</a:t>
                      </a:r>
                      <a:r>
                        <a:rPr sz="1800" i="1" spc="-40" dirty="0">
                          <a:solidFill>
                            <a:srgbClr val="001F5F"/>
                          </a:solidFill>
                          <a:latin typeface="Arial Narrow"/>
                          <a:cs typeface="Arial Narrow"/>
                        </a:rPr>
                        <a:t> </a:t>
                      </a:r>
                      <a:r>
                        <a:rPr sz="1800" i="1" dirty="0">
                          <a:solidFill>
                            <a:srgbClr val="001F5F"/>
                          </a:solidFill>
                          <a:latin typeface="Arial Narrow"/>
                          <a:cs typeface="Arial Narrow"/>
                        </a:rPr>
                        <a:t>causes</a:t>
                      </a:r>
                      <a:r>
                        <a:rPr sz="1800" i="1" spc="-50" dirty="0">
                          <a:solidFill>
                            <a:srgbClr val="001F5F"/>
                          </a:solidFill>
                          <a:latin typeface="Arial Narrow"/>
                          <a:cs typeface="Arial Narrow"/>
                        </a:rPr>
                        <a:t> </a:t>
                      </a:r>
                      <a:r>
                        <a:rPr sz="1800" i="1" dirty="0">
                          <a:solidFill>
                            <a:srgbClr val="001F5F"/>
                          </a:solidFill>
                          <a:latin typeface="Arial Narrow"/>
                          <a:cs typeface="Arial Narrow"/>
                        </a:rPr>
                        <a:t>and</a:t>
                      </a:r>
                      <a:r>
                        <a:rPr sz="1800" i="1" spc="-30" dirty="0">
                          <a:solidFill>
                            <a:srgbClr val="001F5F"/>
                          </a:solidFill>
                          <a:latin typeface="Arial Narrow"/>
                          <a:cs typeface="Arial Narrow"/>
                        </a:rPr>
                        <a:t> </a:t>
                      </a:r>
                      <a:r>
                        <a:rPr sz="1800" i="1" dirty="0">
                          <a:solidFill>
                            <a:srgbClr val="001F5F"/>
                          </a:solidFill>
                          <a:latin typeface="Arial Narrow"/>
                          <a:cs typeface="Arial Narrow"/>
                        </a:rPr>
                        <a:t>effects</a:t>
                      </a:r>
                      <a:r>
                        <a:rPr sz="1800" i="1" spc="-35" dirty="0">
                          <a:solidFill>
                            <a:srgbClr val="001F5F"/>
                          </a:solidFill>
                          <a:latin typeface="Arial Narrow"/>
                          <a:cs typeface="Arial Narrow"/>
                        </a:rPr>
                        <a:t> </a:t>
                      </a:r>
                      <a:r>
                        <a:rPr sz="1800" i="1" spc="-25" dirty="0">
                          <a:solidFill>
                            <a:srgbClr val="001F5F"/>
                          </a:solidFill>
                          <a:latin typeface="Arial Narrow"/>
                          <a:cs typeface="Arial Narrow"/>
                        </a:rPr>
                        <a:t>of </a:t>
                      </a:r>
                      <a:r>
                        <a:rPr sz="1800" i="1" dirty="0">
                          <a:solidFill>
                            <a:srgbClr val="001F5F"/>
                          </a:solidFill>
                          <a:latin typeface="Arial Narrow"/>
                          <a:cs typeface="Arial Narrow"/>
                        </a:rPr>
                        <a:t>climate</a:t>
                      </a:r>
                      <a:r>
                        <a:rPr sz="1800" i="1" spc="-30" dirty="0">
                          <a:solidFill>
                            <a:srgbClr val="001F5F"/>
                          </a:solidFill>
                          <a:latin typeface="Arial Narrow"/>
                          <a:cs typeface="Arial Narrow"/>
                        </a:rPr>
                        <a:t> </a:t>
                      </a:r>
                      <a:r>
                        <a:rPr sz="1800" i="1" dirty="0">
                          <a:solidFill>
                            <a:srgbClr val="001F5F"/>
                          </a:solidFill>
                          <a:latin typeface="Arial Narrow"/>
                          <a:cs typeface="Arial Narrow"/>
                        </a:rPr>
                        <a:t>change </a:t>
                      </a:r>
                      <a:r>
                        <a:rPr sz="1800" spc="-10" dirty="0">
                          <a:solidFill>
                            <a:srgbClr val="001F5F"/>
                          </a:solidFill>
                          <a:latin typeface="Arial Narrow"/>
                          <a:cs typeface="Arial Narrow"/>
                        </a:rPr>
                        <a:t>[Generative</a:t>
                      </a:r>
                      <a:r>
                        <a:rPr sz="1800" spc="-80" dirty="0">
                          <a:solidFill>
                            <a:srgbClr val="001F5F"/>
                          </a:solidFill>
                          <a:latin typeface="Arial Narrow"/>
                          <a:cs typeface="Arial Narrow"/>
                        </a:rPr>
                        <a:t> </a:t>
                      </a:r>
                      <a:r>
                        <a:rPr sz="1800" dirty="0">
                          <a:solidFill>
                            <a:srgbClr val="001F5F"/>
                          </a:solidFill>
                          <a:latin typeface="Arial Narrow"/>
                          <a:cs typeface="Arial Narrow"/>
                        </a:rPr>
                        <a:t>AI</a:t>
                      </a:r>
                      <a:r>
                        <a:rPr sz="1800" spc="-35" dirty="0">
                          <a:solidFill>
                            <a:srgbClr val="001F5F"/>
                          </a:solidFill>
                          <a:latin typeface="Arial Narrow"/>
                          <a:cs typeface="Arial Narrow"/>
                        </a:rPr>
                        <a:t> </a:t>
                      </a:r>
                      <a:r>
                        <a:rPr sz="1800" dirty="0">
                          <a:solidFill>
                            <a:srgbClr val="001F5F"/>
                          </a:solidFill>
                          <a:latin typeface="Arial Narrow"/>
                          <a:cs typeface="Arial Narrow"/>
                        </a:rPr>
                        <a:t>chat].</a:t>
                      </a:r>
                      <a:r>
                        <a:rPr sz="1800" spc="-30" dirty="0">
                          <a:solidFill>
                            <a:srgbClr val="001F5F"/>
                          </a:solidFill>
                          <a:latin typeface="Arial Narrow"/>
                          <a:cs typeface="Arial Narrow"/>
                        </a:rPr>
                        <a:t> </a:t>
                      </a:r>
                      <a:r>
                        <a:rPr sz="1800" spc="-10" dirty="0">
                          <a:solidFill>
                            <a:srgbClr val="001F5F"/>
                          </a:solidFill>
                          <a:latin typeface="Arial Narrow"/>
                          <a:cs typeface="Arial Narrow"/>
                        </a:rPr>
                        <a:t>ChatGPT.</a:t>
                      </a:r>
                      <a:endParaRPr sz="1800">
                        <a:latin typeface="Arial Narrow"/>
                        <a:cs typeface="Arial Narrow"/>
                      </a:endParaRPr>
                    </a:p>
                    <a:p>
                      <a:pPr marL="92075">
                        <a:lnSpc>
                          <a:spcPct val="100000"/>
                        </a:lnSpc>
                        <a:spcBef>
                          <a:spcPts val="15"/>
                        </a:spcBef>
                      </a:pPr>
                      <a:r>
                        <a:rPr sz="1800" u="sng" spc="-10" dirty="0">
                          <a:solidFill>
                            <a:srgbClr val="001F5F"/>
                          </a:solidFill>
                          <a:uFill>
                            <a:solidFill>
                              <a:srgbClr val="001F5F"/>
                            </a:solidFill>
                          </a:uFill>
                          <a:latin typeface="Arial Narrow"/>
                          <a:cs typeface="Arial Narrow"/>
                          <a:hlinkClick r:id="rId4"/>
                        </a:rPr>
                        <a:t>https://chatgpt.com/share/abc123xyz</a:t>
                      </a:r>
                      <a:endParaRPr sz="1800">
                        <a:latin typeface="Arial Narrow"/>
                        <a:cs typeface="Arial Narrow"/>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5DCF8"/>
                    </a:solidFill>
                  </a:tcPr>
                </a:tc>
                <a:extLst>
                  <a:ext uri="{0D108BD9-81ED-4DB2-BD59-A6C34878D82A}">
                    <a16:rowId xmlns:a16="http://schemas.microsoft.com/office/drawing/2014/main" val="10000"/>
                  </a:ext>
                </a:extLst>
              </a:tr>
              <a:tr h="1188720">
                <a:tc>
                  <a:txBody>
                    <a:bodyPr/>
                    <a:lstStyle/>
                    <a:p>
                      <a:pPr marL="91440">
                        <a:lnSpc>
                          <a:spcPct val="100000"/>
                        </a:lnSpc>
                        <a:spcBef>
                          <a:spcPts val="315"/>
                        </a:spcBef>
                      </a:pPr>
                      <a:r>
                        <a:rPr sz="1800" b="1" spc="-10" dirty="0">
                          <a:latin typeface="Arial"/>
                          <a:cs typeface="Arial"/>
                        </a:rPr>
                        <a:t>In-</a:t>
                      </a:r>
                      <a:r>
                        <a:rPr sz="1800" b="1" dirty="0">
                          <a:latin typeface="Arial"/>
                          <a:cs typeface="Arial"/>
                        </a:rPr>
                        <a:t>text</a:t>
                      </a:r>
                      <a:r>
                        <a:rPr sz="1800" b="1" spc="-15" dirty="0">
                          <a:latin typeface="Arial"/>
                          <a:cs typeface="Arial"/>
                        </a:rPr>
                        <a:t> </a:t>
                      </a:r>
                      <a:r>
                        <a:rPr sz="1800" b="1" dirty="0">
                          <a:latin typeface="Arial"/>
                          <a:cs typeface="Arial"/>
                        </a:rPr>
                        <a:t>citation</a:t>
                      </a:r>
                      <a:r>
                        <a:rPr sz="1800" b="1" spc="-10" dirty="0">
                          <a:latin typeface="Arial"/>
                          <a:cs typeface="Arial"/>
                        </a:rPr>
                        <a:t> format:</a:t>
                      </a:r>
                      <a:endParaRPr sz="1800">
                        <a:latin typeface="Arial"/>
                        <a:cs typeface="Arial"/>
                      </a:endParaRPr>
                    </a:p>
                    <a:p>
                      <a:pPr marL="91440" marR="269875">
                        <a:lnSpc>
                          <a:spcPct val="100000"/>
                        </a:lnSpc>
                      </a:pPr>
                      <a:r>
                        <a:rPr sz="1800" dirty="0">
                          <a:latin typeface="Arial"/>
                          <a:cs typeface="Arial"/>
                        </a:rPr>
                        <a:t>(AI</a:t>
                      </a:r>
                      <a:r>
                        <a:rPr sz="1800" spc="-50" dirty="0">
                          <a:latin typeface="Arial"/>
                          <a:cs typeface="Arial"/>
                        </a:rPr>
                        <a:t> </a:t>
                      </a:r>
                      <a:r>
                        <a:rPr sz="1800" dirty="0">
                          <a:latin typeface="Arial"/>
                          <a:cs typeface="Arial"/>
                        </a:rPr>
                        <a:t>Company</a:t>
                      </a:r>
                      <a:r>
                        <a:rPr sz="1800" spc="-5" dirty="0">
                          <a:latin typeface="Arial"/>
                          <a:cs typeface="Arial"/>
                        </a:rPr>
                        <a:t> </a:t>
                      </a:r>
                      <a:r>
                        <a:rPr sz="1800" dirty="0">
                          <a:latin typeface="Arial"/>
                          <a:cs typeface="Arial"/>
                        </a:rPr>
                        <a:t>Name,</a:t>
                      </a:r>
                      <a:r>
                        <a:rPr sz="1800" spc="-65" dirty="0">
                          <a:latin typeface="Arial"/>
                          <a:cs typeface="Arial"/>
                        </a:rPr>
                        <a:t> </a:t>
                      </a:r>
                      <a:r>
                        <a:rPr sz="1800" spc="-20" dirty="0">
                          <a:latin typeface="Arial"/>
                          <a:cs typeface="Arial"/>
                        </a:rPr>
                        <a:t>Year)</a:t>
                      </a:r>
                      <a:r>
                        <a:rPr sz="1800" spc="-15" dirty="0">
                          <a:latin typeface="Arial"/>
                          <a:cs typeface="Arial"/>
                        </a:rPr>
                        <a:t> </a:t>
                      </a:r>
                      <a:r>
                        <a:rPr sz="1800" b="1" dirty="0">
                          <a:latin typeface="Arial"/>
                          <a:cs typeface="Arial"/>
                        </a:rPr>
                        <a:t>or</a:t>
                      </a:r>
                      <a:r>
                        <a:rPr sz="1800" b="1" spc="-125" dirty="0">
                          <a:latin typeface="Arial"/>
                          <a:cs typeface="Arial"/>
                        </a:rPr>
                        <a:t> </a:t>
                      </a:r>
                      <a:r>
                        <a:rPr sz="1800" dirty="0">
                          <a:latin typeface="Arial"/>
                          <a:cs typeface="Arial"/>
                        </a:rPr>
                        <a:t>AI</a:t>
                      </a:r>
                      <a:r>
                        <a:rPr sz="1800" spc="-20" dirty="0">
                          <a:latin typeface="Arial"/>
                          <a:cs typeface="Arial"/>
                        </a:rPr>
                        <a:t> </a:t>
                      </a:r>
                      <a:r>
                        <a:rPr sz="1800" spc="-10" dirty="0">
                          <a:latin typeface="Arial"/>
                          <a:cs typeface="Arial"/>
                        </a:rPr>
                        <a:t>Company </a:t>
                      </a:r>
                      <a:r>
                        <a:rPr sz="1800" dirty="0">
                          <a:latin typeface="Arial"/>
                          <a:cs typeface="Arial"/>
                        </a:rPr>
                        <a:t>Name</a:t>
                      </a:r>
                      <a:r>
                        <a:rPr sz="1800" spc="-15" dirty="0">
                          <a:latin typeface="Arial"/>
                          <a:cs typeface="Arial"/>
                        </a:rPr>
                        <a:t> </a:t>
                      </a:r>
                      <a:r>
                        <a:rPr sz="1800" spc="-10" dirty="0">
                          <a:latin typeface="Arial"/>
                          <a:cs typeface="Arial"/>
                        </a:rPr>
                        <a:t>(Year)</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EDFA"/>
                    </a:solidFill>
                  </a:tcPr>
                </a:tc>
                <a:tc>
                  <a:txBody>
                    <a:bodyPr/>
                    <a:lstStyle/>
                    <a:p>
                      <a:pPr marL="92075">
                        <a:lnSpc>
                          <a:spcPct val="100000"/>
                        </a:lnSpc>
                        <a:spcBef>
                          <a:spcPts val="315"/>
                        </a:spcBef>
                      </a:pPr>
                      <a:r>
                        <a:rPr sz="1800" b="1" spc="-10" dirty="0">
                          <a:latin typeface="Arial"/>
                          <a:cs typeface="Arial"/>
                        </a:rPr>
                        <a:t>Examples:</a:t>
                      </a:r>
                      <a:endParaRPr sz="1800">
                        <a:latin typeface="Arial"/>
                        <a:cs typeface="Arial"/>
                      </a:endParaRPr>
                    </a:p>
                    <a:p>
                      <a:pPr marL="378460" indent="-286385">
                        <a:lnSpc>
                          <a:spcPct val="100000"/>
                        </a:lnSpc>
                        <a:buFont typeface="Arial"/>
                        <a:buChar char="•"/>
                        <a:tabLst>
                          <a:tab pos="378460" algn="l"/>
                        </a:tabLst>
                      </a:pPr>
                      <a:r>
                        <a:rPr sz="1800" i="1" dirty="0">
                          <a:solidFill>
                            <a:srgbClr val="001F5F"/>
                          </a:solidFill>
                          <a:latin typeface="Arial Narrow"/>
                          <a:cs typeface="Arial Narrow"/>
                        </a:rPr>
                        <a:t>OpenAI</a:t>
                      </a:r>
                      <a:r>
                        <a:rPr sz="1800" i="1" spc="-30" dirty="0">
                          <a:solidFill>
                            <a:srgbClr val="001F5F"/>
                          </a:solidFill>
                          <a:latin typeface="Arial Narrow"/>
                          <a:cs typeface="Arial Narrow"/>
                        </a:rPr>
                        <a:t> </a:t>
                      </a:r>
                      <a:r>
                        <a:rPr sz="1800" i="1" dirty="0">
                          <a:solidFill>
                            <a:srgbClr val="001F5F"/>
                          </a:solidFill>
                          <a:latin typeface="Arial Narrow"/>
                          <a:cs typeface="Arial Narrow"/>
                        </a:rPr>
                        <a:t>(2025)</a:t>
                      </a:r>
                      <a:r>
                        <a:rPr sz="1800" i="1" spc="-20" dirty="0">
                          <a:solidFill>
                            <a:srgbClr val="001F5F"/>
                          </a:solidFill>
                          <a:latin typeface="Arial Narrow"/>
                          <a:cs typeface="Arial Narrow"/>
                        </a:rPr>
                        <a:t> </a:t>
                      </a:r>
                      <a:r>
                        <a:rPr sz="1800" i="1" dirty="0">
                          <a:solidFill>
                            <a:srgbClr val="001F5F"/>
                          </a:solidFill>
                          <a:latin typeface="Arial Narrow"/>
                          <a:cs typeface="Arial Narrow"/>
                        </a:rPr>
                        <a:t>listed</a:t>
                      </a:r>
                      <a:r>
                        <a:rPr sz="1800" i="1" spc="-40" dirty="0">
                          <a:solidFill>
                            <a:srgbClr val="001F5F"/>
                          </a:solidFill>
                          <a:latin typeface="Arial Narrow"/>
                          <a:cs typeface="Arial Narrow"/>
                        </a:rPr>
                        <a:t> </a:t>
                      </a:r>
                      <a:r>
                        <a:rPr sz="1800" i="1" dirty="0">
                          <a:solidFill>
                            <a:srgbClr val="001F5F"/>
                          </a:solidFill>
                          <a:latin typeface="Arial Narrow"/>
                          <a:cs typeface="Arial Narrow"/>
                        </a:rPr>
                        <a:t>the</a:t>
                      </a:r>
                      <a:r>
                        <a:rPr sz="1800" i="1" spc="-40" dirty="0">
                          <a:solidFill>
                            <a:srgbClr val="001F5F"/>
                          </a:solidFill>
                          <a:latin typeface="Arial Narrow"/>
                          <a:cs typeface="Arial Narrow"/>
                        </a:rPr>
                        <a:t> </a:t>
                      </a:r>
                      <a:r>
                        <a:rPr sz="1800" i="1" dirty="0">
                          <a:solidFill>
                            <a:srgbClr val="001F5F"/>
                          </a:solidFill>
                          <a:latin typeface="Arial Narrow"/>
                          <a:cs typeface="Arial Narrow"/>
                        </a:rPr>
                        <a:t>causes</a:t>
                      </a:r>
                      <a:r>
                        <a:rPr sz="1800" i="1" spc="-45" dirty="0">
                          <a:solidFill>
                            <a:srgbClr val="001F5F"/>
                          </a:solidFill>
                          <a:latin typeface="Arial Narrow"/>
                          <a:cs typeface="Arial Narrow"/>
                        </a:rPr>
                        <a:t> </a:t>
                      </a:r>
                      <a:r>
                        <a:rPr sz="1800" i="1" dirty="0">
                          <a:solidFill>
                            <a:srgbClr val="001F5F"/>
                          </a:solidFill>
                          <a:latin typeface="Arial Narrow"/>
                          <a:cs typeface="Arial Narrow"/>
                        </a:rPr>
                        <a:t>of</a:t>
                      </a:r>
                      <a:r>
                        <a:rPr sz="1800" i="1" spc="-50" dirty="0">
                          <a:solidFill>
                            <a:srgbClr val="001F5F"/>
                          </a:solidFill>
                          <a:latin typeface="Arial Narrow"/>
                          <a:cs typeface="Arial Narrow"/>
                        </a:rPr>
                        <a:t> </a:t>
                      </a:r>
                      <a:r>
                        <a:rPr sz="1800" i="1" dirty="0">
                          <a:solidFill>
                            <a:srgbClr val="001F5F"/>
                          </a:solidFill>
                          <a:latin typeface="Arial Narrow"/>
                          <a:cs typeface="Arial Narrow"/>
                        </a:rPr>
                        <a:t>climate</a:t>
                      </a:r>
                      <a:r>
                        <a:rPr sz="1800" i="1" spc="-40" dirty="0">
                          <a:solidFill>
                            <a:srgbClr val="001F5F"/>
                          </a:solidFill>
                          <a:latin typeface="Arial Narrow"/>
                          <a:cs typeface="Arial Narrow"/>
                        </a:rPr>
                        <a:t> </a:t>
                      </a:r>
                      <a:r>
                        <a:rPr sz="1800" i="1" dirty="0">
                          <a:solidFill>
                            <a:srgbClr val="001F5F"/>
                          </a:solidFill>
                          <a:latin typeface="Arial Narrow"/>
                          <a:cs typeface="Arial Narrow"/>
                        </a:rPr>
                        <a:t>change</a:t>
                      </a:r>
                      <a:r>
                        <a:rPr sz="1800" i="1" spc="-20" dirty="0">
                          <a:solidFill>
                            <a:srgbClr val="001F5F"/>
                          </a:solidFill>
                          <a:latin typeface="Arial Narrow"/>
                          <a:cs typeface="Arial Narrow"/>
                        </a:rPr>
                        <a:t> </a:t>
                      </a:r>
                      <a:r>
                        <a:rPr sz="1800" i="1" dirty="0">
                          <a:solidFill>
                            <a:srgbClr val="001F5F"/>
                          </a:solidFill>
                          <a:latin typeface="Arial Narrow"/>
                          <a:cs typeface="Arial Narrow"/>
                        </a:rPr>
                        <a:t>as</a:t>
                      </a:r>
                      <a:r>
                        <a:rPr sz="1800" i="1" spc="-45" dirty="0">
                          <a:solidFill>
                            <a:srgbClr val="001F5F"/>
                          </a:solidFill>
                          <a:latin typeface="Arial Narrow"/>
                          <a:cs typeface="Arial Narrow"/>
                        </a:rPr>
                        <a:t> </a:t>
                      </a:r>
                      <a:r>
                        <a:rPr sz="1800" i="1" spc="-50" dirty="0">
                          <a:solidFill>
                            <a:srgbClr val="001F5F"/>
                          </a:solidFill>
                          <a:latin typeface="Arial Narrow"/>
                          <a:cs typeface="Arial Narrow"/>
                        </a:rPr>
                        <a:t>…</a:t>
                      </a:r>
                      <a:endParaRPr sz="1800">
                        <a:latin typeface="Arial Narrow"/>
                        <a:cs typeface="Arial Narrow"/>
                      </a:endParaRPr>
                    </a:p>
                    <a:p>
                      <a:pPr marL="378460" marR="257175" indent="-287020">
                        <a:lnSpc>
                          <a:spcPct val="100000"/>
                        </a:lnSpc>
                        <a:spcBef>
                          <a:spcPts val="5"/>
                        </a:spcBef>
                        <a:buFont typeface="Arial"/>
                        <a:buChar char="•"/>
                        <a:tabLst>
                          <a:tab pos="378460" algn="l"/>
                        </a:tabLst>
                      </a:pPr>
                      <a:r>
                        <a:rPr sz="1800" i="1" dirty="0">
                          <a:solidFill>
                            <a:srgbClr val="001F5F"/>
                          </a:solidFill>
                          <a:latin typeface="Arial Narrow"/>
                          <a:cs typeface="Arial Narrow"/>
                        </a:rPr>
                        <a:t>Climate</a:t>
                      </a:r>
                      <a:r>
                        <a:rPr sz="1800" i="1" spc="-65" dirty="0">
                          <a:solidFill>
                            <a:srgbClr val="001F5F"/>
                          </a:solidFill>
                          <a:latin typeface="Arial Narrow"/>
                          <a:cs typeface="Arial Narrow"/>
                        </a:rPr>
                        <a:t> </a:t>
                      </a:r>
                      <a:r>
                        <a:rPr sz="1800" i="1" dirty="0">
                          <a:solidFill>
                            <a:srgbClr val="001F5F"/>
                          </a:solidFill>
                          <a:latin typeface="Arial Narrow"/>
                          <a:cs typeface="Arial Narrow"/>
                        </a:rPr>
                        <a:t>change</a:t>
                      </a:r>
                      <a:r>
                        <a:rPr sz="1800" i="1" spc="-40" dirty="0">
                          <a:solidFill>
                            <a:srgbClr val="001F5F"/>
                          </a:solidFill>
                          <a:latin typeface="Arial Narrow"/>
                          <a:cs typeface="Arial Narrow"/>
                        </a:rPr>
                        <a:t> </a:t>
                      </a:r>
                      <a:r>
                        <a:rPr sz="1800" i="1" dirty="0">
                          <a:solidFill>
                            <a:srgbClr val="001F5F"/>
                          </a:solidFill>
                          <a:latin typeface="Arial Narrow"/>
                          <a:cs typeface="Arial Narrow"/>
                        </a:rPr>
                        <a:t>amplifies</a:t>
                      </a:r>
                      <a:r>
                        <a:rPr sz="1800" i="1" spc="-50" dirty="0">
                          <a:solidFill>
                            <a:srgbClr val="001F5F"/>
                          </a:solidFill>
                          <a:latin typeface="Arial Narrow"/>
                          <a:cs typeface="Arial Narrow"/>
                        </a:rPr>
                        <a:t> </a:t>
                      </a:r>
                      <a:r>
                        <a:rPr sz="1800" i="1" dirty="0">
                          <a:solidFill>
                            <a:srgbClr val="001F5F"/>
                          </a:solidFill>
                          <a:latin typeface="Arial Narrow"/>
                          <a:cs typeface="Arial Narrow"/>
                        </a:rPr>
                        <a:t>environmental</a:t>
                      </a:r>
                      <a:r>
                        <a:rPr sz="1800" i="1" spc="-20" dirty="0">
                          <a:solidFill>
                            <a:srgbClr val="001F5F"/>
                          </a:solidFill>
                          <a:latin typeface="Arial Narrow"/>
                          <a:cs typeface="Arial Narrow"/>
                        </a:rPr>
                        <a:t> </a:t>
                      </a:r>
                      <a:r>
                        <a:rPr sz="1800" i="1" dirty="0">
                          <a:solidFill>
                            <a:srgbClr val="001F5F"/>
                          </a:solidFill>
                          <a:latin typeface="Arial Narrow"/>
                          <a:cs typeface="Arial Narrow"/>
                        </a:rPr>
                        <a:t>and</a:t>
                      </a:r>
                      <a:r>
                        <a:rPr sz="1800" i="1" spc="-60" dirty="0">
                          <a:solidFill>
                            <a:srgbClr val="001F5F"/>
                          </a:solidFill>
                          <a:latin typeface="Arial Narrow"/>
                          <a:cs typeface="Arial Narrow"/>
                        </a:rPr>
                        <a:t> </a:t>
                      </a:r>
                      <a:r>
                        <a:rPr sz="1800" i="1" dirty="0">
                          <a:solidFill>
                            <a:srgbClr val="001F5F"/>
                          </a:solidFill>
                          <a:latin typeface="Arial Narrow"/>
                          <a:cs typeface="Arial Narrow"/>
                        </a:rPr>
                        <a:t>social</a:t>
                      </a:r>
                      <a:r>
                        <a:rPr sz="1800" i="1" spc="-70" dirty="0">
                          <a:solidFill>
                            <a:srgbClr val="001F5F"/>
                          </a:solidFill>
                          <a:latin typeface="Arial Narrow"/>
                          <a:cs typeface="Arial Narrow"/>
                        </a:rPr>
                        <a:t> </a:t>
                      </a:r>
                      <a:r>
                        <a:rPr sz="1800" i="1" spc="-10" dirty="0">
                          <a:solidFill>
                            <a:srgbClr val="001F5F"/>
                          </a:solidFill>
                          <a:latin typeface="Arial Narrow"/>
                          <a:cs typeface="Arial Narrow"/>
                        </a:rPr>
                        <a:t>vulnerabilities, </a:t>
                      </a:r>
                      <a:r>
                        <a:rPr sz="1800" i="1" dirty="0">
                          <a:solidFill>
                            <a:srgbClr val="001F5F"/>
                          </a:solidFill>
                          <a:latin typeface="Arial Narrow"/>
                          <a:cs typeface="Arial Narrow"/>
                        </a:rPr>
                        <a:t>such</a:t>
                      </a:r>
                      <a:r>
                        <a:rPr sz="1800" i="1" spc="-55" dirty="0">
                          <a:solidFill>
                            <a:srgbClr val="001F5F"/>
                          </a:solidFill>
                          <a:latin typeface="Arial Narrow"/>
                          <a:cs typeface="Arial Narrow"/>
                        </a:rPr>
                        <a:t> </a:t>
                      </a:r>
                      <a:r>
                        <a:rPr sz="1800" i="1" dirty="0">
                          <a:solidFill>
                            <a:srgbClr val="001F5F"/>
                          </a:solidFill>
                          <a:latin typeface="Arial Narrow"/>
                          <a:cs typeface="Arial Narrow"/>
                        </a:rPr>
                        <a:t>as</a:t>
                      </a:r>
                      <a:r>
                        <a:rPr sz="1800" i="1" spc="-55" dirty="0">
                          <a:solidFill>
                            <a:srgbClr val="001F5F"/>
                          </a:solidFill>
                          <a:latin typeface="Arial Narrow"/>
                          <a:cs typeface="Arial Narrow"/>
                        </a:rPr>
                        <a:t> </a:t>
                      </a:r>
                      <a:r>
                        <a:rPr sz="1800" i="1" dirty="0">
                          <a:solidFill>
                            <a:srgbClr val="001F5F"/>
                          </a:solidFill>
                          <a:latin typeface="Arial Narrow"/>
                          <a:cs typeface="Arial Narrow"/>
                        </a:rPr>
                        <a:t>increased</a:t>
                      </a:r>
                      <a:r>
                        <a:rPr sz="1800" i="1" spc="-35" dirty="0">
                          <a:solidFill>
                            <a:srgbClr val="001F5F"/>
                          </a:solidFill>
                          <a:latin typeface="Arial Narrow"/>
                          <a:cs typeface="Arial Narrow"/>
                        </a:rPr>
                        <a:t> </a:t>
                      </a:r>
                      <a:r>
                        <a:rPr sz="1800" i="1" dirty="0">
                          <a:solidFill>
                            <a:srgbClr val="001F5F"/>
                          </a:solidFill>
                          <a:latin typeface="Arial Narrow"/>
                          <a:cs typeface="Arial Narrow"/>
                        </a:rPr>
                        <a:t>heat</a:t>
                      </a:r>
                      <a:r>
                        <a:rPr sz="1800" i="1" spc="-30" dirty="0">
                          <a:solidFill>
                            <a:srgbClr val="001F5F"/>
                          </a:solidFill>
                          <a:latin typeface="Arial Narrow"/>
                          <a:cs typeface="Arial Narrow"/>
                        </a:rPr>
                        <a:t> </a:t>
                      </a:r>
                      <a:r>
                        <a:rPr sz="1800" i="1" dirty="0">
                          <a:solidFill>
                            <a:srgbClr val="001F5F"/>
                          </a:solidFill>
                          <a:latin typeface="Arial Narrow"/>
                          <a:cs typeface="Arial Narrow"/>
                        </a:rPr>
                        <a:t>and</a:t>
                      </a:r>
                      <a:r>
                        <a:rPr sz="1800" i="1" spc="-30" dirty="0">
                          <a:solidFill>
                            <a:srgbClr val="001F5F"/>
                          </a:solidFill>
                          <a:latin typeface="Arial Narrow"/>
                          <a:cs typeface="Arial Narrow"/>
                        </a:rPr>
                        <a:t> </a:t>
                      </a:r>
                      <a:r>
                        <a:rPr sz="1800" i="1" dirty="0">
                          <a:solidFill>
                            <a:srgbClr val="001F5F"/>
                          </a:solidFill>
                          <a:latin typeface="Arial Narrow"/>
                          <a:cs typeface="Arial Narrow"/>
                        </a:rPr>
                        <a:t>flooding</a:t>
                      </a:r>
                      <a:r>
                        <a:rPr sz="1800" i="1" spc="-25" dirty="0">
                          <a:solidFill>
                            <a:srgbClr val="001F5F"/>
                          </a:solidFill>
                          <a:latin typeface="Arial Narrow"/>
                          <a:cs typeface="Arial Narrow"/>
                        </a:rPr>
                        <a:t> </a:t>
                      </a:r>
                      <a:r>
                        <a:rPr sz="1800" i="1" dirty="0">
                          <a:solidFill>
                            <a:srgbClr val="001F5F"/>
                          </a:solidFill>
                          <a:latin typeface="Arial Narrow"/>
                          <a:cs typeface="Arial Narrow"/>
                        </a:rPr>
                        <a:t>risks</a:t>
                      </a:r>
                      <a:r>
                        <a:rPr sz="1800" i="1" spc="-65" dirty="0">
                          <a:solidFill>
                            <a:srgbClr val="001F5F"/>
                          </a:solidFill>
                          <a:latin typeface="Arial Narrow"/>
                          <a:cs typeface="Arial Narrow"/>
                        </a:rPr>
                        <a:t> </a:t>
                      </a:r>
                      <a:r>
                        <a:rPr sz="1800" i="1" dirty="0">
                          <a:solidFill>
                            <a:srgbClr val="001F5F"/>
                          </a:solidFill>
                          <a:latin typeface="Arial Narrow"/>
                          <a:cs typeface="Arial Narrow"/>
                        </a:rPr>
                        <a:t>(OpenAI,</a:t>
                      </a:r>
                      <a:r>
                        <a:rPr sz="1800" i="1" spc="-30" dirty="0">
                          <a:solidFill>
                            <a:srgbClr val="001F5F"/>
                          </a:solidFill>
                          <a:latin typeface="Arial Narrow"/>
                          <a:cs typeface="Arial Narrow"/>
                        </a:rPr>
                        <a:t> </a:t>
                      </a:r>
                      <a:r>
                        <a:rPr sz="1800" i="1" spc="-10" dirty="0">
                          <a:solidFill>
                            <a:srgbClr val="001F5F"/>
                          </a:solidFill>
                          <a:latin typeface="Arial Narrow"/>
                          <a:cs typeface="Arial Narrow"/>
                        </a:rPr>
                        <a:t>2025).</a:t>
                      </a:r>
                      <a:endParaRPr sz="1800">
                        <a:latin typeface="Arial Narrow"/>
                        <a:cs typeface="Arial Narrow"/>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EDFA"/>
                    </a:solidFill>
                  </a:tcPr>
                </a:tc>
                <a:extLst>
                  <a:ext uri="{0D108BD9-81ED-4DB2-BD59-A6C34878D82A}">
                    <a16:rowId xmlns:a16="http://schemas.microsoft.com/office/drawing/2014/main" val="10001"/>
                  </a:ext>
                </a:extLst>
              </a:tr>
            </a:tbl>
          </a:graphicData>
        </a:graphic>
      </p:graphicFrame>
      <p:sp>
        <p:nvSpPr>
          <p:cNvPr id="7" name="object 7"/>
          <p:cNvSpPr txBox="1"/>
          <p:nvPr/>
        </p:nvSpPr>
        <p:spPr>
          <a:xfrm>
            <a:off x="888288" y="6361582"/>
            <a:ext cx="704215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a:cs typeface="Arial"/>
              </a:rPr>
              <a:t>More</a:t>
            </a:r>
            <a:r>
              <a:rPr sz="1400" spc="10" dirty="0">
                <a:latin typeface="Arial"/>
                <a:cs typeface="Arial"/>
              </a:rPr>
              <a:t> </a:t>
            </a:r>
            <a:r>
              <a:rPr sz="1400" dirty="0">
                <a:latin typeface="Arial"/>
                <a:cs typeface="Arial"/>
              </a:rPr>
              <a:t>info</a:t>
            </a:r>
            <a:r>
              <a:rPr sz="1400" spc="15" dirty="0">
                <a:latin typeface="Arial"/>
                <a:cs typeface="Arial"/>
              </a:rPr>
              <a:t> </a:t>
            </a:r>
            <a:r>
              <a:rPr sz="1400" spc="-10" dirty="0">
                <a:latin typeface="Arial"/>
                <a:cs typeface="Arial"/>
              </a:rPr>
              <a:t>on</a:t>
            </a:r>
            <a:r>
              <a:rPr sz="1400" spc="-70" dirty="0">
                <a:latin typeface="Arial"/>
                <a:cs typeface="Arial"/>
              </a:rPr>
              <a:t> </a:t>
            </a:r>
            <a:r>
              <a:rPr sz="1400" spc="-50" dirty="0">
                <a:latin typeface="Arial"/>
                <a:cs typeface="Arial"/>
              </a:rPr>
              <a:t>APA </a:t>
            </a:r>
            <a:r>
              <a:rPr sz="1400" dirty="0">
                <a:latin typeface="Arial"/>
                <a:cs typeface="Arial"/>
              </a:rPr>
              <a:t>style</a:t>
            </a:r>
            <a:r>
              <a:rPr sz="1400" spc="25" dirty="0">
                <a:latin typeface="Arial"/>
                <a:cs typeface="Arial"/>
              </a:rPr>
              <a:t> </a:t>
            </a:r>
            <a:r>
              <a:rPr sz="1400" dirty="0">
                <a:latin typeface="Arial"/>
                <a:cs typeface="Arial"/>
              </a:rPr>
              <a:t>citation:</a:t>
            </a:r>
            <a:r>
              <a:rPr sz="1400" spc="5" dirty="0">
                <a:latin typeface="Arial"/>
                <a:cs typeface="Arial"/>
              </a:rPr>
              <a:t> </a:t>
            </a:r>
            <a:r>
              <a:rPr sz="1400" u="sng" spc="-10" dirty="0">
                <a:solidFill>
                  <a:srgbClr val="467885"/>
                </a:solidFill>
                <a:uFill>
                  <a:solidFill>
                    <a:srgbClr val="467885"/>
                  </a:solidFill>
                </a:uFill>
                <a:latin typeface="Arial"/>
                <a:cs typeface="Arial"/>
                <a:hlinkClick r:id="rId5"/>
              </a:rPr>
              <a:t>https://apastyle.apa.org/blog/cite-generative-ai-references</a:t>
            </a:r>
            <a:endParaRPr sz="1400">
              <a:latin typeface="Arial"/>
              <a:cs typeface="Arial"/>
            </a:endParaRPr>
          </a:p>
        </p:txBody>
      </p:sp>
      <p:sp>
        <p:nvSpPr>
          <p:cNvPr id="8" name="object 8"/>
          <p:cNvSpPr txBox="1"/>
          <p:nvPr/>
        </p:nvSpPr>
        <p:spPr>
          <a:xfrm>
            <a:off x="888288" y="1520444"/>
            <a:ext cx="9126855" cy="1837689"/>
          </a:xfrm>
          <a:prstGeom prst="rect">
            <a:avLst/>
          </a:prstGeom>
        </p:spPr>
        <p:txBody>
          <a:bodyPr vert="horz" wrap="square" lIns="0" tIns="12700" rIns="0" bIns="0" rtlCol="0">
            <a:spAutoFit/>
          </a:bodyPr>
          <a:lstStyle/>
          <a:p>
            <a:pPr marL="12700" marR="5080">
              <a:lnSpc>
                <a:spcPct val="100000"/>
              </a:lnSpc>
              <a:spcBef>
                <a:spcPts val="100"/>
              </a:spcBef>
            </a:pPr>
            <a:r>
              <a:rPr sz="2400" b="1" dirty="0">
                <a:latin typeface="Arial"/>
                <a:cs typeface="Arial"/>
              </a:rPr>
              <a:t>When</a:t>
            </a:r>
            <a:r>
              <a:rPr sz="2400" b="1" spc="-65" dirty="0">
                <a:latin typeface="Arial"/>
                <a:cs typeface="Arial"/>
              </a:rPr>
              <a:t> </a:t>
            </a:r>
            <a:r>
              <a:rPr sz="2400" b="1" dirty="0">
                <a:latin typeface="Arial"/>
                <a:cs typeface="Arial"/>
              </a:rPr>
              <a:t>to</a:t>
            </a:r>
            <a:r>
              <a:rPr sz="2400" b="1" spc="-35" dirty="0">
                <a:latin typeface="Arial"/>
                <a:cs typeface="Arial"/>
              </a:rPr>
              <a:t> </a:t>
            </a:r>
            <a:r>
              <a:rPr sz="2400" b="1" dirty="0">
                <a:latin typeface="Arial"/>
                <a:cs typeface="Arial"/>
              </a:rPr>
              <a:t>cite</a:t>
            </a:r>
            <a:r>
              <a:rPr sz="2400" b="1" spc="-135" dirty="0">
                <a:latin typeface="Arial"/>
                <a:cs typeface="Arial"/>
              </a:rPr>
              <a:t> </a:t>
            </a:r>
            <a:r>
              <a:rPr sz="2400" b="1" dirty="0">
                <a:latin typeface="Arial"/>
                <a:cs typeface="Arial"/>
              </a:rPr>
              <a:t>AI:</a:t>
            </a:r>
            <a:r>
              <a:rPr sz="2400" b="1" spc="-35" dirty="0">
                <a:latin typeface="Arial"/>
                <a:cs typeface="Arial"/>
              </a:rPr>
              <a:t> </a:t>
            </a:r>
            <a:r>
              <a:rPr sz="2400" spc="-20" dirty="0">
                <a:latin typeface="Arial"/>
                <a:cs typeface="Arial"/>
              </a:rPr>
              <a:t>When</a:t>
            </a:r>
            <a:r>
              <a:rPr sz="2400" spc="-145" dirty="0">
                <a:latin typeface="Arial"/>
                <a:cs typeface="Arial"/>
              </a:rPr>
              <a:t> </a:t>
            </a:r>
            <a:r>
              <a:rPr sz="2400" dirty="0">
                <a:latin typeface="Arial"/>
                <a:cs typeface="Arial"/>
              </a:rPr>
              <a:t>AI</a:t>
            </a:r>
            <a:r>
              <a:rPr sz="2400" spc="-40" dirty="0">
                <a:latin typeface="Arial"/>
                <a:cs typeface="Arial"/>
              </a:rPr>
              <a:t> </a:t>
            </a:r>
            <a:r>
              <a:rPr sz="2400" dirty="0">
                <a:latin typeface="Arial"/>
                <a:cs typeface="Arial"/>
              </a:rPr>
              <a:t>is</a:t>
            </a:r>
            <a:r>
              <a:rPr sz="2400" spc="-35" dirty="0">
                <a:latin typeface="Arial"/>
                <a:cs typeface="Arial"/>
              </a:rPr>
              <a:t> </a:t>
            </a:r>
            <a:r>
              <a:rPr sz="2400" dirty="0">
                <a:latin typeface="Arial"/>
                <a:cs typeface="Arial"/>
              </a:rPr>
              <a:t>used</a:t>
            </a:r>
            <a:r>
              <a:rPr sz="2400" spc="-30" dirty="0">
                <a:latin typeface="Arial"/>
                <a:cs typeface="Arial"/>
              </a:rPr>
              <a:t> </a:t>
            </a:r>
            <a:r>
              <a:rPr sz="2400" dirty="0">
                <a:latin typeface="Arial"/>
                <a:cs typeface="Arial"/>
              </a:rPr>
              <a:t>to</a:t>
            </a:r>
            <a:r>
              <a:rPr sz="2400" spc="-55" dirty="0">
                <a:latin typeface="Arial"/>
                <a:cs typeface="Arial"/>
              </a:rPr>
              <a:t> </a:t>
            </a:r>
            <a:r>
              <a:rPr sz="2400" dirty="0">
                <a:latin typeface="Arial"/>
                <a:cs typeface="Arial"/>
              </a:rPr>
              <a:t>generate</a:t>
            </a:r>
            <a:r>
              <a:rPr sz="2400" spc="-20" dirty="0">
                <a:latin typeface="Arial"/>
                <a:cs typeface="Arial"/>
              </a:rPr>
              <a:t> </a:t>
            </a:r>
            <a:r>
              <a:rPr sz="2400" dirty="0">
                <a:latin typeface="Arial"/>
                <a:cs typeface="Arial"/>
              </a:rPr>
              <a:t>content</a:t>
            </a:r>
            <a:r>
              <a:rPr sz="2400" spc="-30" dirty="0">
                <a:latin typeface="Arial"/>
                <a:cs typeface="Arial"/>
              </a:rPr>
              <a:t> </a:t>
            </a:r>
            <a:r>
              <a:rPr sz="2400" dirty="0">
                <a:latin typeface="Arial"/>
                <a:cs typeface="Arial"/>
              </a:rPr>
              <a:t>(e.g.,</a:t>
            </a:r>
            <a:r>
              <a:rPr sz="2400" spc="-60" dirty="0">
                <a:latin typeface="Arial"/>
                <a:cs typeface="Arial"/>
              </a:rPr>
              <a:t> </a:t>
            </a:r>
            <a:r>
              <a:rPr sz="2400" spc="-10" dirty="0">
                <a:latin typeface="Arial"/>
                <a:cs typeface="Arial"/>
              </a:rPr>
              <a:t>ideas, </a:t>
            </a:r>
            <a:r>
              <a:rPr sz="2400" dirty="0">
                <a:latin typeface="Arial"/>
                <a:cs typeface="Arial"/>
              </a:rPr>
              <a:t>explanations,</a:t>
            </a:r>
            <a:r>
              <a:rPr sz="2400" spc="-45" dirty="0">
                <a:latin typeface="Arial"/>
                <a:cs typeface="Arial"/>
              </a:rPr>
              <a:t> </a:t>
            </a:r>
            <a:r>
              <a:rPr sz="2400" dirty="0">
                <a:latin typeface="Arial"/>
                <a:cs typeface="Arial"/>
              </a:rPr>
              <a:t>images,</a:t>
            </a:r>
            <a:r>
              <a:rPr sz="2400" spc="-70" dirty="0">
                <a:latin typeface="Arial"/>
                <a:cs typeface="Arial"/>
              </a:rPr>
              <a:t> </a:t>
            </a:r>
            <a:r>
              <a:rPr sz="2400" dirty="0">
                <a:latin typeface="Arial"/>
                <a:cs typeface="Arial"/>
              </a:rPr>
              <a:t>audio,</a:t>
            </a:r>
            <a:r>
              <a:rPr sz="2400" spc="-55" dirty="0">
                <a:latin typeface="Arial"/>
                <a:cs typeface="Arial"/>
              </a:rPr>
              <a:t> </a:t>
            </a:r>
            <a:r>
              <a:rPr sz="2400" dirty="0">
                <a:latin typeface="Arial"/>
                <a:cs typeface="Arial"/>
              </a:rPr>
              <a:t>videos)</a:t>
            </a:r>
            <a:r>
              <a:rPr sz="2400" spc="-70" dirty="0">
                <a:latin typeface="Arial"/>
                <a:cs typeface="Arial"/>
              </a:rPr>
              <a:t> </a:t>
            </a:r>
            <a:r>
              <a:rPr sz="2400" dirty="0">
                <a:latin typeface="Arial"/>
                <a:cs typeface="Arial"/>
              </a:rPr>
              <a:t>that</a:t>
            </a:r>
            <a:r>
              <a:rPr sz="2400" spc="-90" dirty="0">
                <a:latin typeface="Arial"/>
                <a:cs typeface="Arial"/>
              </a:rPr>
              <a:t> </a:t>
            </a:r>
            <a:r>
              <a:rPr sz="2400" dirty="0">
                <a:latin typeface="Arial"/>
                <a:cs typeface="Arial"/>
              </a:rPr>
              <a:t>you</a:t>
            </a:r>
            <a:r>
              <a:rPr sz="2400" spc="-75" dirty="0">
                <a:latin typeface="Arial"/>
                <a:cs typeface="Arial"/>
              </a:rPr>
              <a:t> </a:t>
            </a:r>
            <a:r>
              <a:rPr sz="2400" dirty="0">
                <a:latin typeface="Arial"/>
                <a:cs typeface="Arial"/>
              </a:rPr>
              <a:t>directly</a:t>
            </a:r>
            <a:r>
              <a:rPr sz="2400" spc="-65" dirty="0">
                <a:latin typeface="Arial"/>
                <a:cs typeface="Arial"/>
              </a:rPr>
              <a:t> </a:t>
            </a:r>
            <a:r>
              <a:rPr sz="2400" dirty="0">
                <a:latin typeface="Arial"/>
                <a:cs typeface="Arial"/>
              </a:rPr>
              <a:t>use,</a:t>
            </a:r>
            <a:r>
              <a:rPr sz="2400" spc="-75" dirty="0">
                <a:latin typeface="Arial"/>
                <a:cs typeface="Arial"/>
              </a:rPr>
              <a:t> </a:t>
            </a:r>
            <a:r>
              <a:rPr sz="2400" dirty="0">
                <a:latin typeface="Arial"/>
                <a:cs typeface="Arial"/>
              </a:rPr>
              <a:t>adapt,</a:t>
            </a:r>
            <a:r>
              <a:rPr sz="2400" spc="-75" dirty="0">
                <a:latin typeface="Arial"/>
                <a:cs typeface="Arial"/>
              </a:rPr>
              <a:t> </a:t>
            </a:r>
            <a:r>
              <a:rPr sz="2400" spc="-25" dirty="0">
                <a:latin typeface="Arial"/>
                <a:cs typeface="Arial"/>
              </a:rPr>
              <a:t>or </a:t>
            </a:r>
            <a:r>
              <a:rPr sz="2400" dirty="0">
                <a:latin typeface="Arial"/>
                <a:cs typeface="Arial"/>
              </a:rPr>
              <a:t>paraphrase</a:t>
            </a:r>
            <a:r>
              <a:rPr sz="2400" spc="-60" dirty="0">
                <a:latin typeface="Arial"/>
                <a:cs typeface="Arial"/>
              </a:rPr>
              <a:t> </a:t>
            </a:r>
            <a:r>
              <a:rPr sz="2400" dirty="0">
                <a:latin typeface="Arial"/>
                <a:cs typeface="Arial"/>
              </a:rPr>
              <a:t>in</a:t>
            </a:r>
            <a:r>
              <a:rPr sz="2400" spc="-80" dirty="0">
                <a:latin typeface="Arial"/>
                <a:cs typeface="Arial"/>
              </a:rPr>
              <a:t> </a:t>
            </a:r>
            <a:r>
              <a:rPr sz="2400" dirty="0">
                <a:latin typeface="Arial"/>
                <a:cs typeface="Arial"/>
              </a:rPr>
              <a:t>your</a:t>
            </a:r>
            <a:r>
              <a:rPr sz="2400" spc="-70" dirty="0">
                <a:latin typeface="Arial"/>
                <a:cs typeface="Arial"/>
              </a:rPr>
              <a:t> </a:t>
            </a:r>
            <a:r>
              <a:rPr sz="2400" dirty="0">
                <a:latin typeface="Arial"/>
                <a:cs typeface="Arial"/>
              </a:rPr>
              <a:t>final</a:t>
            </a:r>
            <a:r>
              <a:rPr sz="2400" spc="-70" dirty="0">
                <a:latin typeface="Arial"/>
                <a:cs typeface="Arial"/>
              </a:rPr>
              <a:t> </a:t>
            </a:r>
            <a:r>
              <a:rPr sz="2400" dirty="0">
                <a:latin typeface="Arial"/>
                <a:cs typeface="Arial"/>
              </a:rPr>
              <a:t>submission,</a:t>
            </a:r>
            <a:r>
              <a:rPr sz="2400" spc="-60" dirty="0">
                <a:latin typeface="Arial"/>
                <a:cs typeface="Arial"/>
              </a:rPr>
              <a:t> </a:t>
            </a:r>
            <a:r>
              <a:rPr sz="2400" dirty="0">
                <a:latin typeface="Arial"/>
                <a:cs typeface="Arial"/>
              </a:rPr>
              <a:t>you</a:t>
            </a:r>
            <a:r>
              <a:rPr sz="2400" spc="-65" dirty="0">
                <a:latin typeface="Arial"/>
                <a:cs typeface="Arial"/>
              </a:rPr>
              <a:t> </a:t>
            </a:r>
            <a:r>
              <a:rPr sz="2400" dirty="0">
                <a:latin typeface="Arial"/>
                <a:cs typeface="Arial"/>
              </a:rPr>
              <a:t>must</a:t>
            </a:r>
            <a:r>
              <a:rPr sz="2400" spc="-85" dirty="0">
                <a:latin typeface="Arial"/>
                <a:cs typeface="Arial"/>
              </a:rPr>
              <a:t> </a:t>
            </a:r>
            <a:r>
              <a:rPr sz="2400" dirty="0">
                <a:latin typeface="Arial"/>
                <a:cs typeface="Arial"/>
              </a:rPr>
              <a:t>cite</a:t>
            </a:r>
            <a:r>
              <a:rPr sz="2400" spc="-70" dirty="0">
                <a:latin typeface="Arial"/>
                <a:cs typeface="Arial"/>
              </a:rPr>
              <a:t> </a:t>
            </a:r>
            <a:r>
              <a:rPr sz="2400" spc="-25" dirty="0">
                <a:latin typeface="Arial"/>
                <a:cs typeface="Arial"/>
              </a:rPr>
              <a:t>it.</a:t>
            </a:r>
            <a:endParaRPr sz="2400">
              <a:latin typeface="Arial"/>
              <a:cs typeface="Arial"/>
            </a:endParaRPr>
          </a:p>
          <a:p>
            <a:pPr marL="12700">
              <a:lnSpc>
                <a:spcPct val="100000"/>
              </a:lnSpc>
              <a:spcBef>
                <a:spcPts val="2745"/>
              </a:spcBef>
            </a:pPr>
            <a:r>
              <a:rPr sz="2400" b="1" dirty="0">
                <a:latin typeface="Arial"/>
                <a:cs typeface="Arial"/>
              </a:rPr>
              <a:t>How</a:t>
            </a:r>
            <a:r>
              <a:rPr sz="2400" b="1" spc="-20" dirty="0">
                <a:latin typeface="Arial"/>
                <a:cs typeface="Arial"/>
              </a:rPr>
              <a:t> </a:t>
            </a:r>
            <a:r>
              <a:rPr sz="2400" b="1" dirty="0">
                <a:latin typeface="Arial"/>
                <a:cs typeface="Arial"/>
              </a:rPr>
              <a:t>to</a:t>
            </a:r>
            <a:r>
              <a:rPr sz="2400" b="1" spc="-20" dirty="0">
                <a:latin typeface="Arial"/>
                <a:cs typeface="Arial"/>
              </a:rPr>
              <a:t> </a:t>
            </a:r>
            <a:r>
              <a:rPr sz="2400" b="1" dirty="0">
                <a:latin typeface="Arial"/>
                <a:cs typeface="Arial"/>
              </a:rPr>
              <a:t>cite</a:t>
            </a:r>
            <a:r>
              <a:rPr sz="2400" b="1" spc="-110" dirty="0">
                <a:latin typeface="Arial"/>
                <a:cs typeface="Arial"/>
              </a:rPr>
              <a:t> </a:t>
            </a:r>
            <a:r>
              <a:rPr sz="2400" b="1" spc="-25" dirty="0">
                <a:latin typeface="Arial"/>
                <a:cs typeface="Arial"/>
              </a:rPr>
              <a:t>AI:</a:t>
            </a:r>
            <a:endParaRPr sz="24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429892"/>
            <a:ext cx="10610215" cy="3957954"/>
          </a:xfrm>
          <a:prstGeom prst="rect">
            <a:avLst/>
          </a:prstGeom>
        </p:spPr>
        <p:txBody>
          <a:bodyPr vert="horz" wrap="square" lIns="0" tIns="165100" rIns="0" bIns="0" rtlCol="0">
            <a:spAutoFit/>
          </a:bodyPr>
          <a:lstStyle/>
          <a:p>
            <a:pPr marL="12700">
              <a:lnSpc>
                <a:spcPct val="100000"/>
              </a:lnSpc>
              <a:spcBef>
                <a:spcPts val="1300"/>
              </a:spcBef>
            </a:pPr>
            <a:r>
              <a:rPr sz="2400" dirty="0">
                <a:latin typeface="Arial"/>
                <a:cs typeface="Arial"/>
              </a:rPr>
              <a:t>AI</a:t>
            </a:r>
            <a:r>
              <a:rPr sz="2400" spc="-55" dirty="0">
                <a:latin typeface="Arial"/>
                <a:cs typeface="Arial"/>
              </a:rPr>
              <a:t> </a:t>
            </a:r>
            <a:r>
              <a:rPr sz="2400" dirty="0">
                <a:latin typeface="Arial"/>
                <a:cs typeface="Arial"/>
              </a:rPr>
              <a:t>tools</a:t>
            </a:r>
            <a:r>
              <a:rPr sz="2400" spc="-55" dirty="0">
                <a:latin typeface="Arial"/>
                <a:cs typeface="Arial"/>
              </a:rPr>
              <a:t> </a:t>
            </a:r>
            <a:r>
              <a:rPr sz="2400" dirty="0">
                <a:latin typeface="Arial"/>
                <a:cs typeface="Arial"/>
              </a:rPr>
              <a:t>may</a:t>
            </a:r>
            <a:r>
              <a:rPr sz="2400" spc="-55" dirty="0">
                <a:latin typeface="Arial"/>
                <a:cs typeface="Arial"/>
              </a:rPr>
              <a:t> </a:t>
            </a:r>
            <a:r>
              <a:rPr sz="2400" dirty="0">
                <a:latin typeface="Arial"/>
                <a:cs typeface="Arial"/>
              </a:rPr>
              <a:t>produce</a:t>
            </a:r>
            <a:r>
              <a:rPr sz="2400" spc="-40" dirty="0">
                <a:latin typeface="Arial"/>
                <a:cs typeface="Arial"/>
              </a:rPr>
              <a:t> </a:t>
            </a:r>
            <a:r>
              <a:rPr sz="2400" dirty="0">
                <a:latin typeface="Arial"/>
                <a:cs typeface="Arial"/>
              </a:rPr>
              <a:t>responses</a:t>
            </a:r>
            <a:r>
              <a:rPr sz="2400" spc="-25" dirty="0">
                <a:latin typeface="Arial"/>
                <a:cs typeface="Arial"/>
              </a:rPr>
              <a:t> </a:t>
            </a:r>
            <a:r>
              <a:rPr sz="2400" spc="-10" dirty="0">
                <a:latin typeface="Arial"/>
                <a:cs typeface="Arial"/>
              </a:rPr>
              <a:t>that:</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Are</a:t>
            </a:r>
            <a:r>
              <a:rPr sz="2400" spc="-70" dirty="0">
                <a:latin typeface="Arial"/>
                <a:cs typeface="Arial"/>
              </a:rPr>
              <a:t> </a:t>
            </a:r>
            <a:r>
              <a:rPr sz="2400" dirty="0">
                <a:latin typeface="Arial"/>
                <a:cs typeface="Arial"/>
              </a:rPr>
              <a:t>inaccurate</a:t>
            </a:r>
            <a:r>
              <a:rPr sz="2400" spc="-60" dirty="0">
                <a:latin typeface="Arial"/>
                <a:cs typeface="Arial"/>
              </a:rPr>
              <a:t> </a:t>
            </a:r>
            <a:r>
              <a:rPr sz="2400" dirty="0">
                <a:latin typeface="Arial"/>
                <a:cs typeface="Arial"/>
              </a:rPr>
              <a:t>or</a:t>
            </a:r>
            <a:r>
              <a:rPr sz="2400" spc="-65" dirty="0">
                <a:latin typeface="Arial"/>
                <a:cs typeface="Arial"/>
              </a:rPr>
              <a:t> </a:t>
            </a:r>
            <a:r>
              <a:rPr sz="2400" spc="-10" dirty="0">
                <a:latin typeface="Arial"/>
                <a:cs typeface="Arial"/>
              </a:rPr>
              <a:t>biased</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Are</a:t>
            </a:r>
            <a:r>
              <a:rPr sz="2400" spc="-10" dirty="0">
                <a:latin typeface="Arial"/>
                <a:cs typeface="Arial"/>
              </a:rPr>
              <a:t> outdated</a:t>
            </a:r>
            <a:endParaRPr sz="2400">
              <a:latin typeface="Arial"/>
              <a:cs typeface="Arial"/>
            </a:endParaRPr>
          </a:p>
          <a:p>
            <a:pPr marL="698500" marR="5080" lvl="1" indent="-228600">
              <a:lnSpc>
                <a:spcPct val="100000"/>
              </a:lnSpc>
              <a:spcBef>
                <a:spcPts val="1200"/>
              </a:spcBef>
              <a:buFont typeface="Courier New"/>
              <a:buChar char="o"/>
              <a:tabLst>
                <a:tab pos="698500" algn="l"/>
              </a:tabLst>
            </a:pPr>
            <a:r>
              <a:rPr sz="2200" dirty="0">
                <a:latin typeface="Arial"/>
                <a:cs typeface="Arial"/>
              </a:rPr>
              <a:t>AI</a:t>
            </a:r>
            <a:r>
              <a:rPr sz="2200" spc="-55" dirty="0">
                <a:latin typeface="Arial"/>
                <a:cs typeface="Arial"/>
              </a:rPr>
              <a:t> </a:t>
            </a:r>
            <a:r>
              <a:rPr sz="2200" dirty="0">
                <a:latin typeface="Arial"/>
                <a:cs typeface="Arial"/>
              </a:rPr>
              <a:t>tools</a:t>
            </a:r>
            <a:r>
              <a:rPr sz="2200" spc="-50" dirty="0">
                <a:latin typeface="Arial"/>
                <a:cs typeface="Arial"/>
              </a:rPr>
              <a:t> </a:t>
            </a:r>
            <a:r>
              <a:rPr sz="2200" dirty="0">
                <a:latin typeface="Arial"/>
                <a:cs typeface="Arial"/>
              </a:rPr>
              <a:t>are</a:t>
            </a:r>
            <a:r>
              <a:rPr sz="2200" spc="-35" dirty="0">
                <a:latin typeface="Arial"/>
                <a:cs typeface="Arial"/>
              </a:rPr>
              <a:t> </a:t>
            </a:r>
            <a:r>
              <a:rPr sz="2200" dirty="0">
                <a:latin typeface="Arial"/>
                <a:cs typeface="Arial"/>
              </a:rPr>
              <a:t>dependent</a:t>
            </a:r>
            <a:r>
              <a:rPr sz="2200" spc="-35" dirty="0">
                <a:latin typeface="Arial"/>
                <a:cs typeface="Arial"/>
              </a:rPr>
              <a:t> </a:t>
            </a:r>
            <a:r>
              <a:rPr sz="2200" dirty="0">
                <a:latin typeface="Arial"/>
                <a:cs typeface="Arial"/>
              </a:rPr>
              <a:t>on</a:t>
            </a:r>
            <a:r>
              <a:rPr sz="2200" spc="-45" dirty="0">
                <a:latin typeface="Arial"/>
                <a:cs typeface="Arial"/>
              </a:rPr>
              <a:t> </a:t>
            </a:r>
            <a:r>
              <a:rPr sz="2200" dirty="0">
                <a:latin typeface="Arial"/>
                <a:cs typeface="Arial"/>
              </a:rPr>
              <a:t>the</a:t>
            </a:r>
            <a:r>
              <a:rPr sz="2200" spc="-45" dirty="0">
                <a:latin typeface="Arial"/>
                <a:cs typeface="Arial"/>
              </a:rPr>
              <a:t> </a:t>
            </a:r>
            <a:r>
              <a:rPr sz="2200" dirty="0">
                <a:latin typeface="Arial"/>
                <a:cs typeface="Arial"/>
              </a:rPr>
              <a:t>data</a:t>
            </a:r>
            <a:r>
              <a:rPr sz="2200" spc="-40" dirty="0">
                <a:latin typeface="Arial"/>
                <a:cs typeface="Arial"/>
              </a:rPr>
              <a:t> </a:t>
            </a:r>
            <a:r>
              <a:rPr sz="2200" dirty="0">
                <a:latin typeface="Arial"/>
                <a:cs typeface="Arial"/>
              </a:rPr>
              <a:t>used</a:t>
            </a:r>
            <a:r>
              <a:rPr sz="2200" spc="-45" dirty="0">
                <a:latin typeface="Arial"/>
                <a:cs typeface="Arial"/>
              </a:rPr>
              <a:t> </a:t>
            </a:r>
            <a:r>
              <a:rPr sz="2200" dirty="0">
                <a:latin typeface="Arial"/>
                <a:cs typeface="Arial"/>
              </a:rPr>
              <a:t>to</a:t>
            </a:r>
            <a:r>
              <a:rPr sz="2200" spc="-50" dirty="0">
                <a:latin typeface="Arial"/>
                <a:cs typeface="Arial"/>
              </a:rPr>
              <a:t> </a:t>
            </a:r>
            <a:r>
              <a:rPr sz="2200" dirty="0">
                <a:latin typeface="Arial"/>
                <a:cs typeface="Arial"/>
              </a:rPr>
              <a:t>train</a:t>
            </a:r>
            <a:r>
              <a:rPr sz="2200" spc="-50" dirty="0">
                <a:latin typeface="Arial"/>
                <a:cs typeface="Arial"/>
              </a:rPr>
              <a:t> </a:t>
            </a:r>
            <a:r>
              <a:rPr sz="2200" dirty="0">
                <a:latin typeface="Arial"/>
                <a:cs typeface="Arial"/>
              </a:rPr>
              <a:t>the</a:t>
            </a:r>
            <a:r>
              <a:rPr sz="2200" spc="-50" dirty="0">
                <a:latin typeface="Arial"/>
                <a:cs typeface="Arial"/>
              </a:rPr>
              <a:t> </a:t>
            </a:r>
            <a:r>
              <a:rPr sz="2200" dirty="0">
                <a:latin typeface="Arial"/>
                <a:cs typeface="Arial"/>
              </a:rPr>
              <a:t>tool</a:t>
            </a:r>
            <a:r>
              <a:rPr sz="2200" spc="-50" dirty="0">
                <a:latin typeface="Arial"/>
                <a:cs typeface="Arial"/>
              </a:rPr>
              <a:t> </a:t>
            </a:r>
            <a:r>
              <a:rPr sz="2200" dirty="0">
                <a:latin typeface="Arial"/>
                <a:cs typeface="Arial"/>
              </a:rPr>
              <a:t>and</a:t>
            </a:r>
            <a:r>
              <a:rPr sz="2200" spc="-35" dirty="0">
                <a:latin typeface="Arial"/>
                <a:cs typeface="Arial"/>
              </a:rPr>
              <a:t> </a:t>
            </a:r>
            <a:r>
              <a:rPr sz="2200" dirty="0">
                <a:latin typeface="Arial"/>
                <a:cs typeface="Arial"/>
              </a:rPr>
              <a:t>may</a:t>
            </a:r>
            <a:r>
              <a:rPr sz="2200" spc="-35" dirty="0">
                <a:latin typeface="Arial"/>
                <a:cs typeface="Arial"/>
              </a:rPr>
              <a:t> </a:t>
            </a:r>
            <a:r>
              <a:rPr sz="2200" dirty="0">
                <a:latin typeface="Arial"/>
                <a:cs typeface="Arial"/>
              </a:rPr>
              <a:t>be</a:t>
            </a:r>
            <a:r>
              <a:rPr sz="2200" spc="-50" dirty="0">
                <a:latin typeface="Arial"/>
                <a:cs typeface="Arial"/>
              </a:rPr>
              <a:t> </a:t>
            </a:r>
            <a:r>
              <a:rPr sz="2200" dirty="0">
                <a:latin typeface="Arial"/>
                <a:cs typeface="Arial"/>
              </a:rPr>
              <a:t>unaware</a:t>
            </a:r>
            <a:r>
              <a:rPr sz="2200" spc="-30" dirty="0">
                <a:latin typeface="Arial"/>
                <a:cs typeface="Arial"/>
              </a:rPr>
              <a:t> </a:t>
            </a:r>
            <a:r>
              <a:rPr sz="2200" spc="-25" dirty="0">
                <a:latin typeface="Arial"/>
                <a:cs typeface="Arial"/>
              </a:rPr>
              <a:t>of </a:t>
            </a:r>
            <a:r>
              <a:rPr sz="2200" dirty="0">
                <a:latin typeface="Arial"/>
                <a:cs typeface="Arial"/>
              </a:rPr>
              <a:t>recent</a:t>
            </a:r>
            <a:r>
              <a:rPr sz="2200" spc="-60" dirty="0">
                <a:latin typeface="Arial"/>
                <a:cs typeface="Arial"/>
              </a:rPr>
              <a:t> </a:t>
            </a:r>
            <a:r>
              <a:rPr sz="2200" spc="-10" dirty="0">
                <a:latin typeface="Arial"/>
                <a:cs typeface="Arial"/>
              </a:rPr>
              <a:t>developments</a:t>
            </a:r>
            <a:endParaRPr sz="2200">
              <a:latin typeface="Arial"/>
              <a:cs typeface="Arial"/>
            </a:endParaRPr>
          </a:p>
          <a:p>
            <a:pPr marL="355600" indent="-342900">
              <a:lnSpc>
                <a:spcPct val="100000"/>
              </a:lnSpc>
              <a:spcBef>
                <a:spcPts val="1200"/>
              </a:spcBef>
              <a:buChar char="•"/>
              <a:tabLst>
                <a:tab pos="355600" algn="l"/>
              </a:tabLst>
            </a:pPr>
            <a:r>
              <a:rPr sz="2400" dirty="0">
                <a:latin typeface="Arial"/>
                <a:cs typeface="Arial"/>
              </a:rPr>
              <a:t>Are</a:t>
            </a:r>
            <a:r>
              <a:rPr sz="2400" spc="-60" dirty="0">
                <a:latin typeface="Arial"/>
                <a:cs typeface="Arial"/>
              </a:rPr>
              <a:t> </a:t>
            </a:r>
            <a:r>
              <a:rPr sz="2400" dirty="0">
                <a:latin typeface="Arial"/>
                <a:cs typeface="Arial"/>
              </a:rPr>
              <a:t>dependent</a:t>
            </a:r>
            <a:r>
              <a:rPr sz="2400" spc="-30" dirty="0">
                <a:latin typeface="Arial"/>
                <a:cs typeface="Arial"/>
              </a:rPr>
              <a:t> </a:t>
            </a:r>
            <a:r>
              <a:rPr sz="2400" dirty="0">
                <a:latin typeface="Arial"/>
                <a:cs typeface="Arial"/>
              </a:rPr>
              <a:t>on</a:t>
            </a:r>
            <a:r>
              <a:rPr sz="2400" spc="-55" dirty="0">
                <a:latin typeface="Arial"/>
                <a:cs typeface="Arial"/>
              </a:rPr>
              <a:t> </a:t>
            </a:r>
            <a:r>
              <a:rPr sz="2400" dirty="0">
                <a:latin typeface="Arial"/>
                <a:cs typeface="Arial"/>
              </a:rPr>
              <a:t>the</a:t>
            </a:r>
            <a:r>
              <a:rPr sz="2400" spc="-70" dirty="0">
                <a:latin typeface="Arial"/>
                <a:cs typeface="Arial"/>
              </a:rPr>
              <a:t> </a:t>
            </a:r>
            <a:r>
              <a:rPr sz="2400" dirty="0">
                <a:latin typeface="Arial"/>
                <a:cs typeface="Arial"/>
              </a:rPr>
              <a:t>quality</a:t>
            </a:r>
            <a:r>
              <a:rPr sz="2400" spc="-30" dirty="0">
                <a:latin typeface="Arial"/>
                <a:cs typeface="Arial"/>
              </a:rPr>
              <a:t> </a:t>
            </a:r>
            <a:r>
              <a:rPr sz="2400" dirty="0">
                <a:latin typeface="Arial"/>
                <a:cs typeface="Arial"/>
              </a:rPr>
              <a:t>of</a:t>
            </a:r>
            <a:r>
              <a:rPr sz="2400" spc="-75"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input</a:t>
            </a:r>
            <a:r>
              <a:rPr sz="2400" spc="-60" dirty="0">
                <a:latin typeface="Arial"/>
                <a:cs typeface="Arial"/>
              </a:rPr>
              <a:t> </a:t>
            </a:r>
            <a:r>
              <a:rPr sz="2400" spc="-10" dirty="0">
                <a:latin typeface="Arial"/>
                <a:cs typeface="Arial"/>
              </a:rPr>
              <a:t>prompts</a:t>
            </a:r>
            <a:endParaRPr sz="2400">
              <a:latin typeface="Arial"/>
              <a:cs typeface="Arial"/>
            </a:endParaRPr>
          </a:p>
          <a:p>
            <a:pPr marL="355600" indent="-342900">
              <a:lnSpc>
                <a:spcPct val="100000"/>
              </a:lnSpc>
              <a:spcBef>
                <a:spcPts val="1205"/>
              </a:spcBef>
              <a:buChar char="•"/>
              <a:tabLst>
                <a:tab pos="355600" algn="l"/>
              </a:tabLst>
            </a:pPr>
            <a:r>
              <a:rPr sz="2400" dirty="0">
                <a:latin typeface="Arial"/>
                <a:cs typeface="Arial"/>
              </a:rPr>
              <a:t>Do</a:t>
            </a:r>
            <a:r>
              <a:rPr sz="2400" spc="-65" dirty="0">
                <a:latin typeface="Arial"/>
                <a:cs typeface="Arial"/>
              </a:rPr>
              <a:t> </a:t>
            </a:r>
            <a:r>
              <a:rPr sz="2400" dirty="0">
                <a:latin typeface="Arial"/>
                <a:cs typeface="Arial"/>
              </a:rPr>
              <a:t>not</a:t>
            </a:r>
            <a:r>
              <a:rPr sz="2400" spc="-50" dirty="0">
                <a:latin typeface="Arial"/>
                <a:cs typeface="Arial"/>
              </a:rPr>
              <a:t> </a:t>
            </a:r>
            <a:r>
              <a:rPr sz="2400" dirty="0">
                <a:latin typeface="Arial"/>
                <a:cs typeface="Arial"/>
              </a:rPr>
              <a:t>include</a:t>
            </a:r>
            <a:r>
              <a:rPr sz="2400" spc="-30"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source</a:t>
            </a:r>
            <a:r>
              <a:rPr sz="2400" spc="-50" dirty="0">
                <a:latin typeface="Arial"/>
                <a:cs typeface="Arial"/>
              </a:rPr>
              <a:t> </a:t>
            </a:r>
            <a:r>
              <a:rPr sz="2400" dirty="0">
                <a:latin typeface="Arial"/>
                <a:cs typeface="Arial"/>
              </a:rPr>
              <a:t>of</a:t>
            </a:r>
            <a:r>
              <a:rPr sz="2400" spc="-55" dirty="0">
                <a:latin typeface="Arial"/>
                <a:cs typeface="Arial"/>
              </a:rPr>
              <a:t> </a:t>
            </a:r>
            <a:r>
              <a:rPr sz="2400" dirty="0">
                <a:latin typeface="Arial"/>
                <a:cs typeface="Arial"/>
              </a:rPr>
              <a:t>the</a:t>
            </a:r>
            <a:r>
              <a:rPr sz="2400" spc="-65" dirty="0">
                <a:latin typeface="Arial"/>
                <a:cs typeface="Arial"/>
              </a:rPr>
              <a:t> </a:t>
            </a:r>
            <a:r>
              <a:rPr sz="2400" spc="-10" dirty="0">
                <a:latin typeface="Arial"/>
                <a:cs typeface="Arial"/>
              </a:rPr>
              <a:t>information</a:t>
            </a:r>
            <a:endParaRPr sz="2400">
              <a:latin typeface="Arial"/>
              <a:cs typeface="Arial"/>
            </a:endParaRPr>
          </a:p>
          <a:p>
            <a:pPr marL="355600" indent="-342900">
              <a:lnSpc>
                <a:spcPct val="100000"/>
              </a:lnSpc>
              <a:spcBef>
                <a:spcPts val="1200"/>
              </a:spcBef>
              <a:buChar char="•"/>
              <a:tabLst>
                <a:tab pos="355600" algn="l"/>
              </a:tabLst>
            </a:pPr>
            <a:r>
              <a:rPr sz="2400" dirty="0">
                <a:latin typeface="Arial"/>
                <a:cs typeface="Arial"/>
              </a:rPr>
              <a:t>Lack</a:t>
            </a:r>
            <a:r>
              <a:rPr sz="2400" spc="-55" dirty="0">
                <a:latin typeface="Arial"/>
                <a:cs typeface="Arial"/>
              </a:rPr>
              <a:t> </a:t>
            </a:r>
            <a:r>
              <a:rPr sz="2400" spc="-10" dirty="0">
                <a:latin typeface="Arial"/>
                <a:cs typeface="Arial"/>
              </a:rPr>
              <a:t>creativity</a:t>
            </a:r>
            <a:endParaRPr sz="2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19</a:t>
            </a:fld>
            <a:endParaRPr spc="-25" dirty="0"/>
          </a:p>
        </p:txBody>
      </p:sp>
      <p:sp>
        <p:nvSpPr>
          <p:cNvPr id="6" name="object 6" descr="$PPTXTitle"/>
          <p:cNvSpPr txBox="1">
            <a:spLocks noGrp="1"/>
          </p:cNvSpPr>
          <p:nvPr>
            <p:ph type="title"/>
          </p:nvPr>
        </p:nvSpPr>
        <p:spPr>
          <a:xfrm>
            <a:off x="807212" y="744474"/>
            <a:ext cx="7049770" cy="513715"/>
          </a:xfrm>
          <a:prstGeom prst="rect">
            <a:avLst/>
          </a:prstGeom>
        </p:spPr>
        <p:txBody>
          <a:bodyPr vert="horz" wrap="square" lIns="0" tIns="13335" rIns="0" bIns="0" rtlCol="0">
            <a:spAutoFit/>
          </a:bodyPr>
          <a:lstStyle/>
          <a:p>
            <a:pPr marL="12700">
              <a:lnSpc>
                <a:spcPct val="100000"/>
              </a:lnSpc>
              <a:spcBef>
                <a:spcPts val="105"/>
              </a:spcBef>
            </a:pPr>
            <a:r>
              <a:rPr dirty="0"/>
              <a:t>Possible</a:t>
            </a:r>
            <a:r>
              <a:rPr spc="-75" dirty="0"/>
              <a:t> </a:t>
            </a:r>
            <a:r>
              <a:rPr dirty="0"/>
              <a:t>Limitations</a:t>
            </a:r>
            <a:r>
              <a:rPr spc="-65" dirty="0"/>
              <a:t> </a:t>
            </a:r>
            <a:r>
              <a:rPr dirty="0"/>
              <a:t>of</a:t>
            </a:r>
            <a:r>
              <a:rPr spc="125" dirty="0"/>
              <a:t> </a:t>
            </a:r>
            <a:r>
              <a:rPr dirty="0"/>
              <a:t>AI</a:t>
            </a:r>
            <a:r>
              <a:rPr spc="-50" dirty="0"/>
              <a:t> </a:t>
            </a:r>
            <a:r>
              <a:rPr spc="-10" dirty="0"/>
              <a:t>Tools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a:spLocks noGrp="1"/>
          </p:cNvSpPr>
          <p:nvPr>
            <p:ph type="body" idx="1"/>
          </p:nvPr>
        </p:nvSpPr>
        <p:spPr>
          <a:xfrm>
            <a:off x="838200" y="1825625"/>
            <a:ext cx="10515600" cy="2690480"/>
          </a:xfrm>
          <a:prstGeom prst="rect">
            <a:avLst/>
          </a:prstGeom>
        </p:spPr>
        <p:txBody>
          <a:bodyPr vert="horz" wrap="square" lIns="0" tIns="12700" rIns="0" bIns="0" rtlCol="0">
            <a:spAutoFit/>
          </a:bodyPr>
          <a:lstStyle/>
          <a:p>
            <a:pPr marL="0" marR="5080" indent="0">
              <a:lnSpc>
                <a:spcPct val="100000"/>
              </a:lnSpc>
              <a:spcBef>
                <a:spcPts val="100"/>
              </a:spcBef>
              <a:buNone/>
            </a:pPr>
            <a:r>
              <a:rPr dirty="0"/>
              <a:t>Any</a:t>
            </a:r>
            <a:r>
              <a:rPr spc="-80" dirty="0"/>
              <a:t> </a:t>
            </a:r>
            <a:r>
              <a:rPr dirty="0"/>
              <a:t>student</a:t>
            </a:r>
            <a:r>
              <a:rPr spc="-60" dirty="0"/>
              <a:t> </a:t>
            </a:r>
            <a:r>
              <a:rPr dirty="0"/>
              <a:t>caught</a:t>
            </a:r>
            <a:r>
              <a:rPr spc="-45" dirty="0"/>
              <a:t> </a:t>
            </a:r>
            <a:r>
              <a:rPr dirty="0"/>
              <a:t>infringing</a:t>
            </a:r>
            <a:r>
              <a:rPr spc="-45" dirty="0"/>
              <a:t> </a:t>
            </a:r>
            <a:r>
              <a:rPr dirty="0"/>
              <a:t>any</a:t>
            </a:r>
            <a:r>
              <a:rPr spc="-50" dirty="0"/>
              <a:t> </a:t>
            </a:r>
            <a:r>
              <a:rPr dirty="0"/>
              <a:t>of</a:t>
            </a:r>
            <a:r>
              <a:rPr spc="-80" dirty="0"/>
              <a:t> </a:t>
            </a:r>
            <a:r>
              <a:rPr dirty="0"/>
              <a:t>the</a:t>
            </a:r>
            <a:r>
              <a:rPr spc="-165" dirty="0"/>
              <a:t> </a:t>
            </a:r>
            <a:r>
              <a:rPr dirty="0"/>
              <a:t>Assessment</a:t>
            </a:r>
            <a:r>
              <a:rPr spc="-60" dirty="0"/>
              <a:t> </a:t>
            </a:r>
            <a:r>
              <a:rPr dirty="0"/>
              <a:t>Rules</a:t>
            </a:r>
            <a:r>
              <a:rPr spc="-50" dirty="0"/>
              <a:t> </a:t>
            </a:r>
            <a:r>
              <a:rPr dirty="0"/>
              <a:t>and</a:t>
            </a:r>
            <a:r>
              <a:rPr spc="-50" dirty="0"/>
              <a:t> </a:t>
            </a:r>
            <a:r>
              <a:rPr dirty="0"/>
              <a:t>Regulations</a:t>
            </a:r>
            <a:r>
              <a:rPr spc="-35" dirty="0"/>
              <a:t> </a:t>
            </a:r>
            <a:r>
              <a:rPr spc="-25" dirty="0"/>
              <a:t>is </a:t>
            </a:r>
            <a:r>
              <a:rPr dirty="0"/>
              <a:t>liable</a:t>
            </a:r>
            <a:r>
              <a:rPr spc="-30" dirty="0"/>
              <a:t> </a:t>
            </a:r>
            <a:r>
              <a:rPr dirty="0"/>
              <a:t>to</a:t>
            </a:r>
            <a:r>
              <a:rPr spc="-60" dirty="0"/>
              <a:t> </a:t>
            </a:r>
            <a:r>
              <a:rPr dirty="0"/>
              <a:t>disciplinary</a:t>
            </a:r>
            <a:r>
              <a:rPr spc="-5" dirty="0"/>
              <a:t> </a:t>
            </a:r>
            <a:r>
              <a:rPr dirty="0"/>
              <a:t>action</a:t>
            </a:r>
            <a:r>
              <a:rPr spc="-60" dirty="0"/>
              <a:t> </a:t>
            </a:r>
            <a:r>
              <a:rPr dirty="0"/>
              <a:t>including,</a:t>
            </a:r>
            <a:r>
              <a:rPr spc="-20" dirty="0"/>
              <a:t> </a:t>
            </a:r>
            <a:r>
              <a:rPr dirty="0"/>
              <a:t>but</a:t>
            </a:r>
            <a:r>
              <a:rPr spc="-55" dirty="0"/>
              <a:t> </a:t>
            </a:r>
            <a:r>
              <a:rPr dirty="0"/>
              <a:t>not</a:t>
            </a:r>
            <a:r>
              <a:rPr spc="-55" dirty="0"/>
              <a:t> </a:t>
            </a:r>
            <a:r>
              <a:rPr dirty="0"/>
              <a:t>limited</a:t>
            </a:r>
            <a:r>
              <a:rPr spc="-40" dirty="0"/>
              <a:t> </a:t>
            </a:r>
            <a:r>
              <a:rPr dirty="0"/>
              <a:t>to,</a:t>
            </a:r>
            <a:r>
              <a:rPr spc="-55" dirty="0"/>
              <a:t> </a:t>
            </a:r>
            <a:r>
              <a:rPr dirty="0"/>
              <a:t>an</a:t>
            </a:r>
            <a:r>
              <a:rPr spc="-55" dirty="0"/>
              <a:t> </a:t>
            </a:r>
            <a:r>
              <a:rPr dirty="0"/>
              <a:t>outright</a:t>
            </a:r>
            <a:r>
              <a:rPr spc="-55" dirty="0"/>
              <a:t> </a:t>
            </a:r>
            <a:r>
              <a:rPr dirty="0"/>
              <a:t>failure</a:t>
            </a:r>
            <a:r>
              <a:rPr spc="-40" dirty="0"/>
              <a:t> </a:t>
            </a:r>
            <a:r>
              <a:rPr dirty="0"/>
              <a:t>for</a:t>
            </a:r>
            <a:r>
              <a:rPr spc="-70" dirty="0"/>
              <a:t> </a:t>
            </a:r>
            <a:r>
              <a:rPr spc="-25" dirty="0"/>
              <a:t>the </a:t>
            </a:r>
            <a:r>
              <a:rPr dirty="0"/>
              <a:t>assessment</a:t>
            </a:r>
            <a:r>
              <a:rPr spc="-80" dirty="0"/>
              <a:t> </a:t>
            </a:r>
            <a:r>
              <a:rPr dirty="0"/>
              <a:t>and</a:t>
            </a:r>
            <a:r>
              <a:rPr spc="-70" dirty="0"/>
              <a:t> </a:t>
            </a:r>
            <a:r>
              <a:rPr dirty="0"/>
              <a:t>downgrading</a:t>
            </a:r>
            <a:r>
              <a:rPr spc="-35" dirty="0"/>
              <a:t> </a:t>
            </a:r>
            <a:r>
              <a:rPr dirty="0"/>
              <a:t>of</a:t>
            </a:r>
            <a:r>
              <a:rPr spc="-80" dirty="0"/>
              <a:t> </a:t>
            </a:r>
            <a:r>
              <a:rPr dirty="0"/>
              <a:t>the</a:t>
            </a:r>
            <a:r>
              <a:rPr spc="-80" dirty="0"/>
              <a:t> </a:t>
            </a:r>
            <a:r>
              <a:rPr dirty="0"/>
              <a:t>Module</a:t>
            </a:r>
            <a:r>
              <a:rPr spc="-70" dirty="0"/>
              <a:t> </a:t>
            </a:r>
            <a:r>
              <a:rPr spc="-10" dirty="0"/>
              <a:t>Grade.</a:t>
            </a:r>
          </a:p>
          <a:p>
            <a:pPr marL="0" marR="1142365" indent="0">
              <a:lnSpc>
                <a:spcPct val="100000"/>
              </a:lnSpc>
              <a:spcBef>
                <a:spcPts val="1800"/>
              </a:spcBef>
              <a:buNone/>
            </a:pPr>
            <a:endParaRPr lang="en-US" dirty="0"/>
          </a:p>
          <a:p>
            <a:pPr marL="0" marR="1142365" indent="0">
              <a:lnSpc>
                <a:spcPct val="100000"/>
              </a:lnSpc>
              <a:spcBef>
                <a:spcPts val="1800"/>
              </a:spcBef>
              <a:buNone/>
            </a:pPr>
            <a:r>
              <a:rPr dirty="0"/>
              <a:t>More</a:t>
            </a:r>
            <a:r>
              <a:rPr spc="-85" dirty="0"/>
              <a:t> </a:t>
            </a:r>
            <a:r>
              <a:rPr dirty="0"/>
              <a:t>severe</a:t>
            </a:r>
            <a:r>
              <a:rPr spc="-65" dirty="0"/>
              <a:t> </a:t>
            </a:r>
            <a:r>
              <a:rPr dirty="0"/>
              <a:t>penalties,</a:t>
            </a:r>
            <a:r>
              <a:rPr spc="-65" dirty="0"/>
              <a:t> </a:t>
            </a:r>
            <a:r>
              <a:rPr dirty="0"/>
              <a:t>including</a:t>
            </a:r>
            <a:r>
              <a:rPr spc="-40" dirty="0"/>
              <a:t> </a:t>
            </a:r>
            <a:r>
              <a:rPr dirty="0"/>
              <a:t>dismissal</a:t>
            </a:r>
            <a:r>
              <a:rPr spc="-55" dirty="0"/>
              <a:t> </a:t>
            </a:r>
            <a:r>
              <a:rPr dirty="0"/>
              <a:t>from</a:t>
            </a:r>
            <a:r>
              <a:rPr spc="-95" dirty="0"/>
              <a:t> </a:t>
            </a:r>
            <a:r>
              <a:rPr dirty="0"/>
              <a:t>the</a:t>
            </a:r>
            <a:r>
              <a:rPr spc="-80" dirty="0"/>
              <a:t> </a:t>
            </a:r>
            <a:r>
              <a:rPr dirty="0"/>
              <a:t>Polytechnic,</a:t>
            </a:r>
            <a:r>
              <a:rPr spc="-65" dirty="0"/>
              <a:t> </a:t>
            </a:r>
            <a:r>
              <a:rPr dirty="0"/>
              <a:t>will</a:t>
            </a:r>
            <a:r>
              <a:rPr spc="-50" dirty="0"/>
              <a:t> </a:t>
            </a:r>
            <a:r>
              <a:rPr spc="-25" dirty="0"/>
              <a:t>be </a:t>
            </a:r>
            <a:r>
              <a:rPr dirty="0"/>
              <a:t>imposed</a:t>
            </a:r>
            <a:r>
              <a:rPr spc="-35" dirty="0"/>
              <a:t> </a:t>
            </a:r>
            <a:r>
              <a:rPr dirty="0"/>
              <a:t>on</a:t>
            </a:r>
            <a:r>
              <a:rPr spc="-30" dirty="0"/>
              <a:t> </a:t>
            </a:r>
            <a:r>
              <a:rPr dirty="0"/>
              <a:t>a</a:t>
            </a:r>
            <a:r>
              <a:rPr spc="-45" dirty="0"/>
              <a:t> </a:t>
            </a:r>
            <a:r>
              <a:rPr dirty="0"/>
              <a:t>student</a:t>
            </a:r>
            <a:r>
              <a:rPr spc="-35" dirty="0"/>
              <a:t> </a:t>
            </a:r>
            <a:r>
              <a:rPr dirty="0"/>
              <a:t>caught</a:t>
            </a:r>
            <a:r>
              <a:rPr spc="-40" dirty="0"/>
              <a:t> </a:t>
            </a:r>
            <a:r>
              <a:rPr dirty="0"/>
              <a:t>cheating</a:t>
            </a:r>
            <a:r>
              <a:rPr spc="-25" dirty="0"/>
              <a:t> </a:t>
            </a:r>
            <a:r>
              <a:rPr dirty="0"/>
              <a:t>in</a:t>
            </a:r>
            <a:r>
              <a:rPr spc="-40" dirty="0"/>
              <a:t> </a:t>
            </a:r>
            <a:r>
              <a:rPr dirty="0"/>
              <a:t>an</a:t>
            </a:r>
            <a:r>
              <a:rPr spc="-45" dirty="0"/>
              <a:t> </a:t>
            </a:r>
            <a:r>
              <a:rPr spc="-10" dirty="0"/>
              <a:t>assessment.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20</a:t>
            </a:fld>
            <a:endParaRPr spc="-25" dirty="0"/>
          </a:p>
        </p:txBody>
      </p:sp>
      <p:sp>
        <p:nvSpPr>
          <p:cNvPr id="6" name="object 6"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Academic</a:t>
            </a:r>
            <a:r>
              <a:rPr spc="-25" dirty="0"/>
              <a:t> </a:t>
            </a:r>
            <a:r>
              <a:rPr spc="-10" dirty="0"/>
              <a:t>Integrity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0871" y="42747"/>
            <a:ext cx="1812289"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Official</a:t>
            </a:r>
            <a:r>
              <a:rPr sz="1000" spc="-45" dirty="0">
                <a:latin typeface="Calibri"/>
                <a:cs typeface="Calibri"/>
              </a:rPr>
              <a:t> </a:t>
            </a:r>
            <a:r>
              <a:rPr sz="1000" dirty="0">
                <a:latin typeface="Calibri"/>
                <a:cs typeface="Calibri"/>
              </a:rPr>
              <a:t>(Closed)</a:t>
            </a:r>
            <a:r>
              <a:rPr sz="1000" spc="-25" dirty="0">
                <a:latin typeface="Calibri"/>
                <a:cs typeface="Calibri"/>
              </a:rPr>
              <a:t> </a:t>
            </a:r>
            <a:r>
              <a:rPr sz="1000" dirty="0">
                <a:latin typeface="Calibri"/>
                <a:cs typeface="Calibri"/>
              </a:rPr>
              <a:t>\</a:t>
            </a:r>
            <a:r>
              <a:rPr sz="1000" spc="-35" dirty="0">
                <a:latin typeface="Calibri"/>
                <a:cs typeface="Calibri"/>
              </a:rPr>
              <a:t> </a:t>
            </a:r>
            <a:r>
              <a:rPr sz="1000" dirty="0">
                <a:latin typeface="Calibri"/>
                <a:cs typeface="Calibri"/>
              </a:rPr>
              <a:t>Sensitive</a:t>
            </a:r>
            <a:r>
              <a:rPr sz="1000" spc="-15" dirty="0">
                <a:latin typeface="Calibri"/>
                <a:cs typeface="Calibri"/>
              </a:rPr>
              <a:t> </a:t>
            </a:r>
            <a:r>
              <a:rPr sz="1000" spc="-10" dirty="0">
                <a:latin typeface="Calibri"/>
                <a:cs typeface="Calibri"/>
              </a:rPr>
              <a:t>Normal</a:t>
            </a:r>
            <a:endParaRPr sz="1000">
              <a:latin typeface="Calibri"/>
              <a:cs typeface="Calibri"/>
            </a:endParaRPr>
          </a:p>
        </p:txBody>
      </p:sp>
      <p:pic>
        <p:nvPicPr>
          <p:cNvPr id="3" name="object 3"/>
          <p:cNvPicPr/>
          <p:nvPr/>
        </p:nvPicPr>
        <p:blipFill>
          <a:blip r:embed="rId2" cstate="print"/>
          <a:stretch>
            <a:fillRect/>
          </a:stretch>
        </p:blipFill>
        <p:spPr>
          <a:xfrm>
            <a:off x="11788800" y="6454800"/>
            <a:ext cx="403174" cy="403199"/>
          </a:xfrm>
          <a:prstGeom prst="rect">
            <a:avLst/>
          </a:prstGeom>
        </p:spPr>
      </p:pic>
      <p:pic>
        <p:nvPicPr>
          <p:cNvPr id="4" name="object 4"/>
          <p:cNvPicPr/>
          <p:nvPr/>
        </p:nvPicPr>
        <p:blipFill>
          <a:blip r:embed="rId3" cstate="print"/>
          <a:stretch>
            <a:fillRect/>
          </a:stretch>
        </p:blipFill>
        <p:spPr>
          <a:xfrm>
            <a:off x="10347602" y="399833"/>
            <a:ext cx="1415437" cy="377463"/>
          </a:xfrm>
          <a:prstGeom prst="rect">
            <a:avLst/>
          </a:prstGeom>
        </p:spPr>
      </p:pic>
      <p:sp>
        <p:nvSpPr>
          <p:cNvPr id="5" name="object 5"/>
          <p:cNvSpPr txBox="1"/>
          <p:nvPr/>
        </p:nvSpPr>
        <p:spPr>
          <a:xfrm>
            <a:off x="808736" y="1492376"/>
            <a:ext cx="10495280" cy="3548379"/>
          </a:xfrm>
          <a:prstGeom prst="rect">
            <a:avLst/>
          </a:prstGeom>
        </p:spPr>
        <p:txBody>
          <a:bodyPr vert="horz" wrap="square" lIns="0" tIns="102235" rIns="0" bIns="0" rtlCol="0">
            <a:spAutoFit/>
          </a:bodyPr>
          <a:lstStyle/>
          <a:p>
            <a:pPr marL="12700">
              <a:lnSpc>
                <a:spcPct val="100000"/>
              </a:lnSpc>
              <a:spcBef>
                <a:spcPts val="805"/>
              </a:spcBef>
            </a:pPr>
            <a:r>
              <a:rPr sz="2400" spc="-20" dirty="0">
                <a:latin typeface="Arial"/>
                <a:cs typeface="Arial"/>
              </a:rPr>
              <a:t>You…</a:t>
            </a:r>
            <a:endParaRPr sz="2400">
              <a:latin typeface="Arial"/>
              <a:cs typeface="Arial"/>
            </a:endParaRPr>
          </a:p>
          <a:p>
            <a:pPr marL="355600" indent="-342900">
              <a:lnSpc>
                <a:spcPct val="100000"/>
              </a:lnSpc>
              <a:spcBef>
                <a:spcPts val="710"/>
              </a:spcBef>
              <a:buChar char="•"/>
              <a:tabLst>
                <a:tab pos="355600" algn="l"/>
              </a:tabLst>
            </a:pPr>
            <a:r>
              <a:rPr sz="2400" dirty="0">
                <a:latin typeface="Arial"/>
                <a:cs typeface="Arial"/>
              </a:rPr>
              <a:t>…are</a:t>
            </a:r>
            <a:r>
              <a:rPr sz="2400" spc="-70" dirty="0">
                <a:latin typeface="Arial"/>
                <a:cs typeface="Arial"/>
              </a:rPr>
              <a:t> </a:t>
            </a:r>
            <a:r>
              <a:rPr sz="2400" b="1" dirty="0">
                <a:latin typeface="Arial"/>
                <a:cs typeface="Arial"/>
              </a:rPr>
              <a:t>accountable</a:t>
            </a:r>
            <a:r>
              <a:rPr sz="2400" b="1" spc="-50" dirty="0">
                <a:latin typeface="Arial"/>
                <a:cs typeface="Arial"/>
              </a:rPr>
              <a:t> </a:t>
            </a:r>
            <a:r>
              <a:rPr sz="2400" dirty="0">
                <a:latin typeface="Arial"/>
                <a:cs typeface="Arial"/>
              </a:rPr>
              <a:t>for</a:t>
            </a:r>
            <a:r>
              <a:rPr sz="2400" spc="-70"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ethical</a:t>
            </a:r>
            <a:r>
              <a:rPr sz="2400" spc="-50" dirty="0">
                <a:latin typeface="Arial"/>
                <a:cs typeface="Arial"/>
              </a:rPr>
              <a:t> </a:t>
            </a:r>
            <a:r>
              <a:rPr sz="2400" dirty="0">
                <a:latin typeface="Arial"/>
                <a:cs typeface="Arial"/>
              </a:rPr>
              <a:t>and</a:t>
            </a:r>
            <a:r>
              <a:rPr sz="2400" spc="-55" dirty="0">
                <a:latin typeface="Arial"/>
                <a:cs typeface="Arial"/>
              </a:rPr>
              <a:t> </a:t>
            </a:r>
            <a:r>
              <a:rPr sz="2400" dirty="0">
                <a:latin typeface="Arial"/>
                <a:cs typeface="Arial"/>
              </a:rPr>
              <a:t>responsible</a:t>
            </a:r>
            <a:r>
              <a:rPr sz="2400" spc="-20" dirty="0">
                <a:latin typeface="Arial"/>
                <a:cs typeface="Arial"/>
              </a:rPr>
              <a:t> </a:t>
            </a:r>
            <a:r>
              <a:rPr sz="2400" dirty="0">
                <a:latin typeface="Arial"/>
                <a:cs typeface="Arial"/>
              </a:rPr>
              <a:t>use</a:t>
            </a:r>
            <a:r>
              <a:rPr sz="2400" spc="-55" dirty="0">
                <a:latin typeface="Arial"/>
                <a:cs typeface="Arial"/>
              </a:rPr>
              <a:t> </a:t>
            </a:r>
            <a:r>
              <a:rPr sz="2400" dirty="0">
                <a:latin typeface="Arial"/>
                <a:cs typeface="Arial"/>
              </a:rPr>
              <a:t>of</a:t>
            </a:r>
            <a:r>
              <a:rPr sz="2400" spc="-165" dirty="0">
                <a:latin typeface="Arial"/>
                <a:cs typeface="Arial"/>
              </a:rPr>
              <a:t> </a:t>
            </a:r>
            <a:r>
              <a:rPr sz="2400" dirty="0">
                <a:latin typeface="Arial"/>
                <a:cs typeface="Arial"/>
              </a:rPr>
              <a:t>AI</a:t>
            </a:r>
            <a:r>
              <a:rPr sz="2400" spc="-75" dirty="0">
                <a:latin typeface="Arial"/>
                <a:cs typeface="Arial"/>
              </a:rPr>
              <a:t> </a:t>
            </a:r>
            <a:r>
              <a:rPr sz="2400" spc="-10" dirty="0">
                <a:latin typeface="Arial"/>
                <a:cs typeface="Arial"/>
              </a:rPr>
              <a:t>tools</a:t>
            </a:r>
            <a:endParaRPr sz="2400">
              <a:latin typeface="Arial"/>
              <a:cs typeface="Arial"/>
            </a:endParaRPr>
          </a:p>
          <a:p>
            <a:pPr marL="355600" marR="5080" indent="-343535">
              <a:lnSpc>
                <a:spcPts val="2590"/>
              </a:lnSpc>
              <a:spcBef>
                <a:spcPts val="1035"/>
              </a:spcBef>
              <a:buChar char="•"/>
              <a:tabLst>
                <a:tab pos="355600" algn="l"/>
              </a:tabLst>
            </a:pPr>
            <a:r>
              <a:rPr sz="2400" dirty="0">
                <a:latin typeface="Arial"/>
                <a:cs typeface="Arial"/>
              </a:rPr>
              <a:t>…</a:t>
            </a:r>
            <a:r>
              <a:rPr sz="2400" spc="-75" dirty="0">
                <a:latin typeface="Arial"/>
                <a:cs typeface="Arial"/>
              </a:rPr>
              <a:t> </a:t>
            </a:r>
            <a:r>
              <a:rPr sz="2400" dirty="0">
                <a:latin typeface="Arial"/>
                <a:cs typeface="Arial"/>
              </a:rPr>
              <a:t>must</a:t>
            </a:r>
            <a:r>
              <a:rPr sz="2400" spc="-35" dirty="0">
                <a:latin typeface="Arial"/>
                <a:cs typeface="Arial"/>
              </a:rPr>
              <a:t> </a:t>
            </a:r>
            <a:r>
              <a:rPr sz="2400" b="1" dirty="0">
                <a:latin typeface="Arial"/>
                <a:cs typeface="Arial"/>
              </a:rPr>
              <a:t>acknowledge</a:t>
            </a:r>
            <a:r>
              <a:rPr sz="2400" b="1" spc="-65" dirty="0">
                <a:latin typeface="Arial"/>
                <a:cs typeface="Arial"/>
              </a:rPr>
              <a:t> </a:t>
            </a:r>
            <a:r>
              <a:rPr sz="2400" dirty="0">
                <a:latin typeface="Arial"/>
                <a:cs typeface="Arial"/>
              </a:rPr>
              <a:t>the</a:t>
            </a:r>
            <a:r>
              <a:rPr sz="2400" spc="-35" dirty="0">
                <a:latin typeface="Arial"/>
                <a:cs typeface="Arial"/>
              </a:rPr>
              <a:t> </a:t>
            </a:r>
            <a:r>
              <a:rPr sz="2400" dirty="0">
                <a:latin typeface="Arial"/>
                <a:cs typeface="Arial"/>
              </a:rPr>
              <a:t>use</a:t>
            </a:r>
            <a:r>
              <a:rPr sz="2400" spc="-35" dirty="0">
                <a:latin typeface="Arial"/>
                <a:cs typeface="Arial"/>
              </a:rPr>
              <a:t> </a:t>
            </a:r>
            <a:r>
              <a:rPr sz="2400" dirty="0">
                <a:latin typeface="Arial"/>
                <a:cs typeface="Arial"/>
              </a:rPr>
              <a:t>of</a:t>
            </a:r>
            <a:r>
              <a:rPr sz="2400" spc="-30" dirty="0">
                <a:latin typeface="Arial"/>
                <a:cs typeface="Arial"/>
              </a:rPr>
              <a:t> </a:t>
            </a:r>
            <a:r>
              <a:rPr sz="2400" spc="-20" dirty="0">
                <a:latin typeface="Arial"/>
                <a:cs typeface="Arial"/>
              </a:rPr>
              <a:t>the</a:t>
            </a:r>
            <a:r>
              <a:rPr sz="2400" spc="-150" dirty="0">
                <a:latin typeface="Arial"/>
                <a:cs typeface="Arial"/>
              </a:rPr>
              <a:t> </a:t>
            </a:r>
            <a:r>
              <a:rPr sz="2400" dirty="0">
                <a:latin typeface="Arial"/>
                <a:cs typeface="Arial"/>
              </a:rPr>
              <a:t>AI</a:t>
            </a:r>
            <a:r>
              <a:rPr sz="2400" spc="-40" dirty="0">
                <a:latin typeface="Arial"/>
                <a:cs typeface="Arial"/>
              </a:rPr>
              <a:t> </a:t>
            </a:r>
            <a:r>
              <a:rPr sz="2400" dirty="0">
                <a:latin typeface="Arial"/>
                <a:cs typeface="Arial"/>
              </a:rPr>
              <a:t>tool(s)</a:t>
            </a:r>
            <a:r>
              <a:rPr sz="2400" spc="-35" dirty="0">
                <a:latin typeface="Arial"/>
                <a:cs typeface="Arial"/>
              </a:rPr>
              <a:t> </a:t>
            </a:r>
            <a:r>
              <a:rPr sz="2400" dirty="0">
                <a:latin typeface="Arial"/>
                <a:cs typeface="Arial"/>
              </a:rPr>
              <a:t>in</a:t>
            </a:r>
            <a:r>
              <a:rPr sz="2400" spc="-45" dirty="0">
                <a:latin typeface="Arial"/>
                <a:cs typeface="Arial"/>
              </a:rPr>
              <a:t> </a:t>
            </a:r>
            <a:r>
              <a:rPr sz="2400" dirty="0">
                <a:latin typeface="Arial"/>
                <a:cs typeface="Arial"/>
              </a:rPr>
              <a:t>your</a:t>
            </a:r>
            <a:r>
              <a:rPr sz="2400" spc="-30" dirty="0">
                <a:latin typeface="Arial"/>
                <a:cs typeface="Arial"/>
              </a:rPr>
              <a:t> </a:t>
            </a:r>
            <a:r>
              <a:rPr sz="2400" dirty="0">
                <a:latin typeface="Arial"/>
                <a:cs typeface="Arial"/>
              </a:rPr>
              <a:t>academic</a:t>
            </a:r>
            <a:r>
              <a:rPr sz="2400" spc="-10" dirty="0">
                <a:latin typeface="Arial"/>
                <a:cs typeface="Arial"/>
              </a:rPr>
              <a:t> </a:t>
            </a:r>
            <a:r>
              <a:rPr sz="2400" dirty="0">
                <a:latin typeface="Arial"/>
                <a:cs typeface="Arial"/>
              </a:rPr>
              <a:t>work</a:t>
            </a:r>
            <a:r>
              <a:rPr sz="2400" spc="-30" dirty="0">
                <a:latin typeface="Arial"/>
                <a:cs typeface="Arial"/>
              </a:rPr>
              <a:t> </a:t>
            </a:r>
            <a:r>
              <a:rPr sz="2400" dirty="0">
                <a:latin typeface="Arial"/>
                <a:cs typeface="Arial"/>
              </a:rPr>
              <a:t>if</a:t>
            </a:r>
            <a:r>
              <a:rPr sz="2400" spc="-45" dirty="0">
                <a:latin typeface="Arial"/>
                <a:cs typeface="Arial"/>
              </a:rPr>
              <a:t> </a:t>
            </a:r>
            <a:r>
              <a:rPr sz="2400" spc="-25" dirty="0">
                <a:latin typeface="Arial"/>
                <a:cs typeface="Arial"/>
              </a:rPr>
              <a:t>the </a:t>
            </a:r>
            <a:r>
              <a:rPr sz="2400" dirty="0">
                <a:latin typeface="Arial"/>
                <a:cs typeface="Arial"/>
              </a:rPr>
              <a:t>AI</a:t>
            </a:r>
            <a:r>
              <a:rPr sz="2400" spc="-65" dirty="0">
                <a:latin typeface="Arial"/>
                <a:cs typeface="Arial"/>
              </a:rPr>
              <a:t> </a:t>
            </a:r>
            <a:r>
              <a:rPr sz="2400" dirty="0">
                <a:latin typeface="Arial"/>
                <a:cs typeface="Arial"/>
              </a:rPr>
              <a:t>tool(s)</a:t>
            </a:r>
            <a:r>
              <a:rPr sz="2400" spc="-50" dirty="0">
                <a:latin typeface="Arial"/>
                <a:cs typeface="Arial"/>
              </a:rPr>
              <a:t> </a:t>
            </a:r>
            <a:r>
              <a:rPr sz="2400" dirty="0">
                <a:latin typeface="Arial"/>
                <a:cs typeface="Arial"/>
              </a:rPr>
              <a:t>is/are</a:t>
            </a:r>
            <a:r>
              <a:rPr sz="2400" spc="-55" dirty="0">
                <a:latin typeface="Arial"/>
                <a:cs typeface="Arial"/>
              </a:rPr>
              <a:t> </a:t>
            </a:r>
            <a:r>
              <a:rPr sz="2400" dirty="0">
                <a:latin typeface="Arial"/>
                <a:cs typeface="Arial"/>
              </a:rPr>
              <a:t>allowed</a:t>
            </a:r>
            <a:r>
              <a:rPr sz="2400" spc="-20" dirty="0">
                <a:latin typeface="Arial"/>
                <a:cs typeface="Arial"/>
              </a:rPr>
              <a:t> </a:t>
            </a:r>
            <a:r>
              <a:rPr sz="2400" dirty="0">
                <a:latin typeface="Arial"/>
                <a:cs typeface="Arial"/>
              </a:rPr>
              <a:t>to</a:t>
            </a:r>
            <a:r>
              <a:rPr sz="2400" spc="-55" dirty="0">
                <a:latin typeface="Arial"/>
                <a:cs typeface="Arial"/>
              </a:rPr>
              <a:t> </a:t>
            </a:r>
            <a:r>
              <a:rPr sz="2400" dirty="0">
                <a:latin typeface="Arial"/>
                <a:cs typeface="Arial"/>
              </a:rPr>
              <a:t>be</a:t>
            </a:r>
            <a:r>
              <a:rPr sz="2400" spc="-50" dirty="0">
                <a:latin typeface="Arial"/>
                <a:cs typeface="Arial"/>
              </a:rPr>
              <a:t> </a:t>
            </a:r>
            <a:r>
              <a:rPr sz="2400" spc="-20" dirty="0">
                <a:latin typeface="Arial"/>
                <a:cs typeface="Arial"/>
              </a:rPr>
              <a:t>used</a:t>
            </a:r>
            <a:endParaRPr sz="2400">
              <a:latin typeface="Arial"/>
              <a:cs typeface="Arial"/>
            </a:endParaRPr>
          </a:p>
          <a:p>
            <a:pPr>
              <a:lnSpc>
                <a:spcPct val="100000"/>
              </a:lnSpc>
              <a:spcBef>
                <a:spcPts val="1515"/>
              </a:spcBef>
              <a:buFont typeface="Arial"/>
              <a:buChar char="•"/>
            </a:pPr>
            <a:endParaRPr sz="2400">
              <a:latin typeface="Arial"/>
              <a:cs typeface="Arial"/>
            </a:endParaRPr>
          </a:p>
          <a:p>
            <a:pPr marL="12700">
              <a:lnSpc>
                <a:spcPct val="100000"/>
              </a:lnSpc>
            </a:pPr>
            <a:r>
              <a:rPr sz="2400" dirty="0">
                <a:latin typeface="Arial"/>
                <a:cs typeface="Arial"/>
              </a:rPr>
              <a:t>Be</a:t>
            </a:r>
            <a:r>
              <a:rPr sz="2400" spc="-35" dirty="0">
                <a:latin typeface="Arial"/>
                <a:cs typeface="Arial"/>
              </a:rPr>
              <a:t> </a:t>
            </a:r>
            <a:r>
              <a:rPr sz="2400" dirty="0">
                <a:latin typeface="Arial"/>
                <a:cs typeface="Arial"/>
              </a:rPr>
              <a:t>aware</a:t>
            </a:r>
            <a:r>
              <a:rPr sz="2400" spc="-20" dirty="0">
                <a:latin typeface="Arial"/>
                <a:cs typeface="Arial"/>
              </a:rPr>
              <a:t> </a:t>
            </a:r>
            <a:r>
              <a:rPr sz="2400" dirty="0">
                <a:latin typeface="Arial"/>
                <a:cs typeface="Arial"/>
              </a:rPr>
              <a:t>of</a:t>
            </a:r>
            <a:r>
              <a:rPr sz="2400" spc="-30" dirty="0">
                <a:latin typeface="Arial"/>
                <a:cs typeface="Arial"/>
              </a:rPr>
              <a:t> </a:t>
            </a:r>
            <a:r>
              <a:rPr sz="2400" dirty="0">
                <a:latin typeface="Arial"/>
                <a:cs typeface="Arial"/>
              </a:rPr>
              <a:t>the</a:t>
            </a:r>
            <a:r>
              <a:rPr sz="2400" spc="-35" dirty="0">
                <a:latin typeface="Arial"/>
                <a:cs typeface="Arial"/>
              </a:rPr>
              <a:t> </a:t>
            </a:r>
            <a:r>
              <a:rPr sz="2400" spc="-50" dirty="0">
                <a:latin typeface="Arial"/>
                <a:cs typeface="Arial"/>
              </a:rPr>
              <a:t>…</a:t>
            </a:r>
            <a:endParaRPr sz="2400">
              <a:latin typeface="Arial"/>
              <a:cs typeface="Arial"/>
            </a:endParaRPr>
          </a:p>
          <a:p>
            <a:pPr marL="355600" indent="-342900">
              <a:lnSpc>
                <a:spcPct val="100000"/>
              </a:lnSpc>
              <a:spcBef>
                <a:spcPts val="710"/>
              </a:spcBef>
              <a:buChar char="•"/>
              <a:tabLst>
                <a:tab pos="355600" algn="l"/>
              </a:tabLst>
            </a:pPr>
            <a:r>
              <a:rPr sz="2400" dirty="0">
                <a:latin typeface="Arial"/>
                <a:cs typeface="Arial"/>
              </a:rPr>
              <a:t>…</a:t>
            </a:r>
            <a:r>
              <a:rPr sz="2400" spc="-20" dirty="0">
                <a:latin typeface="Arial"/>
                <a:cs typeface="Arial"/>
              </a:rPr>
              <a:t> </a:t>
            </a:r>
            <a:r>
              <a:rPr sz="2400" b="1" dirty="0">
                <a:latin typeface="Arial"/>
                <a:cs typeface="Arial"/>
              </a:rPr>
              <a:t>limitations</a:t>
            </a:r>
            <a:r>
              <a:rPr sz="2400" b="1" spc="-50" dirty="0">
                <a:latin typeface="Arial"/>
                <a:cs typeface="Arial"/>
              </a:rPr>
              <a:t> </a:t>
            </a:r>
            <a:r>
              <a:rPr sz="2400" dirty="0">
                <a:latin typeface="Arial"/>
                <a:cs typeface="Arial"/>
              </a:rPr>
              <a:t>of</a:t>
            </a:r>
            <a:r>
              <a:rPr sz="2400" spc="-135" dirty="0">
                <a:latin typeface="Arial"/>
                <a:cs typeface="Arial"/>
              </a:rPr>
              <a:t> </a:t>
            </a:r>
            <a:r>
              <a:rPr sz="2400" dirty="0">
                <a:latin typeface="Arial"/>
                <a:cs typeface="Arial"/>
              </a:rPr>
              <a:t>AI</a:t>
            </a:r>
            <a:r>
              <a:rPr sz="2400" spc="-5" dirty="0">
                <a:latin typeface="Arial"/>
                <a:cs typeface="Arial"/>
              </a:rPr>
              <a:t> </a:t>
            </a:r>
            <a:r>
              <a:rPr sz="2400" spc="-10" dirty="0">
                <a:latin typeface="Arial"/>
                <a:cs typeface="Arial"/>
              </a:rPr>
              <a:t>tools</a:t>
            </a:r>
            <a:endParaRPr sz="2400">
              <a:latin typeface="Arial"/>
              <a:cs typeface="Arial"/>
            </a:endParaRPr>
          </a:p>
          <a:p>
            <a:pPr marL="355600" indent="-342900">
              <a:lnSpc>
                <a:spcPct val="100000"/>
              </a:lnSpc>
              <a:spcBef>
                <a:spcPts val="720"/>
              </a:spcBef>
              <a:buChar char="•"/>
              <a:tabLst>
                <a:tab pos="355600" algn="l"/>
              </a:tabLst>
            </a:pPr>
            <a:r>
              <a:rPr sz="2400" dirty="0">
                <a:latin typeface="Arial"/>
                <a:cs typeface="Arial"/>
              </a:rPr>
              <a:t>…</a:t>
            </a:r>
            <a:r>
              <a:rPr sz="2400" spc="-50" dirty="0">
                <a:latin typeface="Arial"/>
                <a:cs typeface="Arial"/>
              </a:rPr>
              <a:t> </a:t>
            </a:r>
            <a:r>
              <a:rPr sz="2400" b="1" dirty="0">
                <a:latin typeface="Arial"/>
                <a:cs typeface="Arial"/>
              </a:rPr>
              <a:t>consequences</a:t>
            </a:r>
            <a:r>
              <a:rPr sz="2400" b="1" spc="-15" dirty="0">
                <a:latin typeface="Arial"/>
                <a:cs typeface="Arial"/>
              </a:rPr>
              <a:t> </a:t>
            </a:r>
            <a:r>
              <a:rPr sz="2400" dirty="0">
                <a:latin typeface="Arial"/>
                <a:cs typeface="Arial"/>
              </a:rPr>
              <a:t>of</a:t>
            </a:r>
            <a:r>
              <a:rPr sz="2400" spc="-35" dirty="0">
                <a:latin typeface="Arial"/>
                <a:cs typeface="Arial"/>
              </a:rPr>
              <a:t> </a:t>
            </a:r>
            <a:r>
              <a:rPr sz="2400" spc="-10" dirty="0">
                <a:latin typeface="Arial"/>
                <a:cs typeface="Arial"/>
              </a:rPr>
              <a:t>submitting</a:t>
            </a:r>
            <a:r>
              <a:rPr sz="2400" spc="-155" dirty="0">
                <a:latin typeface="Arial"/>
                <a:cs typeface="Arial"/>
              </a:rPr>
              <a:t> </a:t>
            </a:r>
            <a:r>
              <a:rPr sz="2400" spc="-10" dirty="0">
                <a:latin typeface="Arial"/>
                <a:cs typeface="Arial"/>
              </a:rPr>
              <a:t>AI-</a:t>
            </a:r>
            <a:r>
              <a:rPr sz="2400" dirty="0">
                <a:latin typeface="Arial"/>
                <a:cs typeface="Arial"/>
              </a:rPr>
              <a:t>generated</a:t>
            </a:r>
            <a:r>
              <a:rPr sz="2400" spc="-40" dirty="0">
                <a:latin typeface="Arial"/>
                <a:cs typeface="Arial"/>
              </a:rPr>
              <a:t> </a:t>
            </a:r>
            <a:r>
              <a:rPr sz="2400" dirty="0">
                <a:latin typeface="Arial"/>
                <a:cs typeface="Arial"/>
              </a:rPr>
              <a:t>work</a:t>
            </a:r>
            <a:r>
              <a:rPr sz="2400" spc="-35" dirty="0">
                <a:latin typeface="Arial"/>
                <a:cs typeface="Arial"/>
              </a:rPr>
              <a:t> </a:t>
            </a:r>
            <a:r>
              <a:rPr sz="2400" dirty="0">
                <a:latin typeface="Arial"/>
                <a:cs typeface="Arial"/>
              </a:rPr>
              <a:t>as</a:t>
            </a:r>
            <a:r>
              <a:rPr sz="2400" spc="-40" dirty="0">
                <a:latin typeface="Arial"/>
                <a:cs typeface="Arial"/>
              </a:rPr>
              <a:t> </a:t>
            </a:r>
            <a:r>
              <a:rPr sz="2400" dirty="0">
                <a:latin typeface="Arial"/>
                <a:cs typeface="Arial"/>
              </a:rPr>
              <a:t>your</a:t>
            </a:r>
            <a:r>
              <a:rPr sz="2400" spc="-35" dirty="0">
                <a:latin typeface="Arial"/>
                <a:cs typeface="Arial"/>
              </a:rPr>
              <a:t> </a:t>
            </a:r>
            <a:r>
              <a:rPr sz="2400" dirty="0">
                <a:latin typeface="Arial"/>
                <a:cs typeface="Arial"/>
              </a:rPr>
              <a:t>own</a:t>
            </a:r>
            <a:r>
              <a:rPr sz="2400" spc="-30" dirty="0">
                <a:latin typeface="Arial"/>
                <a:cs typeface="Arial"/>
              </a:rPr>
              <a:t> </a:t>
            </a:r>
            <a:r>
              <a:rPr sz="2400" spc="-20" dirty="0">
                <a:latin typeface="Arial"/>
                <a:cs typeface="Arial"/>
              </a:rPr>
              <a:t>work</a:t>
            </a:r>
            <a:endParaRPr sz="2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21</a:t>
            </a:fld>
            <a:endParaRPr spc="-25" dirty="0"/>
          </a:p>
        </p:txBody>
      </p:sp>
      <p:sp>
        <p:nvSpPr>
          <p:cNvPr id="6" name="object 6"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In</a:t>
            </a:r>
            <a:r>
              <a:rPr spc="-40" dirty="0"/>
              <a:t> </a:t>
            </a:r>
            <a:r>
              <a:rPr spc="-10" dirty="0"/>
              <a:t>Summary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7A7D6-DB85-9D26-D7EC-C190388E305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90A142-B0BA-0363-288F-FD9C6436C494}"/>
              </a:ext>
            </a:extLst>
          </p:cNvPr>
          <p:cNvSpPr>
            <a:spLocks noGrp="1"/>
          </p:cNvSpPr>
          <p:nvPr>
            <p:ph type="body" sz="quarter" idx="13"/>
          </p:nvPr>
        </p:nvSpPr>
        <p:spPr/>
        <p:txBody>
          <a:bodyPr vert="horz" lIns="91440" tIns="45720" rIns="91440" bIns="45720" rtlCol="0" anchor="t">
            <a:noAutofit/>
          </a:bodyPr>
          <a:lstStyle/>
          <a:p>
            <a:r>
              <a:rPr lang="en-US" dirty="0"/>
              <a:t>IT Tools and Issues</a:t>
            </a:r>
          </a:p>
        </p:txBody>
      </p:sp>
      <p:sp>
        <p:nvSpPr>
          <p:cNvPr id="4" name="Text Placeholder 3">
            <a:extLst>
              <a:ext uri="{FF2B5EF4-FFF2-40B4-BE49-F238E27FC236}">
                <a16:creationId xmlns:a16="http://schemas.microsoft.com/office/drawing/2014/main" id="{123B09E5-7B34-3ADB-41A4-87A88507DA11}"/>
              </a:ext>
            </a:extLst>
          </p:cNvPr>
          <p:cNvSpPr>
            <a:spLocks noGrp="1"/>
          </p:cNvSpPr>
          <p:nvPr>
            <p:ph type="body" sz="quarter" idx="14"/>
          </p:nvPr>
        </p:nvSpPr>
        <p:spPr>
          <a:xfrm>
            <a:off x="837399" y="1758951"/>
            <a:ext cx="10483064" cy="3798888"/>
          </a:xfrm>
        </p:spPr>
        <p:txBody>
          <a:bodyPr vert="horz" lIns="91440" tIns="45720" rIns="91440" bIns="45720" rtlCol="0" anchor="t">
            <a:noAutofit/>
          </a:bodyPr>
          <a:lstStyle/>
          <a:p>
            <a:r>
              <a:rPr lang="en-SG" sz="2000" kern="100" dirty="0">
                <a:effectLst/>
                <a:ea typeface="DengXian" panose="02010600030101010101" pitchFamily="2" charset="-122"/>
              </a:rPr>
              <a:t>POLITE Mall:</a:t>
            </a:r>
          </a:p>
          <a:p>
            <a:pPr marL="357188" lvl="1" indent="-317500"/>
            <a:r>
              <a:rPr lang="en-SG" sz="1800" kern="100" dirty="0">
                <a:ea typeface="DengXian" panose="02010600030101010101" pitchFamily="2" charset="-122"/>
              </a:rPr>
              <a:t>Lesson Materials</a:t>
            </a:r>
          </a:p>
          <a:p>
            <a:endParaRPr lang="en-SG" sz="2000" kern="100" dirty="0">
              <a:ea typeface="DengXian" panose="02010600030101010101" pitchFamily="2" charset="-122"/>
            </a:endParaRPr>
          </a:p>
          <a:p>
            <a:r>
              <a:rPr lang="en-SG" sz="2000" kern="100" dirty="0">
                <a:effectLst/>
                <a:ea typeface="DengXian" panose="02010600030101010101" pitchFamily="2" charset="-122"/>
              </a:rPr>
              <a:t>EdTech Tools:</a:t>
            </a:r>
          </a:p>
          <a:p>
            <a:pPr lvl="1"/>
            <a:r>
              <a:rPr lang="en-SG" sz="1800" kern="100" dirty="0">
                <a:ea typeface="DengXian" panose="02010600030101010101" pitchFamily="2" charset="-122"/>
              </a:rPr>
              <a:t>MS Teams</a:t>
            </a:r>
            <a:endParaRPr lang="en-SG" sz="1800" kern="100" dirty="0">
              <a:effectLst/>
              <a:ea typeface="DengXian" panose="02010600030101010101" pitchFamily="2" charset="-122"/>
            </a:endParaRPr>
          </a:p>
          <a:p>
            <a:pPr lvl="1"/>
            <a:r>
              <a:rPr lang="en-SG" sz="1800" kern="100" dirty="0">
                <a:ea typeface="DengXian" panose="02010600030101010101" pitchFamily="2" charset="-122"/>
              </a:rPr>
              <a:t>LinkedIn Learning, YouTube Videos</a:t>
            </a:r>
          </a:p>
        </p:txBody>
      </p:sp>
      <p:sp>
        <p:nvSpPr>
          <p:cNvPr id="5" name="Text Placeholder 4">
            <a:extLst>
              <a:ext uri="{FF2B5EF4-FFF2-40B4-BE49-F238E27FC236}">
                <a16:creationId xmlns:a16="http://schemas.microsoft.com/office/drawing/2014/main" id="{51B74F62-D4CC-4C05-2321-5EF25916A2EC}"/>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2960065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6AD1A-A7E3-782D-E2BE-E695A524D4E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FD2D04-B099-8835-0513-7033964E5D30}"/>
              </a:ext>
            </a:extLst>
          </p:cNvPr>
          <p:cNvSpPr>
            <a:spLocks noGrp="1"/>
          </p:cNvSpPr>
          <p:nvPr>
            <p:ph type="body" sz="quarter" idx="13"/>
          </p:nvPr>
        </p:nvSpPr>
        <p:spPr/>
        <p:txBody>
          <a:bodyPr vert="horz" lIns="91440" tIns="45720" rIns="91440" bIns="45720" rtlCol="0" anchor="t">
            <a:noAutofit/>
          </a:bodyPr>
          <a:lstStyle/>
          <a:p>
            <a:r>
              <a:rPr lang="en-US" dirty="0"/>
              <a:t>IT Issues (for students)</a:t>
            </a:r>
          </a:p>
        </p:txBody>
      </p:sp>
      <p:sp>
        <p:nvSpPr>
          <p:cNvPr id="4" name="Text Placeholder 3">
            <a:extLst>
              <a:ext uri="{FF2B5EF4-FFF2-40B4-BE49-F238E27FC236}">
                <a16:creationId xmlns:a16="http://schemas.microsoft.com/office/drawing/2014/main" id="{121C099F-E987-995B-6A39-72509ADDFA05}"/>
              </a:ext>
            </a:extLst>
          </p:cNvPr>
          <p:cNvSpPr>
            <a:spLocks noGrp="1"/>
          </p:cNvSpPr>
          <p:nvPr>
            <p:ph type="body" sz="quarter" idx="14"/>
          </p:nvPr>
        </p:nvSpPr>
        <p:spPr>
          <a:xfrm>
            <a:off x="837399" y="1758951"/>
            <a:ext cx="10483064" cy="3798888"/>
          </a:xfrm>
        </p:spPr>
        <p:txBody>
          <a:bodyPr vert="horz" lIns="91440" tIns="45720" rIns="91440" bIns="45720" rtlCol="0" anchor="t">
            <a:noAutofit/>
          </a:bodyPr>
          <a:lstStyle/>
          <a:p>
            <a:pPr marL="342900" indent="-342900">
              <a:buFont typeface="Arial" panose="020B0604020202020204" pitchFamily="34" charset="0"/>
              <a:buChar char="•"/>
            </a:pPr>
            <a:r>
              <a:rPr lang="en-SG" sz="2000" dirty="0">
                <a:hlinkClick r:id="rId3"/>
              </a:rPr>
              <a:t>https://www.rp.edu.sg/docs/default-source/student-life-doc/self-help-configuration-guide.pdf</a:t>
            </a:r>
            <a:endParaRPr lang="en-SG" sz="2000" dirty="0"/>
          </a:p>
          <a:p>
            <a:pPr marL="342900" indent="-342900">
              <a:buFont typeface="Arial" panose="020B0604020202020204" pitchFamily="34" charset="0"/>
              <a:buChar char="•"/>
            </a:pPr>
            <a:endParaRPr lang="en-SG" sz="2000" dirty="0"/>
          </a:p>
          <a:p>
            <a:pPr marL="342900" indent="-342900">
              <a:buFont typeface="Arial" panose="020B0604020202020204" pitchFamily="34" charset="0"/>
              <a:buChar char="•"/>
            </a:pPr>
            <a:r>
              <a:rPr lang="en-SG" sz="2000" dirty="0"/>
              <a:t>Students to email </a:t>
            </a:r>
            <a:r>
              <a:rPr lang="en-SG" sz="2000" dirty="0">
                <a:hlinkClick r:id="rId4"/>
              </a:rPr>
              <a:t>help-IT@rp.edu.sg</a:t>
            </a:r>
            <a:r>
              <a:rPr lang="en-SG" sz="2000" dirty="0"/>
              <a:t>, or call 66971500.</a:t>
            </a:r>
          </a:p>
        </p:txBody>
      </p:sp>
      <p:sp>
        <p:nvSpPr>
          <p:cNvPr id="5" name="Text Placeholder 4">
            <a:extLst>
              <a:ext uri="{FF2B5EF4-FFF2-40B4-BE49-F238E27FC236}">
                <a16:creationId xmlns:a16="http://schemas.microsoft.com/office/drawing/2014/main" id="{81D8F181-6A81-BDB5-0CF1-88A52A66D49F}"/>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34591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a:extLst>
              <a:ext uri="{FF2B5EF4-FFF2-40B4-BE49-F238E27FC236}">
                <a16:creationId xmlns:a16="http://schemas.microsoft.com/office/drawing/2014/main" id="{2A5E2FA6-A847-AD1C-C19A-BD540575957A}"/>
              </a:ext>
            </a:extLst>
          </p:cNvPr>
          <p:cNvSpPr>
            <a:spLocks noGrp="1"/>
          </p:cNvSpPr>
          <p:nvPr>
            <p:ph type="body" sz="quarter" idx="14"/>
          </p:nvPr>
        </p:nvSpPr>
        <p:spPr>
          <a:xfrm>
            <a:off x="730034" y="1593023"/>
            <a:ext cx="10695050" cy="3671953"/>
          </a:xfrm>
        </p:spPr>
        <p:txBody>
          <a:bodyPr/>
          <a:lstStyle/>
          <a:p>
            <a:pPr marL="0" indent="0">
              <a:spcBef>
                <a:spcPts val="0"/>
              </a:spcBef>
              <a:buNone/>
            </a:pPr>
            <a:r>
              <a:rPr lang="en-SG" b="1" dirty="0"/>
              <a:t>If your lecturer is not in class 15 mins past your class starting time:</a:t>
            </a:r>
            <a:endParaRPr lang="en-SG" i="1" dirty="0">
              <a:solidFill>
                <a:srgbClr val="0070C0"/>
              </a:solidFill>
            </a:endParaRPr>
          </a:p>
          <a:p>
            <a:pPr marL="0" indent="0">
              <a:spcBef>
                <a:spcPts val="0"/>
              </a:spcBef>
              <a:buNone/>
            </a:pPr>
            <a:endParaRPr lang="en-SG" dirty="0"/>
          </a:p>
          <a:p>
            <a:pPr>
              <a:lnSpc>
                <a:spcPct val="100000"/>
              </a:lnSpc>
              <a:spcBef>
                <a:spcPts val="0"/>
              </a:spcBef>
            </a:pPr>
            <a:r>
              <a:rPr lang="en-SG" dirty="0"/>
              <a:t>Contact the module team via MS Teams:</a:t>
            </a:r>
          </a:p>
          <a:p>
            <a:pPr lvl="1">
              <a:lnSpc>
                <a:spcPct val="100000"/>
              </a:lnSpc>
              <a:spcBef>
                <a:spcPts val="0"/>
              </a:spcBef>
              <a:buAutoNum type="arabicParenR"/>
            </a:pPr>
            <a:r>
              <a:rPr lang="en-SG" sz="1800" dirty="0"/>
              <a:t>Ms Magdalene Lim (</a:t>
            </a:r>
            <a:r>
              <a:rPr lang="en-SG" sz="1800" dirty="0">
                <a:hlinkClick r:id="rId2"/>
              </a:rPr>
              <a:t>magdalene_lim@rp.edu.sg</a:t>
            </a:r>
            <a:r>
              <a:rPr lang="en-SG" sz="1800" dirty="0"/>
              <a:t>)</a:t>
            </a:r>
          </a:p>
          <a:p>
            <a:pPr lvl="1">
              <a:lnSpc>
                <a:spcPct val="100000"/>
              </a:lnSpc>
              <a:spcBef>
                <a:spcPts val="0"/>
              </a:spcBef>
              <a:buAutoNum type="arabicParenR"/>
            </a:pPr>
            <a:r>
              <a:rPr lang="en-SG" sz="1800" dirty="0"/>
              <a:t>Mr Tok Nam Huat(</a:t>
            </a:r>
            <a:r>
              <a:rPr lang="en-SG" sz="1800" dirty="0">
                <a:hlinkClick r:id="rId3"/>
              </a:rPr>
              <a:t>tok_nam_huat@rp.edu.sg</a:t>
            </a:r>
            <a:r>
              <a:rPr lang="en-SG" sz="1800" dirty="0"/>
              <a:t>)</a:t>
            </a:r>
          </a:p>
          <a:p>
            <a:pPr marL="0" indent="0">
              <a:lnSpc>
                <a:spcPct val="100000"/>
              </a:lnSpc>
              <a:spcBef>
                <a:spcPts val="0"/>
              </a:spcBef>
              <a:buNone/>
            </a:pPr>
            <a:endParaRPr lang="en-SG" dirty="0"/>
          </a:p>
          <a:p>
            <a:pPr>
              <a:lnSpc>
                <a:spcPct val="100000"/>
              </a:lnSpc>
              <a:spcBef>
                <a:spcPts val="0"/>
              </a:spcBef>
            </a:pPr>
            <a:r>
              <a:rPr lang="en-SG" dirty="0"/>
              <a:t>Everyone should remain in class while the module team looks into this matter, such as finding a replacement lecturer.</a:t>
            </a:r>
          </a:p>
          <a:p>
            <a:pPr marL="0" indent="0">
              <a:lnSpc>
                <a:spcPct val="100000"/>
              </a:lnSpc>
              <a:spcBef>
                <a:spcPts val="0"/>
              </a:spcBef>
              <a:buNone/>
            </a:pPr>
            <a:endParaRPr lang="en-SG" dirty="0"/>
          </a:p>
          <a:p>
            <a:pPr>
              <a:lnSpc>
                <a:spcPct val="100000"/>
              </a:lnSpc>
              <a:spcBef>
                <a:spcPts val="0"/>
              </a:spcBef>
            </a:pPr>
            <a:r>
              <a:rPr lang="en-SG" dirty="0"/>
              <a:t>Do note that a make-up lesson will be conducted, if a lesson is not conducted on its stipulated date and time.</a:t>
            </a:r>
          </a:p>
          <a:p>
            <a:endParaRPr lang="en-US" dirty="0"/>
          </a:p>
        </p:txBody>
      </p:sp>
      <p:sp>
        <p:nvSpPr>
          <p:cNvPr id="12" name="Text Placeholder 2">
            <a:extLst>
              <a:ext uri="{FF2B5EF4-FFF2-40B4-BE49-F238E27FC236}">
                <a16:creationId xmlns:a16="http://schemas.microsoft.com/office/drawing/2014/main" id="{2D44945E-DF2B-FB18-CD07-9C50C6B217ED}"/>
              </a:ext>
            </a:extLst>
          </p:cNvPr>
          <p:cNvSpPr>
            <a:spLocks noGrp="1"/>
          </p:cNvSpPr>
          <p:nvPr>
            <p:ph type="body" sz="quarter" idx="15"/>
          </p:nvPr>
        </p:nvSpPr>
        <p:spPr>
          <a:xfrm>
            <a:off x="11843781" y="6619460"/>
            <a:ext cx="348219" cy="238540"/>
          </a:xfrm>
        </p:spPr>
        <p:txBody>
          <a:bodyPr/>
          <a:lstStyle/>
          <a:p>
            <a:endParaRPr lang="en-US"/>
          </a:p>
        </p:txBody>
      </p:sp>
      <p:sp>
        <p:nvSpPr>
          <p:cNvPr id="3" name="Text Placeholder 2">
            <a:extLst>
              <a:ext uri="{FF2B5EF4-FFF2-40B4-BE49-F238E27FC236}">
                <a16:creationId xmlns:a16="http://schemas.microsoft.com/office/drawing/2014/main" id="{E4B452E1-C1BC-CB19-C001-D72A9791F7CD}"/>
              </a:ext>
            </a:extLst>
          </p:cNvPr>
          <p:cNvSpPr>
            <a:spLocks noGrp="1"/>
          </p:cNvSpPr>
          <p:nvPr>
            <p:ph type="body" sz="quarter" idx="16"/>
          </p:nvPr>
        </p:nvSpPr>
        <p:spPr>
          <a:xfrm>
            <a:off x="728220" y="785813"/>
            <a:ext cx="9216072" cy="623667"/>
          </a:xfrm>
        </p:spPr>
        <p:txBody>
          <a:bodyPr>
            <a:normAutofit/>
          </a:bodyPr>
          <a:lstStyle/>
          <a:p>
            <a:r>
              <a:rPr lang="en-US" dirty="0"/>
              <a:t>What to do if my lecturer is not in class?</a:t>
            </a:r>
            <a:endParaRPr lang="en-SG" dirty="0"/>
          </a:p>
        </p:txBody>
      </p:sp>
    </p:spTree>
    <p:extLst>
      <p:ext uri="{BB962C8B-B14F-4D97-AF65-F5344CB8AC3E}">
        <p14:creationId xmlns:p14="http://schemas.microsoft.com/office/powerpoint/2010/main" val="310673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0B729D-CDCA-CECE-7B88-1FEB07559C24}"/>
              </a:ext>
            </a:extLst>
          </p:cNvPr>
          <p:cNvSpPr>
            <a:spLocks noGrp="1"/>
          </p:cNvSpPr>
          <p:nvPr>
            <p:ph type="body" sz="quarter" idx="12"/>
          </p:nvPr>
        </p:nvSpPr>
        <p:spPr/>
        <p:txBody>
          <a:bodyPr vert="horz" lIns="91440" tIns="45720" rIns="91440" bIns="45720" rtlCol="0" anchor="t">
            <a:noAutofit/>
          </a:bodyPr>
          <a:lstStyle/>
          <a:p>
            <a:r>
              <a:rPr lang="en-US">
                <a:latin typeface="Arial Black"/>
                <a:cs typeface="Arial"/>
              </a:rPr>
              <a:t>Thank you!</a:t>
            </a:r>
            <a:endParaRPr lang="en-US"/>
          </a:p>
        </p:txBody>
      </p:sp>
    </p:spTree>
    <p:extLst>
      <p:ext uri="{BB962C8B-B14F-4D97-AF65-F5344CB8AC3E}">
        <p14:creationId xmlns:p14="http://schemas.microsoft.com/office/powerpoint/2010/main" val="303963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B185EAE5C4B24999F64AF816DDB529" ma:contentTypeVersion="23" ma:contentTypeDescription="Create a new document." ma:contentTypeScope="" ma:versionID="6c0fc1e80d3244e75efbecf7dfbd3606">
  <xsd:schema xmlns:xsd="http://www.w3.org/2001/XMLSchema" xmlns:xs="http://www.w3.org/2001/XMLSchema" xmlns:p="http://schemas.microsoft.com/office/2006/metadata/properties" xmlns:ns1="http://schemas.microsoft.com/sharepoint/v3" xmlns:ns2="802e93c6-f87a-4558-8da6-f509a09420d4" xmlns:ns3="dcf6e893-e20c-40e6-ba02-1fef41a8159d" targetNamespace="http://schemas.microsoft.com/office/2006/metadata/properties" ma:root="true" ma:fieldsID="090428a185fce502351391bb3b7c2e5d" ns1:_="" ns2:_="" ns3:_="">
    <xsd:import namespace="http://schemas.microsoft.com/sharepoint/v3"/>
    <xsd:import namespace="802e93c6-f87a-4558-8da6-f509a09420d4"/>
    <xsd:import namespace="dcf6e893-e20c-40e6-ba02-1fef41a8159d"/>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2e93c6-f87a-4558-8da6-f509a09420d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754bec2-9c12-4dff-9bba-47e6622608a4"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Location" ma:index="26"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f6e893-e20c-40e6-ba02-1fef41a8159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b39af64-8a0b-4725-a7a8-bb125e1d8468}" ma:internalName="TaxCatchAll" ma:showField="CatchAllData" ma:web="dcf6e893-e20c-40e6-ba02-1fef41a815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dcf6e893-e20c-40e6-ba02-1fef41a8159d" xsi:nil="true"/>
    <lcf76f155ced4ddcb4097134ff3c332f xmlns="802e93c6-f87a-4558-8da6-f509a09420d4">
      <Terms xmlns="http://schemas.microsoft.com/office/infopath/2007/PartnerControls"/>
    </lcf76f155ced4ddcb4097134ff3c332f>
  </documentManagement>
</p:properties>
</file>

<file path=customXml/item3.xml><?xml version="1.0" encoding="utf-8"?>
<?mso-contentType ?>
<FormTemplates xmlns="http://schemas.microsoft.com/sharepoint/v3/contenttype/forms"/>
</file>

<file path=customXml/itemProps1.xml><?xml version="1.0" encoding="utf-8"?>
<ds:datastoreItem xmlns:ds="http://schemas.openxmlformats.org/officeDocument/2006/customXml" ds:itemID="{E533E49C-9825-407D-AB0A-26B85233E2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02e93c6-f87a-4558-8da6-f509a09420d4"/>
    <ds:schemaRef ds:uri="dcf6e893-e20c-40e6-ba02-1fef41a815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22195B-D4EA-464D-B31E-68101E6D1BCB}">
  <ds:schemaRefs>
    <ds:schemaRef ds:uri="0e856134-4299-45b1-97e5-af7b5b819008"/>
    <ds:schemaRef ds:uri="f613137c-ca87-4854-93ee-5cda769d527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dcf6e893-e20c-40e6-ba02-1fef41a8159d"/>
    <ds:schemaRef ds:uri="802e93c6-f87a-4558-8da6-f509a09420d4"/>
  </ds:schemaRefs>
</ds:datastoreItem>
</file>

<file path=customXml/itemProps3.xml><?xml version="1.0" encoding="utf-8"?>
<ds:datastoreItem xmlns:ds="http://schemas.openxmlformats.org/officeDocument/2006/customXml" ds:itemID="{D5DD7D4D-662A-462D-AED9-ECF1FBD755EA}">
  <ds:schemaRefs>
    <ds:schemaRef ds:uri="http://schemas.microsoft.com/sharepoint/v3/contenttype/forms"/>
  </ds:schemaRefs>
</ds:datastoreItem>
</file>

<file path=docMetadata/LabelInfo.xml><?xml version="1.0" encoding="utf-8"?>
<clbl:labelList xmlns:clbl="http://schemas.microsoft.com/office/2020/mipLabelMetadata">
  <clbl:label id="{b70f6a2e-9a0b-44bc-9fcb-55781401e2f0}" enabled="1" method="Privileged" siteId="{f688b0d0-79f0-40a4-8644-35fcdee9d0f3}" removed="0"/>
</clbl:labelList>
</file>

<file path=docProps/app.xml><?xml version="1.0" encoding="utf-8"?>
<Properties xmlns="http://schemas.openxmlformats.org/officeDocument/2006/extended-properties" xmlns:vt="http://schemas.openxmlformats.org/officeDocument/2006/docPropsVTypes">
  <TotalTime>3453</TotalTime>
  <Words>2023</Words>
  <Application>Microsoft Office PowerPoint</Application>
  <PresentationFormat>Widescreen</PresentationFormat>
  <Paragraphs>307</Paragraphs>
  <Slides>25</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DengXian</vt:lpstr>
      <vt:lpstr>SimSun</vt:lpstr>
      <vt:lpstr>Aptos</vt:lpstr>
      <vt:lpstr>Arial</vt:lpstr>
      <vt:lpstr>Arial Black</vt:lpstr>
      <vt:lpstr>Arial Narrow</vt:lpstr>
      <vt:lpstr>Calibri</vt:lpstr>
      <vt:lpstr>Courier New</vt:lpstr>
      <vt:lpstr>Symbol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AI Tool for Learning</vt:lpstr>
      <vt:lpstr>Using AI Tool for Learning</vt:lpstr>
      <vt:lpstr>Using AI Tool in Assessment</vt:lpstr>
      <vt:lpstr>Using AI Tool in Assessment</vt:lpstr>
      <vt:lpstr>Citing the Use of AI Tools</vt:lpstr>
      <vt:lpstr>Possible Limitations of AI Tools</vt:lpstr>
      <vt:lpstr>Academic Integrity</vt:lpstr>
      <vt:lpstr>In Summary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Randal Teng from BGC GROUP PTE LTD (RP)</dc:creator>
  <cp:lastModifiedBy>Magdalene Lim (RP)</cp:lastModifiedBy>
  <cp:revision>35</cp:revision>
  <dcterms:created xsi:type="dcterms:W3CDTF">2024-09-03T01:46:32Z</dcterms:created>
  <dcterms:modified xsi:type="dcterms:W3CDTF">2026-10-15T05:45:14Z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0x0101002BB185EAE5C4B24999F64AF816DDB529</vt:lpwstr>
  </property>
  <property fmtid="{D5CDD505-2E9C-101B-9397-08002B2CF9AE}" pid="3" name="MediaServiceImageTags">
    <vt:lpwstr/>
  </property>
  <property fmtid="{D5CDD505-2E9C-101B-9397-08002B2CF9AE}" pid="4" name="ClassificationContentMarkingHeaderLocations">
    <vt:lpwstr>Office Theme:8</vt:lpwstr>
  </property>
  <property fmtid="{D5CDD505-2E9C-101B-9397-08002B2CF9AE}" pid="5" name="ClassificationContentMarkingHeaderText">
    <vt:lpwstr>Official (Closed) \ Non-Sensitive</vt:lpwstr>
  </property>
</Properties>
</file>